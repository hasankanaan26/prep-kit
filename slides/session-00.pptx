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optional and nothing is graded. The whole goal is simple: on Monday, nothing on the screen should be completely new to you. Nobody needs to master any of this before then. We'll walk through the kit together and get as many laptops working as we can.</a:t>
            </a:r>
            <a:endParaRPr lang="en-US" dirty="0"/>
          </a:p>
          <a:p>
            <a:r>
              <a:rPr lang="en-US" i="1" dirty="0"/>
              <a:t>[If asked: the kit is a folder called prep-kit: eight short steps, three to four hours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deal for today. The course uses a handful of tools: a terminal, a virtual environment, APIs, and API keys. This session is a first touch of each one, so Monday doesn't start with a wall of new words. If you already use a terminal and APIs every day, go straight to steps 04, 05 and 08.</a:t>
            </a:r>
            <a:endParaRPr lang="en-US" dirty="0"/>
          </a:p>
          <a:p>
            <a:r>
              <a:rPr lang="en-US" dirty="0"/>
              <a:t>And this isn't a test. If a step doesn't work, write down what you saw and move on. The only step that must be done before Monday is step 08: a paid course key, and the full install. We don't want to spend class time on installing.</a:t>
            </a:r>
            <a:endParaRPr lang="en-US" dirty="0"/>
          </a:p>
          <a:p>
            <a:r>
              <a:rPr lang="en-US" i="1" dirty="0"/>
              <a:t>[If asked: the install takes 10 to 20 minutes, which is why it has to happen before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story the whole month hangs on. Nimbus Electronics is a small online store, and customers send it support tickets. Deskhand is the bot we're building: it reads each ticket, checks the order and the store's policies, and drafts the fix. The first version is broken in ten ways, and each session fixes one or two.</a:t>
            </a:r>
            <a:endParaRPr lang="en-US" dirty="0"/>
          </a:p>
          <a:p>
            <a:r>
              <a:rPr lang="en-US" dirty="0"/>
              <a:t>In class I drive and you steer: you pick the tickets, call the predictions, and vote on whether a refund goes out. Every session ends with a one-page list of things to try that evening, and today's setup is what makes that possible. You'll meet this ticket again on Monday.</a:t>
            </a:r>
            <a:endParaRPr lang="en-US" dirty="0"/>
          </a:p>
          <a:p>
            <a:r>
              <a:rPr lang="en-US" i="1" dirty="0"/>
              <a:t>[Do: keep this short; Session 1 tells the story properly.]</a:t>
            </a:r>
            <a:endParaRPr lang="en-US" dirty="0"/>
          </a:p>
          <a:p>
            <a:r>
              <a:rPr lang="en-US" i="1" dirty="0"/>
              <a:t>[If asked: the kit's data/tickets.json holds the same 60 tickets they'll use all month, so T-1001 will feel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route: eight steps, just under four hours if you do them alone. Step 08 is the must-do. The rest can wait for the weekend. Steps 04 and 05 overlap: both give you a first call to a language model, one in the cloud and one on your own laptop. If your laptop can't run a local model, skip 05. If you can't sign up for Google, use OpenRouter or Ollama instead. Each step is one short Markdown page, so none of this is heavy reading.</a:t>
            </a:r>
            <a:endParaRPr lang="en-US" dirty="0"/>
          </a:p>
          <a:p>
            <a:r>
              <a:rPr lang="en-US" i="1" dirty="0"/>
              <a:t>[Watch out: the kit still says Resolvo, the bot's earlier name, in step 07 (07-taste-of-resolvo.md, code\taste_of_resolvo.py), in step 08's key name and in its README. It's the same bot as Deskhand.]</a:t>
            </a:r>
            <a:endParaRPr lang="en-US" dirty="0"/>
          </a:p>
          <a:p>
            <a:r>
              <a:rPr lang="en-US" i="1" dirty="0"/>
              <a:t>[If asked: each step page ends with a "Try this" list and an "If something went wrong"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commands are all you need for the whole course. pwd tells you where you are, ls shows what's in the folder, cd moves you around. The one habit I want you to build is this: check which folder you're in before you run anything. Running a script from the wrong folder is the most common first-week mistake, and the nasty part is that some scripts don't complain. They just do the wrong thing quietly. That's why the red box is on the slide.</a:t>
            </a:r>
            <a:endParaRPr lang="en-US" dirty="0"/>
          </a:p>
          <a:p>
            <a:r>
              <a:rPr lang="en-US" i="1" dirty="0"/>
              <a:t>[Do: demo pwd, ls and cd live. In VS Code, Ctrl+backtick opens a terminal.]</a:t>
            </a:r>
            <a:endParaRPr lang="en-US" dirty="0"/>
          </a:p>
          <a:p>
            <a:r>
              <a:rPr lang="en-US" i="1" dirty="0"/>
              <a:t>[If asked: the silent failure is real. Session 1's broken bot finds its policy files by relative path. Run it from the repo root and it answers without any policies, and no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word on packages first. Packages are other people's code, like openai or httpx, that you install and then import. Now look at the left box. If you install everything into the one Python on your computer, every project shares one shelf. Project A wants openai 2, project B wants openai 1, and one of them breaks.</a:t>
            </a:r>
            <a:endParaRPr lang="en-US" dirty="0"/>
          </a:p>
          <a:p>
            <a:r>
              <a:rPr lang="en-US" dirty="0"/>
              <a:t>A virtual environment, a venv, fixes that. It's a private copy of Python with its own shelf of packages, one per project. Think of it as a separate toolbox for each job. And because it's just a folder, there's nothing precious about it.</a:t>
            </a:r>
            <a:endParaRPr lang="en-US" dirty="0"/>
          </a:p>
          <a:p>
            <a:r>
              <a:rPr lang="en-US" i="1" dirty="0"/>
              <a:t>[Watch out: venv in a bad state? Delete the .venv folder and make it again. Nothing else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commands, three different jobs. The first, venv, makes the folder. The second, activate, switches this terminal over to it, which is why your prompt starts showing (.venv). The third, pip install, fills it from a shopping list, the file requirements.txt.</a:t>
            </a:r>
            <a:endParaRPr lang="en-US" dirty="0"/>
          </a:p>
          <a:p>
            <a:r>
              <a:rPr lang="en-US" dirty="0"/>
              <a:t>One thing catches everyone: activating only applies to the terminal you're in. Open a new terminal and you have to activate again. On Windows we type py rather than python. That's the Python launcher, and we use it because plain python often isn't on the PATH.</a:t>
            </a:r>
            <a:endParaRPr lang="en-US" dirty="0"/>
          </a:p>
          <a:p>
            <a:r>
              <a:rPr lang="en-US" i="1" dirty="0"/>
              <a:t>[Watch out: PowerShell says "running scripts is disabled"? The fix is on the slide, and you run it once.]</a:t>
            </a:r>
            <a:endParaRPr lang="en-US" dirty="0"/>
          </a:p>
          <a:p>
            <a:r>
              <a:rPr lang="en-US" i="1" dirty="0"/>
              <a:t>[If asked: the course gets its own venv and a much bigger list in step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first thing to try. Run where_am_i.py and it tells you which Python is running, whether a venv is active, and whether the four packages the kit needs are installed. Then do the part that makes it click: open a second terminal, don't activate, and run the same command. You get a different Python and missing packages. Same command, different Python, and the only difference is one activate. If you're following along, take three minutes now.</a:t>
            </a:r>
            <a:endParaRPr lang="en-US" dirty="0"/>
          </a:p>
          <a:p>
            <a:r>
              <a:rPr lang="en-US" i="1" dirty="0"/>
              <a:t>[Watch out: pip installed the packages but the script says MISSING? The venv wasn't active when they ran pip. Activate and install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API is a menu another program offers you. Here's the whole shape of a call. Your code, on the left, sends a request: a method like GET, a URL, some headers, and for a POST a JSON body. The order API on the right sends back a response: a status code and some JSON. Headers are the notes on the envelope, and later that's where the API key, the password for the service, travels.</a:t>
            </a:r>
            <a:endParaRPr lang="en-US" dirty="0"/>
          </a:p>
          <a:p>
            <a:r>
              <a:rPr lang="en-US" dirty="0"/>
              <a:t>The reason we spend time on this today is that a call to a language model has exactly this shape. It's a POST, JSON in, JSON out. Nothing magic about the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status codes, and you'll see all four this month. 200 means here's what you asked for. 404 means I understood you, but that thing doesn't exist. That's not a crash: the server answered perfectly well, it's telling you something. 429 means slow down, and you'll meet it on the free LLM tiers; the right move is to wait, not to hammer it. 500 means the other side broke, not you.</a:t>
            </a:r>
            <a:endParaRPr lang="en-US" dirty="0"/>
          </a:p>
          <a:p>
            <a:r>
              <a:rPr lang="en-US" dirty="0"/>
              <a:t>Real APIs do break, and the course makes its APIs fail on purpose so you get to practise handling it. Good code reads the status and decides what to do.</a:t>
            </a:r>
            <a:endParaRPr lang="en-US" dirty="0"/>
          </a:p>
          <a:p>
            <a:r>
              <a:rPr lang="en-US" i="1" dirty="0"/>
              <a:t>[If asked: the mock API fails on demand: an X-Chaos header for one request, or MOCK_CHAOS for all. Session 5 uses MOCK_CHAOS.]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real API, running on your laptop. The first command starts a small fake Nimbus order system, the same one the course uses every week. Leave it running. Open localhost:9000/docs in a browser and you get every endpoint with a "Try it out" button. That's the gentlest first API call there is, and the response panel shows the status code and the JSON together.</a:t>
            </a:r>
            <a:endParaRPr lang="en-US" dirty="0"/>
          </a:p>
          <a:p>
            <a:r>
              <a:rPr lang="en-US" dirty="0"/>
              <a:t>Then run hello_api.py from a second terminal. It sends five requests: an order, a missing order, a refund, the same refund again, and a forced failure. Quick question before I explain: is the 404 a bug? [Answer: no. The server answered: that order doesn't exist.]</a:t>
            </a:r>
            <a:endParaRPr lang="en-US" dirty="0"/>
          </a:p>
          <a:p>
            <a:r>
              <a:rPr lang="en-US" i="1" dirty="0"/>
              <a:t>[Do: on /docs: GET /orders/{order_id}, Try it out, O-48291, Execute. Then run hello_api.py and read the output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blocks 3 and 4. Same refund request, sent twice, same refund ID back. Here's why that matters. Your code asks for a refund and the request times out. Did it happen or not? You don't know. So you retry. Without a key, that retry can refund the customer twice. With the same Idempotency-Key, the server recognises the slip and returns the first refund instead of making a new one.</a:t>
            </a:r>
            <a:endParaRPr lang="en-US" dirty="0"/>
          </a:p>
          <a:p>
            <a:r>
              <a:rPr lang="en-US" dirty="0"/>
              <a:t>It's like a receipt number on a bank transfer: hand the clerk the same slip twice and you pay once. The caller picks one key, then reuses it on every retry of the same refund. That's idempotency.</a:t>
            </a:r>
            <a:endParaRPr lang="en-US" dirty="0"/>
          </a:p>
          <a:p>
            <a:r>
              <a:rPr lang="en-US" i="1" dirty="0"/>
              <a:t>[If asked: Session 5 builds the real refund tool on this. Don't go deeper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quick ones; shout the answers out. First: you ask for order O-00000 and get a 404. What is the 404 telling you? [Answer: that order doesn't exist. The server answered correctly; the API isn't broken.] Second: a refund request times out. Why is it safe to retry with the same Idempotency-Key? [Answer: the server remembers the key. If the first request went through, it returns that refund; if not, the retry does it. Refunded exactly once.] Third: your script prints Virtual env NO. What did you forget? [Answer: activating the venv in this terminal.]</a:t>
            </a:r>
            <a:endParaRPr lang="en-US" dirty="0"/>
          </a:p>
          <a:p>
            <a:r>
              <a:rPr lang="en-US" dirty="0"/>
              <a:t>The tempting mistake on the first one is treating anything that isn't 200 as an error. A 404 is information, not a failure: your code should read it and decide. On the third, the giveaway is that it worked a minute ago. A new terminal always starts without the venv.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an API key: it's your username and password in one string, with your credit card attached. So it never goes in your code. It lives in a file called .env, one line per value, and python-dotenv reads that file when your program starts. Python then sees each line as an environment variable, which is a named value the operating system hands to each program.</a:t>
            </a:r>
            <a:endParaRPr lang="en-US" dirty="0"/>
          </a:p>
          <a:p>
            <a:r>
              <a:rPr lang="en-US" dirty="0"/>
              <a:t>The other half is .gitignore. It tells Git to never even look at .env, so you can't commit it by accident. The warning at the bottom is not an exaggeration: bots scan public GitHub for leaked keys within minutes.</a:t>
            </a:r>
            <a:endParaRPr lang="en-US" dirty="0"/>
          </a:p>
          <a:p>
            <a:r>
              <a:rPr lang="en-US" i="1" dirty="0"/>
              <a:t>[Do: show show_env.py: which keys are set and how long, never the value. It flags a trailing space and quote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habits, and the second is the one I'd nag you about. Set a monthly spending limit on the day you create a paid key. A loop with a bug can make thousands of calls while you're at lunch. A limit turns that into an annoyance instead of a bill. The first habit covers chats too: pasting one into an AI assistant counts as pasting it on the internet.</a:t>
            </a:r>
            <a:endParaRPr lang="en-US" dirty="0"/>
          </a:p>
          <a:p>
            <a:r>
              <a:rPr lang="en-US" dirty="0"/>
              <a:t>The third: leaked keys are common and revoking is fast, so just revoke and make a new one. The fourth, one key, one project, is what makes revoking painless.</a:t>
            </a:r>
            <a:endParaRPr lang="en-US" dirty="0"/>
          </a:p>
          <a:p>
            <a:r>
              <a:rPr lang="en-US" i="1" dirty="0"/>
              <a:t>[If asked: two .env files keep practice and course separate: prep-kit/.env for free practice keys, deskhand-workshop/.env for the course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machine learning: a person picks the clues, like how often the word "free" appears, and the computer learns how much each clue counts. Deep learning: give it millions of examples and it finds the clues itself. Transformers, 2017: every word can look at every other word, so a model knows "them" means the headphones. Instruction tuning, around 2022: train it on questions and good answers.</a:t>
            </a:r>
            <a:endParaRPr lang="en-US" dirty="0"/>
          </a:p>
          <a:p>
            <a:r>
              <a:rPr lang="en-US" dirty="0"/>
              <a:t>That last step is the difference between a text predictor and ChatGPT. Ask a raw model for its refund window and it may carry on with the next question, as if it were on an FAQ page. An instruction-tuned model answers.</a:t>
            </a:r>
            <a:endParaRPr lang="en-US" dirty="0"/>
          </a:p>
          <a:p>
            <a:r>
              <a:rPr lang="en-US" i="1" dirty="0"/>
              <a:t>[Do: this is extra reading. Short on time? Skip it and point at prep-kit/extra-how-llms-work.md.]</a:t>
            </a:r>
            <a:endParaRPr lang="en-US" dirty="0"/>
          </a:p>
          <a:p>
            <a:r>
              <a:rPr lang="en-US" i="1" dirty="0"/>
              <a:t>[If asked: an LLM is a large language model. Session 1 starts from this idea, a text predictor trained to be helpful.]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payoff from step 02. A call to a large language model, an LLM, is the same POST: JSON in, JSON out. On the left is what you send: a model name and a list of messages. The system message sets the rules, the user message asks the question.</a:t>
            </a:r>
            <a:endParaRPr lang="en-US" dirty="0"/>
          </a:p>
          <a:p>
            <a:r>
              <a:rPr lang="en-US" dirty="0"/>
              <a:t>On the right is what you get back. The reply is tucked inside choices, and then there's usage: two token counts, what you sent and what the model wrote. That's what the bill is based on. For now, a token is a chunk of text; step 06 shows exactly what that means.</a:t>
            </a:r>
            <a:endParaRPr lang="en-US" dirty="0"/>
          </a:p>
          <a:p>
            <a:r>
              <a:rPr lang="en-US" i="1" dirty="0"/>
              <a:t>[If asked: there's also a temperature setting. It's on the "Try it" slide, where you turn the dial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I want you to leave with: a provider is an address plus a key. Here's why. Most providers copied OpenAI's request shape, so the one openai package can talk to all of them. Look at the diagram: chat.py hands the SDK a base_url and an api_key, and that's all that changes between Google's cloud, OpenRouter, and Ollama on your own laptop.</a:t>
            </a:r>
            <a:endParaRPr lang="en-US" dirty="0"/>
          </a:p>
          <a:p>
            <a:r>
              <a:rPr lang="en-US" dirty="0"/>
              <a:t>Swap the address, swap the key, pick one of that provider's model names, and the same code talks to a different company's model. That's how the course can let you bring your own provider.</a:t>
            </a:r>
            <a:endParaRPr lang="en-US" dirty="0"/>
          </a:p>
          <a:p>
            <a:r>
              <a:rPr lang="en-US" i="1" dirty="0"/>
              <a:t>[Do: open prep-kit/code/providers.py, a three-row table. Run chat.py with two --provider values: only the bracket line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all the code it takes; follow the numbered comments. One: a client, which is an address and a key. The key comes from .env, the way the secrets slide showed. Two: one call, with a model name and a list of messages, the system rule and the user question. Three: you print the reply, and two token counts. That's it.</a:t>
            </a:r>
            <a:endParaRPr lang="en-US" dirty="0"/>
          </a:p>
          <a:p>
            <a:r>
              <a:rPr lang="en-US" dirty="0"/>
              <a:t>Everything clever in the next four weeks happens around this call, not inside it: what goes into the messages, what you do with the reply, and how you check it. The kit wraps this in chat.py so you get a provider switch and readable error messages.</a:t>
            </a:r>
            <a:endParaRPr lang="en-US" dirty="0"/>
          </a:p>
          <a:p>
            <a:r>
              <a:rPr lang="en-US" i="1" dirty="0"/>
              <a:t>[If asked: chat.py adds a timer and turns the usual errors (missing key, 401, 429, 404) into a sentence with a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free ways to practise, and none of them is wired into the course code; the course needs a paid key, which is step 08. Gemini is the easiest: keys come from aistudio.google.com/apikey, no card needed. One warning: on the free tier, Google may use what you send, so practise only on the Nimbus tickets. Never send anything personal or from work.</a:t>
            </a:r>
            <a:endParaRPr lang="en-US" dirty="0"/>
          </a:p>
          <a:p>
            <a:r>
              <a:rPr lang="en-US" dirty="0"/>
              <a:t>OpenRouter is one key, hundreds of models. Watch the model name in the output change as openrouter/free picks a different one. Ollama runs on your laptop, no key. It's much weaker, but it shows you that a model is just a file of numbers you can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for your first calls. Start with show_env.py: it tells you which keys are set without ever printing them. Then run chat.py with whichever provider you've set up. Everyone should get one working call. Now look at the bracket line under the answer: the model, tokens in, tokens out, milliseconds. Those four numbers come back every session, so get used to reading them. Yours will differ from the slide.</a:t>
            </a:r>
            <a:endParaRPr lang="en-US" dirty="0"/>
          </a:p>
          <a:p>
            <a:r>
              <a:rPr lang="en-US" dirty="0"/>
              <a:t>Then the second half: temperature, a randomness dial. Ask for the same printer joke three times at 1.5, then three times at 0. High gives you a different joke most runs; near 0, mostly the same one.</a:t>
            </a:r>
            <a:endParaRPr lang="en-US" dirty="0"/>
          </a:p>
          <a:p>
            <a:r>
              <a:rPr lang="en-US" i="1" dirty="0"/>
              <a:t>[Watch out: 429 is the free tier: wait a minute. 401: show_env.py usually spots a stray space or quote mark. The Ollama line needs step 05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model on your own laptop. ollama pull downloads llama3.2, about 2 gigabytes, 3 billion parameters. Those parameters are the numbers the model is made of, and that's the whole download. Then the same chat.py, just a different provider. Before I run it, a warning: the first call after a restart takes 10 to 20 seconds while the model loads, so the silence isn't a failure.</a:t>
            </a:r>
            <a:endParaRPr lang="en-US" dirty="0"/>
          </a:p>
          <a:p>
            <a:r>
              <a:rPr lang="en-US" dirty="0"/>
              <a:t>Now I'll turn off Wi-Fi and run it again. It still works. The table tells you which model fits your memory: with 8 gigabytes stick to llama3.2; with 16 or more, try gemma3:4b too and compare.</a:t>
            </a:r>
            <a:endParaRPr lang="en-US" dirty="0"/>
          </a:p>
          <a:p>
            <a:r>
              <a:rPr lang="en-US" i="1" dirty="0"/>
              <a:t>[Do: turn off Wi-Fi on screen and run the call again.]</a:t>
            </a:r>
            <a:endParaRPr lang="en-US" dirty="0"/>
          </a:p>
          <a:p>
            <a:r>
              <a:rPr lang="en-US" i="1" dirty="0"/>
              <a:t>[Watch out: the CUDA crash is real; the CPU fix on the slide works. No model runs at all? Fine: Gemini and OpenRouter cover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a token is. Models don't read words; they read tokens. A tokenizer cuts text into chunks and turns each chunk into a number, and the model only ever sees those numbers. Often a chunk is a short word with its leading space, sometimes it's part of a word or a number. Ticket T-1001 is 40 words but 47 tokens.</a:t>
            </a:r>
            <a:endParaRPr lang="en-US" dirty="0"/>
          </a:p>
          <a:p>
            <a:r>
              <a:rPr lang="en-US" dirty="0"/>
              <a:t>Now look at the highlighted bit: the order number 48291 became two tokens, 482 and 91. The model never sees that number as one thing. That's part of why models sometimes garble long numbers when copying them. Keep that in mind every time Deskhand handles an order ID.</a:t>
            </a:r>
            <a:endParaRPr lang="en-US" dirty="0"/>
          </a:p>
          <a:p>
            <a:r>
              <a:rPr lang="en-US" i="1" dirty="0"/>
              <a:t>[If asked: count_tokens.py runs offline; nothing is sent. Session 1 goes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request, three languages, three prices. The English sentence is 7 words and 7 tokens. The formal Arabic is 4 words but 10 tokens. The shorter, informal one is 3 words and 7 tokens. The reason is that the tokenizer learned mostly from English, so English words tend to be one token each, while other languages get cut into more pieces. Refund is one token; استرداد is three.</a:t>
            </a:r>
            <a:endParaRPr lang="en-US" dirty="0"/>
          </a:p>
          <a:p>
            <a:r>
              <a:rPr lang="en-US" dirty="0"/>
              <a:t>More tokens means more cost and a little more time per call. So if you build for Arabic-speaking users, estimate your costs with your real customers' language, not English test data. Who here has built a product for Arabic-speaking users?</a:t>
            </a:r>
            <a:endParaRPr lang="en-US" dirty="0"/>
          </a:p>
          <a:p>
            <a:r>
              <a:rPr lang="en-US" i="1" dirty="0"/>
              <a:t>[If asked: counts are from the GPT-4o tokenizer (o200k_base). Other tokenizers differ; the gap has narrowed but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put a price on one ticket. Read T-1001, 47 tokens, and write a 150-token reply. The sum is simple: input tokens times the input price, plus output tokens times the output price, divided by a million, because prices are quoted per million tokens. count_tokens.py does that sum for you.</a:t>
            </a:r>
            <a:endParaRPr lang="en-US" dirty="0"/>
          </a:p>
          <a:p>
            <a:r>
              <a:rPr lang="en-US" dirty="0"/>
              <a:t>Two things to notice. One call is a fraction of a cent, so a single ticket never matters. What does matter is the model: 97 cents for ten thousand tickets on gpt-4o-mini, $16.18 on gpt-4o, a 17 times difference. And output costs more than input, so the reply usually costs more than the question.</a:t>
            </a:r>
            <a:endParaRPr lang="en-US" dirty="0"/>
          </a:p>
          <a:p>
            <a:r>
              <a:rPr lang="en-US" i="1" dirty="0"/>
              <a:t>[If asked: compare.py times one ticket on every provider they've set up. Times vary run to run; Session 1 measures over many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First: to switch chat.py from Gemini to OpenRouter, which three things change? [Answer: the address (base_url), the API key, and the model name. The request code stays the same.] Second: one of your keys ends up on GitHub by mistake. What do you do first? [Answer: revoke it in the provider's dashboard right away, then make a new one.] Third: which costs more per token, what you send or what the model writes? [Answer: what the model writes. For gpt-4o-mini, four times the input price.]</a:t>
            </a:r>
            <a:endParaRPr lang="en-US" dirty="0"/>
          </a:p>
          <a:p>
            <a:r>
              <a:rPr lang="en-US" dirty="0"/>
              <a:t>On the second one, the tempting answer is to delete the commit. That isn't enough: the bots already have it. Revoke first, tidy up after. On the third, remember that the reply usually costs more than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the whole course runs on: the model suggests, your code decides. taste_of_resolvo.py asks a model to sort real tickets into a category, priority and sentiment, and asks for only a JSON object back. Then the code checks the reply three ways before trusting it. Is it valid JSON? Models still say "Sure! Here's the JSON", or wrap it in a code fence. Is it an object, not a list or a string? And is every value from the allowed list? Models invent categories.</a:t>
            </a:r>
            <a:endParaRPr lang="en-US" dirty="0"/>
          </a:p>
          <a:p>
            <a:r>
              <a:rPr lang="en-US" dirty="0"/>
              <a:t>Anything that fails is printed as REJECTED, and it's never used. That matters most later, when the action is a refund.</a:t>
            </a:r>
            <a:endParaRPr lang="en-US" dirty="0"/>
          </a:p>
          <a:p>
            <a:r>
              <a:rPr lang="en-US" i="1" dirty="0"/>
              <a:t>[If asked: it's a small version of checkpoint 01, with the same labels. The file name uses Resolvo, Deskhand's earlier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of the second half, and it's a real run from building the kit. Read the ticket: a customer got a Nimbus smart speaker as a gift and already owns one. Nothing is defective. They want to return a duplicate gift. llama3.2 said product_defect, and that reply passed every check: valid JSON, an object, a label from the list.</a:t>
            </a:r>
            <a:endParaRPr lang="en-US" dirty="0"/>
          </a:p>
          <a:p>
            <a:r>
              <a:rPr lang="en-US" dirty="0"/>
              <a:t>So there are two kinds of wrong. Wrong shape, which your code catches every time. And wrong answer: perfect JSON, wrong label. Looking at this one reply, nothing tells you it's wrong. So how would you ever find out? [Answer: run many tickets whose right answer you already know, and count the matches. "A person checks them" is a fair first answer.]</a:t>
            </a:r>
            <a:endParaRPr lang="en-US" dirty="0"/>
          </a:p>
          <a:p>
            <a:r>
              <a:rPr lang="en-US" i="1" dirty="0"/>
              <a:t>[If asked: Session 2 makes wrong shapes nearly impossible. Session 10 is the known-answers testing, called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must-do: a paid course key, with $10 of credit and a monthly budget. OpenAI is the recommendation: one key, everything covered, embeddings included, for week 3. Azure works if your employer gives it to you. Anthropic alone doesn't, because Session 1's bot only speaks OpenAI or Azure, and Anthropic has no embeddings API.</a:t>
            </a:r>
            <a:endParaRPr lang="en-US" dirty="0"/>
          </a:p>
          <a:p>
            <a:r>
              <a:rPr lang="en-US" dirty="0"/>
              <a:t>The three steps are on the slide: add $10 prepaid, set a monthly budget, create one API key, named resolvo, as step 08 says. You only see it once, so paste it into .env. And $10 is plenty: on the default small model an evening's steps cost cents, and the slides warn you before anything costs more.</a:t>
            </a:r>
            <a:endParaRPr lang="en-US" dirty="0"/>
          </a:p>
          <a:p>
            <a:r>
              <a:rPr lang="en-US" i="1" dirty="0"/>
              <a:t>[Watch out: Azure: deployment name, not model name.]</a:t>
            </a:r>
            <a:endParaRPr lang="en-US" dirty="0"/>
          </a:p>
          <a:p>
            <a:r>
              <a:rPr lang="en-US" i="1" dirty="0"/>
              <a:t>[If asked: ChatGPT Plus and Claude Pro don't include API access. They're separate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step, and the one that takes longest. Clone the course repo next to the kit, not inside it. Give it its own venv: if the kit's one is still active, deactivate it first, then make and activate a new one. The install is the full course list, so expect 10 to 20 minutes; start it and let it run. Copy .env.example to .env, set LLM_PROVIDER=openai, and paste in your key. Then run check_setup.py --live and keep going until it says Ready. Warn lines are fine. Only FAIL lines need fixing, and each one prints what to do.</a:t>
            </a:r>
            <a:endParaRPr lang="en-US" dirty="0"/>
          </a:p>
          <a:p>
            <a:r>
              <a:rPr lang="en-US" i="1" dirty="0"/>
              <a:t>[Watch out: the template starts with LLM_PROVIDER=azure. Students fill in the OpenAI key, then miss that line. The check names it.]</a:t>
            </a:r>
            <a:endParaRPr lang="en-US" dirty="0"/>
          </a:p>
          <a:p>
            <a:r>
              <a:rPr lang="en-US" i="1" dirty="0"/>
              <a:t>[If asked: --live makes one tiny real call, a fraction of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checklist for Monday. Most of it you've seen today. The last two items matter most: the setup check says Ready, and git pull on the morning of Session 1, so you start with the latest code. If you're stuck on the check, don't lose your weekend to it. Come 20 minutes early on Monday with the output and we'll fix it together. Everything else on this list is a bonus.</a:t>
            </a:r>
            <a:endParaRPr lang="en-US" dirty="0"/>
          </a:p>
          <a:p>
            <a:r>
              <a:rPr lang="en-US" i="1" dirty="0"/>
              <a:t>[Do: leave this up at the end of the call.]</a:t>
            </a:r>
            <a:endParaRPr lang="en-US" dirty="0"/>
          </a:p>
          <a:p>
            <a:r>
              <a:rPr lang="en-US" i="1" dirty="0"/>
              <a:t>[If asked: no Docker needed. In Session 3 you watch me use an AI coding assistant; you need your own that evening to repeat it. The kit's step 08 says how to install a free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it for today. Thank you for giving up part of your weekend. Everything from today is in the kit's README, checklist included, so you don't need to take notes. Session 1 is "What Changed, and What Didn't". In class you watch and vote; in the evenings you run the same thing on the laptop that passed the check. See you on Monday.</a:t>
            </a:r>
            <a:endParaRPr lang="en-US" dirty="0"/>
          </a:p>
          <a:p>
            <a:r>
              <a:rPr lang="en-US" i="1" dirty="0"/>
              <a:t>[Do: five minutes of questions, then stay on the call for anyone whose setup check still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SKHAND">
    <p:bg>
      <p:bgPr>
        <a:solidFill>
          <a:srgbClr val="0C1A1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705432" y="-2400300"/>
            <a:ext cx="7315017" cy="5486400"/>
          </a:xfrm>
          <a:prstGeom prst="ellipse">
            <a:avLst/>
          </a:prstGeom>
          <a:solidFill>
            <a:srgbClr val="0D3029">
              <a:alpha val="55000"/>
            </a:srgbClr>
          </a:solidFill>
          <a:ln w="12700">
            <a:solidFill>
              <a:srgbClr val="0D3029">
                <a:alpha val="0"/>
              </a:srgbClr>
            </a:solidFill>
            <a:prstDash val="solid"/>
          </a:ln>
        </p:spPr>
      </p:sp>
      <p:sp>
        <p:nvSpPr>
          <p:cNvPr id="3" name="Shape 1"/>
          <p:cNvSpPr/>
          <p:nvPr/>
        </p:nvSpPr>
        <p:spPr>
          <a:xfrm>
            <a:off x="-2438339" y="4114800"/>
            <a:ext cx="6705432" cy="5143500"/>
          </a:xfrm>
          <a:prstGeom prst="ellipse">
            <a:avLst/>
          </a:prstGeom>
          <a:solidFill>
            <a:srgbClr val="112A45">
              <a:alpha val="55000"/>
            </a:srgbClr>
          </a:solidFill>
          <a:ln w="12700">
            <a:solidFill>
              <a:srgbClr val="112A45">
                <a:alpha val="0"/>
              </a:srgbClr>
            </a:solidFill>
            <a:prstDash val="solid"/>
          </a:ln>
        </p:spPr>
      </p:sp>
      <p:sp>
        <p:nvSpPr>
          <p:cNvPr id="4" name="Text 2"/>
          <p:cNvSpPr/>
          <p:nvPr/>
        </p:nvSpPr>
        <p:spPr>
          <a:xfrm>
            <a:off x="1234440" y="1589151"/>
            <a:ext cx="9722815" cy="862584"/>
          </a:xfrm>
          <a:prstGeom prst="rect">
            <a:avLst/>
          </a:prstGeom>
          <a:noFill/>
          <a:ln/>
        </p:spPr>
        <p:txBody>
          <a:bodyPr wrap="square" lIns="0" tIns="0" rIns="0" bIns="0" rtlCol="0" anchor="t"/>
          <a:lstStyle/>
          <a:p>
            <a:pPr algn="ctr" indent="0" marL="0">
              <a:buNone/>
            </a:pPr>
            <a:r>
              <a:rPr lang="en-US" sz="4400" b="1" dirty="0">
                <a:solidFill>
                  <a:srgbClr val="FFFFFF"/>
                </a:solidFill>
                <a:latin typeface="Segoe UI" pitchFamily="34" charset="0"/>
                <a:ea typeface="Segoe UI" pitchFamily="34" charset="-122"/>
                <a:cs typeface="Segoe UI" pitchFamily="34" charset="-120"/>
              </a:rPr>
              <a:t>Before Day One</a:t>
            </a:r>
            <a:endParaRPr lang="en-US" sz="4400" dirty="0"/>
          </a:p>
        </p:txBody>
      </p:sp>
      <p:sp>
        <p:nvSpPr>
          <p:cNvPr id="5" name="Shape 3"/>
          <p:cNvSpPr/>
          <p:nvPr/>
        </p:nvSpPr>
        <p:spPr>
          <a:xfrm>
            <a:off x="5318608" y="2543175"/>
            <a:ext cx="777240" cy="82296"/>
          </a:xfrm>
          <a:prstGeom prst="rect">
            <a:avLst/>
          </a:prstGeom>
          <a:solidFill>
            <a:srgbClr val="01D294"/>
          </a:solidFill>
          <a:ln w="12700">
            <a:solidFill>
              <a:srgbClr val="01D294"/>
            </a:solidFill>
            <a:prstDash val="solid"/>
          </a:ln>
        </p:spPr>
      </p:sp>
      <p:sp>
        <p:nvSpPr>
          <p:cNvPr id="6" name="Shape 4"/>
          <p:cNvSpPr/>
          <p:nvPr/>
        </p:nvSpPr>
        <p:spPr>
          <a:xfrm>
            <a:off x="6095848" y="2543175"/>
            <a:ext cx="777240" cy="82296"/>
          </a:xfrm>
          <a:prstGeom prst="rect">
            <a:avLst/>
          </a:prstGeom>
          <a:solidFill>
            <a:srgbClr val="11958A"/>
          </a:solidFill>
          <a:ln w="12700">
            <a:solidFill>
              <a:srgbClr val="11958A"/>
            </a:solidFill>
            <a:prstDash val="solid"/>
          </a:ln>
        </p:spPr>
      </p:sp>
      <p:sp>
        <p:nvSpPr>
          <p:cNvPr id="7" name="Text 5"/>
          <p:cNvSpPr/>
          <p:nvPr/>
        </p:nvSpPr>
        <p:spPr>
          <a:xfrm>
            <a:off x="1234440" y="2863215"/>
            <a:ext cx="9722815" cy="862584"/>
          </a:xfrm>
          <a:prstGeom prst="rect">
            <a:avLst/>
          </a:prstGeom>
          <a:noFill/>
          <a:ln/>
        </p:spPr>
        <p:txBody>
          <a:bodyPr wrap="square" lIns="0" tIns="0" rIns="0" bIns="0" rtlCol="0" anchor="t"/>
          <a:lstStyle/>
          <a:p>
            <a:pPr algn="ctr" indent="0" marL="0">
              <a:buNone/>
            </a:pPr>
            <a:r>
              <a:rPr lang="en-US" sz="2200" dirty="0">
                <a:solidFill>
                  <a:srgbClr val="EEF6F3"/>
                </a:solidFill>
                <a:latin typeface="Segoe UI" pitchFamily="34" charset="0"/>
                <a:ea typeface="Segoe UI" pitchFamily="34" charset="-122"/>
                <a:cs typeface="Segoe UI" pitchFamily="34" charset="-120"/>
              </a:rPr>
              <a:t>A gentle first touch of everything you'll use: the terminal, a virtual environment, APIs, keys, and your first calls to a language model</a:t>
            </a:r>
            <a:endParaRPr lang="en-US" sz="2200" dirty="0"/>
          </a:p>
        </p:txBody>
      </p:sp>
      <p:sp>
        <p:nvSpPr>
          <p:cNvPr id="8" name="Text 6"/>
          <p:cNvSpPr/>
          <p:nvPr/>
        </p:nvSpPr>
        <p:spPr>
          <a:xfrm>
            <a:off x="1234440" y="4548759"/>
            <a:ext cx="9722815" cy="354330"/>
          </a:xfrm>
          <a:prstGeom prst="rect">
            <a:avLst/>
          </a:prstGeom>
          <a:noFill/>
          <a:ln/>
        </p:spPr>
        <p:txBody>
          <a:bodyPr wrap="square" lIns="0" tIns="0" rIns="0" bIns="0" rtlCol="0" anchor="t"/>
          <a:lstStyle/>
          <a:p>
            <a:pPr algn="ctr" indent="0" marL="0">
              <a:buNone/>
            </a:pPr>
            <a:r>
              <a:rPr lang="en-US" sz="1500" spc="200" kern="0" dirty="0">
                <a:solidFill>
                  <a:srgbClr val="01D294"/>
                </a:solidFill>
                <a:latin typeface="Segoe UI" pitchFamily="34" charset="0"/>
                <a:ea typeface="Segoe UI" pitchFamily="34" charset="-122"/>
                <a:cs typeface="Segoe UI" pitchFamily="34" charset="-120"/>
              </a:rPr>
              <a:t>Session 0 · Prep kit · Optional kickoff call, the weekend before October 19, 2026</a:t>
            </a:r>
            <a:endParaRPr lang="en-US" sz="15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 / 32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051560"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TODAY</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first touch, not a test</a:t>
            </a:r>
            <a:endParaRPr lang="en-US" sz="3000" dirty="0"/>
          </a:p>
        </p:txBody>
      </p:sp>
      <p:sp>
        <p:nvSpPr>
          <p:cNvPr id="6" name="Text 4"/>
          <p:cNvSpPr/>
          <p:nvPr/>
        </p:nvSpPr>
        <p:spPr>
          <a:xfrm>
            <a:off x="777240" y="1577340"/>
            <a:ext cx="10637215" cy="1639824"/>
          </a:xfrm>
          <a:prstGeom prst="rect">
            <a:avLst/>
          </a:prstGeom>
          <a:noFill/>
          <a:ln/>
        </p:spPr>
        <p:txBody>
          <a:bodyPr wrap="square" lIns="0" tIns="0" rIns="0" bIns="0" rtlCol="0" anchor="t"/>
          <a:lstStyle/>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A </a:t>
            </a:r>
            <a:pPr indent="0" marL="0">
              <a:buNone/>
            </a:pPr>
            <a:r>
              <a:rPr lang="en-US" sz="2000" b="1" dirty="0">
                <a:solidFill>
                  <a:srgbClr val="FFFFFF"/>
                </a:solidFill>
                <a:latin typeface="Segoe UI" pitchFamily="34" charset="0"/>
                <a:ea typeface="Segoe UI" pitchFamily="34" charset="-122"/>
                <a:cs typeface="Segoe UI" pitchFamily="34" charset="-120"/>
              </a:rPr>
              <a:t>first touch</a:t>
            </a:r>
            <a:pPr indent="0" marL="0">
              <a:buNone/>
            </a:pPr>
            <a:r>
              <a:rPr lang="en-US" sz="2000" dirty="0">
                <a:solidFill>
                  <a:srgbClr val="EEF6F3"/>
                </a:solidFill>
                <a:latin typeface="Segoe UI" pitchFamily="34" charset="0"/>
                <a:ea typeface="Segoe UI" pitchFamily="34" charset="-122"/>
                <a:cs typeface="Segoe UI" pitchFamily="34" charset="-120"/>
              </a:rPr>
              <a:t> of the tools the course uses, so Monday doesn't start with a wall of new words.</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A working laptop: Python, the course code, and an </a:t>
            </a:r>
            <a:pPr indent="0" marL="0">
              <a:buNone/>
            </a:pPr>
            <a:r>
              <a:rPr lang="en-US" sz="2000" b="1" dirty="0">
                <a:solidFill>
                  <a:srgbClr val="FFFFFF"/>
                </a:solidFill>
                <a:latin typeface="Segoe UI" pitchFamily="34" charset="0"/>
                <a:ea typeface="Segoe UI" pitchFamily="34" charset="-122"/>
                <a:cs typeface="Segoe UI" pitchFamily="34" charset="-120"/>
              </a:rPr>
              <a:t>API key</a:t>
            </a:r>
            <a:pPr indent="0" marL="0">
              <a:buNone/>
            </a:pPr>
            <a:r>
              <a:rPr lang="en-US" sz="2000" dirty="0">
                <a:solidFill>
                  <a:srgbClr val="EEF6F3"/>
                </a:solidFill>
                <a:latin typeface="Segoe UI" pitchFamily="34" charset="0"/>
                <a:ea typeface="Segoe UI" pitchFamily="34" charset="-122"/>
                <a:cs typeface="Segoe UI" pitchFamily="34" charset="-120"/>
              </a:rPr>
              <a:t> that works.</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Not a test. If a step doesn't work, write down what you saw and move on.</a:t>
            </a:r>
            <a:endParaRPr lang="en-US" sz="2000" dirty="0"/>
          </a:p>
        </p:txBody>
      </p:sp>
      <p:sp>
        <p:nvSpPr>
          <p:cNvPr id="7" name="Shape 5"/>
          <p:cNvSpPr/>
          <p:nvPr/>
        </p:nvSpPr>
        <p:spPr>
          <a:xfrm>
            <a:off x="777240" y="3345180"/>
            <a:ext cx="10637215" cy="1169822"/>
          </a:xfrm>
          <a:prstGeom prst="roundRect">
            <a:avLst>
              <a:gd name="adj" fmla="val 7817"/>
            </a:avLst>
          </a:prstGeom>
          <a:solidFill>
            <a:srgbClr val="0D3029"/>
          </a:solidFill>
          <a:ln w="12700">
            <a:solidFill>
              <a:srgbClr val="0D3029"/>
            </a:solidFill>
            <a:prstDash val="solid"/>
          </a:ln>
        </p:spPr>
      </p:sp>
      <p:sp>
        <p:nvSpPr>
          <p:cNvPr id="8" name="Shape 6"/>
          <p:cNvSpPr/>
          <p:nvPr/>
        </p:nvSpPr>
        <p:spPr>
          <a:xfrm>
            <a:off x="777240" y="3345180"/>
            <a:ext cx="82296" cy="1169822"/>
          </a:xfrm>
          <a:prstGeom prst="rect">
            <a:avLst/>
          </a:prstGeom>
          <a:solidFill>
            <a:srgbClr val="01D294"/>
          </a:solidFill>
          <a:ln w="12700">
            <a:solidFill>
              <a:srgbClr val="01D294"/>
            </a:solidFill>
            <a:prstDash val="solid"/>
          </a:ln>
        </p:spPr>
      </p:sp>
      <p:sp>
        <p:nvSpPr>
          <p:cNvPr id="9" name="Text 7"/>
          <p:cNvSpPr/>
          <p:nvPr/>
        </p:nvSpPr>
        <p:spPr>
          <a:xfrm>
            <a:off x="1051560" y="3454908"/>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10" name="Text 8"/>
          <p:cNvSpPr/>
          <p:nvPr/>
        </p:nvSpPr>
        <p:spPr>
          <a:xfrm>
            <a:off x="1051560" y="369265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An </a:t>
            </a:r>
            <a:pPr algn="l" indent="0" marL="0">
              <a:buNone/>
            </a:pPr>
            <a:r>
              <a:rPr lang="en-US" sz="1720" b="1" dirty="0">
                <a:solidFill>
                  <a:srgbClr val="FFFFFF"/>
                </a:solidFill>
                <a:latin typeface="Segoe UI" pitchFamily="34" charset="0"/>
                <a:ea typeface="Segoe UI" pitchFamily="34" charset="-122"/>
                <a:cs typeface="Segoe UI" pitchFamily="34" charset="-120"/>
              </a:rPr>
              <a:t>API key</a:t>
            </a:r>
            <a:pPr algn="l" indent="0" marL="0">
              <a:buNone/>
            </a:pPr>
            <a:r>
              <a:rPr lang="en-US" sz="1720" dirty="0">
                <a:solidFill>
                  <a:srgbClr val="EEF6F3"/>
                </a:solidFill>
                <a:latin typeface="Segoe UI" pitchFamily="34" charset="0"/>
                <a:ea typeface="Segoe UI" pitchFamily="34" charset="-122"/>
                <a:cs typeface="Segoe UI" pitchFamily="34" charset="-120"/>
              </a:rPr>
              <a:t> is a long password that lets your code use a paid service. We'll see where it goes in a few minutes.</a:t>
            </a:r>
            <a:endParaRPr lang="en-US" sz="1720" dirty="0"/>
          </a:p>
        </p:txBody>
      </p:sp>
      <p:sp>
        <p:nvSpPr>
          <p:cNvPr id="11" name="Text 9"/>
          <p:cNvSpPr/>
          <p:nvPr/>
        </p:nvSpPr>
        <p:spPr>
          <a:xfrm>
            <a:off x="777240" y="4643018"/>
            <a:ext cx="10637215" cy="650748"/>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Everything here is in the kit, </a:t>
            </a:r>
            <a:pPr algn="l" indent="0" marL="0">
              <a:buNone/>
            </a:pPr>
            <a:r>
              <a:rPr lang="en-US" sz="1500" dirty="0">
                <a:solidFill>
                  <a:srgbClr val="D8FFF0"/>
                </a:solidFill>
                <a:latin typeface="Consolas" pitchFamily="34" charset="0"/>
                <a:ea typeface="Consolas" pitchFamily="34" charset="-122"/>
                <a:cs typeface="Consolas" pitchFamily="34" charset="-120"/>
              </a:rPr>
              <a:t>github.com/hasankanaan26/prep-kit</a:t>
            </a:r>
            <a:pPr algn="l" indent="0" marL="0">
              <a:buNone/>
            </a:pPr>
            <a:r>
              <a:rPr lang="en-US" sz="1700" dirty="0">
                <a:solidFill>
                  <a:srgbClr val="9DB5B1"/>
                </a:solidFill>
                <a:latin typeface="Segoe UI" pitchFamily="34" charset="0"/>
                <a:ea typeface="Segoe UI" pitchFamily="34" charset="-122"/>
                <a:cs typeface="Segoe UI" pitchFamily="34" charset="-120"/>
              </a:rPr>
              <a:t>, one short Markdown page per step.</a:t>
            </a:r>
            <a:endParaRPr lang="en-US" sz="1700" dirty="0"/>
          </a:p>
        </p:txBody>
      </p:sp>
      <p:sp>
        <p:nvSpPr>
          <p:cNvPr id="12" name="Text 10"/>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3" name="Text 11"/>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 / 32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563624"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THE STORY</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What the four weeks look like</a:t>
            </a:r>
            <a:endParaRPr lang="en-US" sz="3000" dirty="0"/>
          </a:p>
        </p:txBody>
      </p:sp>
      <p:sp>
        <p:nvSpPr>
          <p:cNvPr id="6" name="Text 4"/>
          <p:cNvSpPr/>
          <p:nvPr/>
        </p:nvSpPr>
        <p:spPr>
          <a:xfrm>
            <a:off x="777240" y="1577340"/>
            <a:ext cx="10637215" cy="1990344"/>
          </a:xfrm>
          <a:prstGeom prst="rect">
            <a:avLst/>
          </a:prstGeom>
          <a:noFill/>
          <a:ln/>
        </p:spPr>
        <p:txBody>
          <a:bodyPr wrap="square" lIns="0" tIns="0" rIns="0" bIns="0" rtlCol="0" anchor="t"/>
          <a:lstStyle/>
          <a:p>
            <a:pPr marL="279400" indent="-279400">
              <a:spcAft>
                <a:spcPts val="500"/>
              </a:spcAft>
              <a:buSzPct val="100000"/>
              <a:buChar char="•"/>
            </a:pPr>
            <a:r>
              <a:rPr lang="en-US" sz="2000" b="1" dirty="0">
                <a:solidFill>
                  <a:srgbClr val="FFFFFF"/>
                </a:solidFill>
                <a:latin typeface="Segoe UI" pitchFamily="34" charset="0"/>
                <a:ea typeface="Segoe UI" pitchFamily="34" charset="-122"/>
                <a:cs typeface="Segoe UI" pitchFamily="34" charset="-120"/>
              </a:rPr>
              <a:t>Nimbus Electronics</a:t>
            </a:r>
            <a:pPr indent="0" marL="0">
              <a:buNone/>
            </a:pPr>
            <a:r>
              <a:rPr lang="en-US" sz="2000" dirty="0">
                <a:solidFill>
                  <a:srgbClr val="EEF6F3"/>
                </a:solidFill>
                <a:latin typeface="Segoe UI" pitchFamily="34" charset="0"/>
                <a:ea typeface="Segoe UI" pitchFamily="34" charset="-122"/>
                <a:cs typeface="Segoe UI" pitchFamily="34" charset="-120"/>
              </a:rPr>
              <a:t> is a small online store. Customers send support tickets.</a:t>
            </a:r>
            <a:endParaRPr lang="en-US" sz="2000" dirty="0"/>
          </a:p>
          <a:p>
            <a:pPr marL="279400" indent="-279400">
              <a:spcAft>
                <a:spcPts val="500"/>
              </a:spcAft>
              <a:buSzPct val="100000"/>
              <a:buChar char="•"/>
            </a:pPr>
            <a:r>
              <a:rPr lang="en-US" sz="2000" b="1" dirty="0">
                <a:solidFill>
                  <a:srgbClr val="FFFFFF"/>
                </a:solidFill>
                <a:latin typeface="Segoe UI" pitchFamily="34" charset="0"/>
                <a:ea typeface="Segoe UI" pitchFamily="34" charset="-122"/>
                <a:cs typeface="Segoe UI" pitchFamily="34" charset="-120"/>
              </a:rPr>
              <a:t>Deskhand</a:t>
            </a:r>
            <a:pPr indent="0" marL="0">
              <a:buNone/>
            </a:pPr>
            <a:r>
              <a:rPr lang="en-US" sz="2000" dirty="0">
                <a:solidFill>
                  <a:srgbClr val="EEF6F3"/>
                </a:solidFill>
                <a:latin typeface="Segoe UI" pitchFamily="34" charset="0"/>
                <a:ea typeface="Segoe UI" pitchFamily="34" charset="-122"/>
                <a:cs typeface="Segoe UI" pitchFamily="34" charset="-120"/>
              </a:rPr>
              <a:t> reads each ticket, checks the order and the store's policies, and drafts the fix.</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The first version is broken in 10 ways. Each session fixes one or two, live on the screen.</a:t>
            </a:r>
            <a:endParaRPr lang="en-US" sz="2000" dirty="0"/>
          </a:p>
        </p:txBody>
      </p:sp>
      <p:sp>
        <p:nvSpPr>
          <p:cNvPr id="7" name="Shape 5"/>
          <p:cNvSpPr/>
          <p:nvPr/>
        </p:nvSpPr>
        <p:spPr>
          <a:xfrm>
            <a:off x="777240" y="3695700"/>
            <a:ext cx="10637215" cy="1169822"/>
          </a:xfrm>
          <a:prstGeom prst="roundRect">
            <a:avLst>
              <a:gd name="adj" fmla="val 7817"/>
            </a:avLst>
          </a:prstGeom>
          <a:solidFill>
            <a:srgbClr val="2E2A14"/>
          </a:solidFill>
          <a:ln w="12700">
            <a:solidFill>
              <a:srgbClr val="2E2A14"/>
            </a:solidFill>
            <a:prstDash val="solid"/>
          </a:ln>
        </p:spPr>
      </p:sp>
      <p:sp>
        <p:nvSpPr>
          <p:cNvPr id="8" name="Shape 6"/>
          <p:cNvSpPr/>
          <p:nvPr/>
        </p:nvSpPr>
        <p:spPr>
          <a:xfrm>
            <a:off x="777240" y="3695700"/>
            <a:ext cx="82296" cy="1169822"/>
          </a:xfrm>
          <a:prstGeom prst="rect">
            <a:avLst/>
          </a:prstGeom>
          <a:solidFill>
            <a:srgbClr val="FFC53D"/>
          </a:solidFill>
          <a:ln w="12700">
            <a:solidFill>
              <a:srgbClr val="FFC53D"/>
            </a:solidFill>
            <a:prstDash val="solid"/>
          </a:ln>
        </p:spPr>
      </p:sp>
      <p:sp>
        <p:nvSpPr>
          <p:cNvPr id="9" name="Text 7"/>
          <p:cNvSpPr/>
          <p:nvPr/>
        </p:nvSpPr>
        <p:spPr>
          <a:xfrm>
            <a:off x="1051560" y="3805428"/>
            <a:ext cx="10225735" cy="237744"/>
          </a:xfrm>
          <a:prstGeom prst="rect">
            <a:avLst/>
          </a:prstGeom>
          <a:noFill/>
          <a:ln/>
        </p:spPr>
        <p:txBody>
          <a:bodyPr wrap="square" lIns="0" tIns="0" rIns="0" bIns="0" rtlCol="0" anchor="t"/>
          <a:lstStyle/>
          <a:p>
            <a:pPr indent="0" marL="0">
              <a:buNone/>
            </a:pPr>
            <a:r>
              <a:rPr lang="en-US" sz="1050" b="1" spc="300" kern="0" dirty="0">
                <a:solidFill>
                  <a:srgbClr val="FFC53D"/>
                </a:solidFill>
                <a:latin typeface="Segoe UI" pitchFamily="34" charset="0"/>
                <a:ea typeface="Segoe UI" pitchFamily="34" charset="-122"/>
                <a:cs typeface="Segoe UI" pitchFamily="34" charset="-120"/>
              </a:rPr>
              <a:t>A REAL TICKET: T-1001</a:t>
            </a:r>
            <a:endParaRPr lang="en-US" sz="1050" dirty="0"/>
          </a:p>
        </p:txBody>
      </p:sp>
      <p:sp>
        <p:nvSpPr>
          <p:cNvPr id="10" name="Text 8"/>
          <p:cNvSpPr/>
          <p:nvPr/>
        </p:nvSpPr>
        <p:spPr>
          <a:xfrm>
            <a:off x="1051560" y="404317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"I ordered the wireless headphones two weeks ago, order #48291. They arrived with a cracked case. I want a refund or a replacement…"</a:t>
            </a:r>
            <a:endParaRPr lang="en-US" sz="172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 / 32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563624"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THE ROUTE</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Eight steps, just under four hours</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3323844"/>
                <a:gridCol w="6515100"/>
                <a:gridCol w="797357"/>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Step</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What you do</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Time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01 Terminal, Python, venv</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Install Python, make a private Python for the kit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35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02 APIs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Talk to a small order API on your laptop</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03 Secrets and .env</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Keep keys out of your code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15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04 First LLM call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Free keys from Gemini and OpenRouter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05 Local models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Run a model on your own laptop with Ollama</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06 Tokens and cost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What a model reads, and what it costs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20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07 A taste of Resolvo</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Ask a model to sort real tickets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20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b="1" dirty="0">
                          <a:solidFill>
                            <a:srgbClr val="FFFFFF"/>
                          </a:solidFill>
                          <a:latin typeface="Segoe UI" pitchFamily="34" charset="0"/>
                          <a:ea typeface="Segoe UI" pitchFamily="34" charset="-122"/>
                          <a:cs typeface="Segoe UI" pitchFamily="34" charset="-120"/>
                        </a:rPr>
                        <a:t>08 Get ready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b="1" dirty="0">
                          <a:solidFill>
                            <a:srgbClr val="FFFFFF"/>
                          </a:solidFill>
                          <a:latin typeface="Segoe UI" pitchFamily="34" charset="0"/>
                          <a:ea typeface="Segoe UI" pitchFamily="34" charset="-122"/>
                          <a:cs typeface="Segoe UI" pitchFamily="34" charset="-120"/>
                        </a:rPr>
                        <a:t>Course key, course code, install, setup check</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50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Text 4"/>
          <p:cNvSpPr/>
          <p:nvPr/>
        </p:nvSpPr>
        <p:spPr>
          <a:xfrm>
            <a:off x="777240" y="5190363"/>
            <a:ext cx="10637215" cy="352806"/>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The kit still calls Deskhand by its earlier name, Resolvo, in a few places. Same bot.</a:t>
            </a:r>
            <a:endParaRPr lang="en-US" sz="1700" dirty="0"/>
          </a:p>
        </p:txBody>
      </p:sp>
      <p:sp>
        <p:nvSpPr>
          <p:cNvPr id="8" name="Text 5"/>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9" name="Text 6"/>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4 / 32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01</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The terminal: five commands are enough</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4254703"/>
                <a:gridCol w="3867912"/>
                <a:gridCol w="2514600"/>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What you want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Windows (PowerShell)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macOS / Linux</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Where am I?</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pwd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pwd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What's in this folder?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Go into a folder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prep-kit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prep-kit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Go up one level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Clear the screen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clear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Shape 4"/>
          <p:cNvSpPr/>
          <p:nvPr/>
        </p:nvSpPr>
        <p:spPr>
          <a:xfrm>
            <a:off x="777240" y="4043934"/>
            <a:ext cx="10637215" cy="1169822"/>
          </a:xfrm>
          <a:prstGeom prst="roundRect">
            <a:avLst>
              <a:gd name="adj" fmla="val 7817"/>
            </a:avLst>
          </a:prstGeom>
          <a:solidFill>
            <a:srgbClr val="3A1C1F"/>
          </a:solidFill>
          <a:ln w="12700">
            <a:solidFill>
              <a:srgbClr val="3A1C1F"/>
            </a:solidFill>
            <a:prstDash val="solid"/>
          </a:ln>
        </p:spPr>
      </p:sp>
      <p:sp>
        <p:nvSpPr>
          <p:cNvPr id="8" name="Shape 5"/>
          <p:cNvSpPr/>
          <p:nvPr/>
        </p:nvSpPr>
        <p:spPr>
          <a:xfrm>
            <a:off x="777240" y="4043934"/>
            <a:ext cx="82296" cy="1169822"/>
          </a:xfrm>
          <a:prstGeom prst="rect">
            <a:avLst/>
          </a:prstGeom>
          <a:solidFill>
            <a:srgbClr val="FF7A7A"/>
          </a:solidFill>
          <a:ln w="12700">
            <a:solidFill>
              <a:srgbClr val="FF7A7A"/>
            </a:solidFill>
            <a:prstDash val="solid"/>
          </a:ln>
        </p:spPr>
      </p:sp>
      <p:sp>
        <p:nvSpPr>
          <p:cNvPr id="9" name="Text 6"/>
          <p:cNvSpPr/>
          <p:nvPr/>
        </p:nvSpPr>
        <p:spPr>
          <a:xfrm>
            <a:off x="1051560" y="4153662"/>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WATCH OUT</a:t>
            </a:r>
            <a:endParaRPr lang="en-US" sz="1050" dirty="0"/>
          </a:p>
        </p:txBody>
      </p:sp>
      <p:sp>
        <p:nvSpPr>
          <p:cNvPr id="10" name="Text 7"/>
          <p:cNvSpPr/>
          <p:nvPr/>
        </p:nvSpPr>
        <p:spPr>
          <a:xfrm>
            <a:off x="1051560" y="4391406"/>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The folder you're in matters. Running a script from the wrong folder is the most common first-week mistake, and some scripts fail </a:t>
            </a:r>
            <a:pPr algn="l" indent="0" marL="0">
              <a:buNone/>
            </a:pPr>
            <a:r>
              <a:rPr lang="en-US" sz="1720" dirty="0">
                <a:solidFill>
                  <a:srgbClr val="01D294"/>
                </a:solidFill>
                <a:latin typeface="Segoe UI" pitchFamily="34" charset="0"/>
                <a:ea typeface="Segoe UI" pitchFamily="34" charset="-122"/>
                <a:cs typeface="Segoe UI" pitchFamily="34" charset="-120"/>
              </a:rPr>
              <a:t>silently</a:t>
            </a:r>
            <a:pPr algn="l" indent="0" marL="0">
              <a:buNone/>
            </a:pPr>
            <a:r>
              <a:rPr lang="en-US" sz="1720" dirty="0">
                <a:solidFill>
                  <a:srgbClr val="EEF6F3"/>
                </a:solidFill>
                <a:latin typeface="Segoe UI" pitchFamily="34" charset="0"/>
                <a:ea typeface="Segoe UI" pitchFamily="34" charset="-122"/>
                <a:cs typeface="Segoe UI" pitchFamily="34" charset="-120"/>
              </a:rPr>
              <a:t> when you do it.</a:t>
            </a:r>
            <a:endParaRPr lang="en-US" sz="1720" dirty="0"/>
          </a:p>
        </p:txBody>
      </p:sp>
      <p:sp>
        <p:nvSpPr>
          <p:cNvPr id="11" name="Text 8"/>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2" name="Text 9"/>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5 / 32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01</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virtual environment is a toolbox per project</a:t>
            </a:r>
            <a:endParaRPr lang="en-US" sz="30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5952" y="1577340"/>
            <a:ext cx="10139791" cy="2764528"/>
          </a:xfrm>
          <a:prstGeom prst="rect">
            <a:avLst/>
          </a:prstGeom>
        </p:spPr>
      </p:pic>
      <p:sp>
        <p:nvSpPr>
          <p:cNvPr id="7" name="Shape 4"/>
          <p:cNvSpPr/>
          <p:nvPr/>
        </p:nvSpPr>
        <p:spPr>
          <a:xfrm>
            <a:off x="777240" y="4561324"/>
            <a:ext cx="10637215" cy="1169822"/>
          </a:xfrm>
          <a:prstGeom prst="roundRect">
            <a:avLst>
              <a:gd name="adj" fmla="val 7817"/>
            </a:avLst>
          </a:prstGeom>
          <a:solidFill>
            <a:srgbClr val="0D3029"/>
          </a:solidFill>
          <a:ln w="12700">
            <a:solidFill>
              <a:srgbClr val="0D3029"/>
            </a:solidFill>
            <a:prstDash val="solid"/>
          </a:ln>
        </p:spPr>
      </p:sp>
      <p:sp>
        <p:nvSpPr>
          <p:cNvPr id="8" name="Shape 5"/>
          <p:cNvSpPr/>
          <p:nvPr/>
        </p:nvSpPr>
        <p:spPr>
          <a:xfrm>
            <a:off x="777240" y="4561324"/>
            <a:ext cx="82296" cy="1169822"/>
          </a:xfrm>
          <a:prstGeom prst="rect">
            <a:avLst/>
          </a:prstGeom>
          <a:solidFill>
            <a:srgbClr val="01D294"/>
          </a:solidFill>
          <a:ln w="12700">
            <a:solidFill>
              <a:srgbClr val="01D294"/>
            </a:solidFill>
            <a:prstDash val="solid"/>
          </a:ln>
        </p:spPr>
      </p:sp>
      <p:sp>
        <p:nvSpPr>
          <p:cNvPr id="9" name="Text 6"/>
          <p:cNvSpPr/>
          <p:nvPr/>
        </p:nvSpPr>
        <p:spPr>
          <a:xfrm>
            <a:off x="1051560" y="4671052"/>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10" name="Text 7"/>
          <p:cNvSpPr/>
          <p:nvPr/>
        </p:nvSpPr>
        <p:spPr>
          <a:xfrm>
            <a:off x="1051560" y="4908796"/>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 </a:t>
            </a:r>
            <a:pPr algn="l" indent="0" marL="0">
              <a:buNone/>
            </a:pPr>
            <a:r>
              <a:rPr lang="en-US" sz="1720" b="1" dirty="0">
                <a:solidFill>
                  <a:srgbClr val="FFFFFF"/>
                </a:solidFill>
                <a:latin typeface="Segoe UI" pitchFamily="34" charset="0"/>
                <a:ea typeface="Segoe UI" pitchFamily="34" charset="-122"/>
                <a:cs typeface="Segoe UI" pitchFamily="34" charset="-120"/>
              </a:rPr>
              <a:t>virtual environment</a:t>
            </a:r>
            <a:pPr algn="l" indent="0" marL="0">
              <a:buNone/>
            </a:pPr>
            <a:r>
              <a:rPr lang="en-US" sz="1720" dirty="0">
                <a:solidFill>
                  <a:srgbClr val="EEF6F3"/>
                </a:solidFill>
                <a:latin typeface="Segoe UI" pitchFamily="34" charset="0"/>
                <a:ea typeface="Segoe UI" pitchFamily="34" charset="-122"/>
                <a:cs typeface="Segoe UI" pitchFamily="34" charset="-120"/>
              </a:rPr>
              <a:t> (venv) is a folder with its own Python and its own packages, one per project.</a:t>
            </a:r>
            <a:endParaRPr lang="en-US" sz="1720" dirty="0"/>
          </a:p>
        </p:txBody>
      </p:sp>
      <p:sp>
        <p:nvSpPr>
          <p:cNvPr id="11" name="Text 8"/>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2" name="Text 9"/>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6 / 32</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01</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Make a venv, switch it on, install packages</a:t>
            </a:r>
            <a:endParaRPr lang="en-US" sz="3000" dirty="0"/>
          </a:p>
        </p:txBody>
      </p:sp>
      <p:sp>
        <p:nvSpPr>
          <p:cNvPr id="6" name="Text 4"/>
          <p:cNvSpPr/>
          <p:nvPr/>
        </p:nvSpPr>
        <p:spPr>
          <a:xfrm>
            <a:off x="777240"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Windows</a:t>
            </a:r>
            <a:endParaRPr lang="en-US" sz="2100" dirty="0"/>
          </a:p>
        </p:txBody>
      </p:sp>
      <p:sp>
        <p:nvSpPr>
          <p:cNvPr id="7" name="Shape 5"/>
          <p:cNvSpPr/>
          <p:nvPr/>
        </p:nvSpPr>
        <p:spPr>
          <a:xfrm>
            <a:off x="777240" y="2091690"/>
            <a:ext cx="5135728" cy="1239012"/>
          </a:xfrm>
          <a:prstGeom prst="roundRect">
            <a:avLst>
              <a:gd name="adj" fmla="val 8856"/>
            </a:avLst>
          </a:prstGeom>
          <a:solidFill>
            <a:srgbClr val="13272B"/>
          </a:solidFill>
          <a:ln w="9525">
            <a:solidFill>
              <a:srgbClr val="24413F"/>
            </a:solidFill>
            <a:prstDash val="solid"/>
          </a:ln>
        </p:spPr>
      </p:sp>
      <p:sp>
        <p:nvSpPr>
          <p:cNvPr id="8" name="Text 6"/>
          <p:cNvSpPr/>
          <p:nvPr/>
        </p:nvSpPr>
        <p:spPr>
          <a:xfrm>
            <a:off x="960120" y="2201418"/>
            <a:ext cx="4769968" cy="105613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from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-3.12 -m venv .venv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.venv\Scripts\activate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pip install -r requirements.txt</a:t>
            </a:r>
            <a:endParaRPr lang="en-US" sz="1350" dirty="0"/>
          </a:p>
        </p:txBody>
      </p:sp>
      <p:sp>
        <p:nvSpPr>
          <p:cNvPr id="9" name="Text 7"/>
          <p:cNvSpPr/>
          <p:nvPr/>
        </p:nvSpPr>
        <p:spPr>
          <a:xfrm>
            <a:off x="6278728"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macOS / Linux</a:t>
            </a:r>
            <a:endParaRPr lang="en-US" sz="2100" dirty="0"/>
          </a:p>
        </p:txBody>
      </p:sp>
      <p:sp>
        <p:nvSpPr>
          <p:cNvPr id="10" name="Shape 8"/>
          <p:cNvSpPr/>
          <p:nvPr/>
        </p:nvSpPr>
        <p:spPr>
          <a:xfrm>
            <a:off x="6278728" y="2091690"/>
            <a:ext cx="5135728" cy="1239012"/>
          </a:xfrm>
          <a:prstGeom prst="roundRect">
            <a:avLst>
              <a:gd name="adj" fmla="val 8856"/>
            </a:avLst>
          </a:prstGeom>
          <a:solidFill>
            <a:srgbClr val="13272B"/>
          </a:solidFill>
          <a:ln w="9525">
            <a:solidFill>
              <a:srgbClr val="24413F"/>
            </a:solidFill>
            <a:prstDash val="solid"/>
          </a:ln>
        </p:spPr>
      </p:sp>
      <p:sp>
        <p:nvSpPr>
          <p:cNvPr id="11" name="Text 9"/>
          <p:cNvSpPr/>
          <p:nvPr/>
        </p:nvSpPr>
        <p:spPr>
          <a:xfrm>
            <a:off x="6461608" y="2201418"/>
            <a:ext cx="4769968" cy="105613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from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python3.12 -m venv .venv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source .venv/bin/activate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pip install -r requirements.txt</a:t>
            </a:r>
            <a:endParaRPr lang="en-US" sz="1350" dirty="0"/>
          </a:p>
        </p:txBody>
      </p:sp>
      <p:sp>
        <p:nvSpPr>
          <p:cNvPr id="12" name="Text 10"/>
          <p:cNvSpPr/>
          <p:nvPr/>
        </p:nvSpPr>
        <p:spPr>
          <a:xfrm>
            <a:off x="777240" y="3550158"/>
            <a:ext cx="10637215" cy="40538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Your prompt now starts with </a:t>
            </a:r>
            <a:pPr algn="l" indent="0" marL="0">
              <a:buNone/>
            </a:pPr>
            <a:r>
              <a:rPr lang="en-US" sz="1760" dirty="0">
                <a:solidFill>
                  <a:srgbClr val="D8FFF0"/>
                </a:solidFill>
                <a:latin typeface="Consolas" pitchFamily="34" charset="0"/>
                <a:ea typeface="Consolas" pitchFamily="34" charset="-122"/>
                <a:cs typeface="Consolas" pitchFamily="34" charset="-120"/>
              </a:rPr>
              <a:t>(.venv)</a:t>
            </a:r>
            <a:pPr algn="l" indent="0" marL="0">
              <a:buNone/>
            </a:pPr>
            <a:r>
              <a:rPr lang="en-US" sz="2000" dirty="0">
                <a:solidFill>
                  <a:srgbClr val="EEF6F3"/>
                </a:solidFill>
                <a:latin typeface="Segoe UI" pitchFamily="34" charset="0"/>
                <a:ea typeface="Segoe UI" pitchFamily="34" charset="-122"/>
                <a:cs typeface="Segoe UI" pitchFamily="34" charset="-120"/>
              </a:rPr>
              <a:t>. Activate again in every new terminal.</a:t>
            </a:r>
            <a:endParaRPr lang="en-US" sz="2000" dirty="0"/>
          </a:p>
        </p:txBody>
      </p:sp>
      <p:sp>
        <p:nvSpPr>
          <p:cNvPr id="13" name="Shape 11"/>
          <p:cNvSpPr/>
          <p:nvPr/>
        </p:nvSpPr>
        <p:spPr>
          <a:xfrm>
            <a:off x="777240" y="4083558"/>
            <a:ext cx="10637215" cy="1169822"/>
          </a:xfrm>
          <a:prstGeom prst="roundRect">
            <a:avLst>
              <a:gd name="adj" fmla="val 7817"/>
            </a:avLst>
          </a:prstGeom>
          <a:solidFill>
            <a:srgbClr val="112A45"/>
          </a:solidFill>
          <a:ln w="12700">
            <a:solidFill>
              <a:srgbClr val="112A45"/>
            </a:solidFill>
            <a:prstDash val="solid"/>
          </a:ln>
        </p:spPr>
      </p:sp>
      <p:sp>
        <p:nvSpPr>
          <p:cNvPr id="14" name="Shape 12"/>
          <p:cNvSpPr/>
          <p:nvPr/>
        </p:nvSpPr>
        <p:spPr>
          <a:xfrm>
            <a:off x="777240" y="4083558"/>
            <a:ext cx="82296" cy="1169822"/>
          </a:xfrm>
          <a:prstGeom prst="rect">
            <a:avLst/>
          </a:prstGeom>
          <a:solidFill>
            <a:srgbClr val="5AA2FF"/>
          </a:solidFill>
          <a:ln w="12700">
            <a:solidFill>
              <a:srgbClr val="5AA2FF"/>
            </a:solidFill>
            <a:prstDash val="solid"/>
          </a:ln>
        </p:spPr>
      </p:sp>
      <p:sp>
        <p:nvSpPr>
          <p:cNvPr id="15" name="Text 13"/>
          <p:cNvSpPr/>
          <p:nvPr/>
        </p:nvSpPr>
        <p:spPr>
          <a:xfrm>
            <a:off x="1051560" y="4193286"/>
            <a:ext cx="10225735" cy="237744"/>
          </a:xfrm>
          <a:prstGeom prst="rect">
            <a:avLst/>
          </a:prstGeom>
          <a:noFill/>
          <a:ln/>
        </p:spPr>
        <p:txBody>
          <a:bodyPr wrap="square" lIns="0" tIns="0" rIns="0" bIns="0" rtlCol="0" anchor="t"/>
          <a:lstStyle/>
          <a:p>
            <a:pPr indent="0" marL="0">
              <a:buNone/>
            </a:pPr>
            <a:r>
              <a:rPr lang="en-US" sz="1050" b="1" spc="300" kern="0" dirty="0">
                <a:solidFill>
                  <a:srgbClr val="5AA2FF"/>
                </a:solidFill>
                <a:latin typeface="Segoe UI" pitchFamily="34" charset="0"/>
                <a:ea typeface="Segoe UI" pitchFamily="34" charset="-122"/>
                <a:cs typeface="Segoe UI" pitchFamily="34" charset="-120"/>
              </a:rPr>
              <a:t>GOOD TO KNOW</a:t>
            </a:r>
            <a:endParaRPr lang="en-US" sz="1050" dirty="0"/>
          </a:p>
        </p:txBody>
      </p:sp>
      <p:sp>
        <p:nvSpPr>
          <p:cNvPr id="16" name="Text 14"/>
          <p:cNvSpPr/>
          <p:nvPr/>
        </p:nvSpPr>
        <p:spPr>
          <a:xfrm>
            <a:off x="1051560" y="4431030"/>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PowerShell says "running scripts is disabled"? Run this once: </a:t>
            </a:r>
            <a:pPr algn="l" indent="0" marL="0">
              <a:buNone/>
            </a:pPr>
            <a:r>
              <a:rPr lang="en-US" sz="1510" dirty="0">
                <a:solidFill>
                  <a:srgbClr val="D8FFF0"/>
                </a:solidFill>
                <a:latin typeface="Consolas" pitchFamily="34" charset="0"/>
                <a:ea typeface="Consolas" pitchFamily="34" charset="-122"/>
                <a:cs typeface="Consolas" pitchFamily="34" charset="-120"/>
              </a:rPr>
              <a:t>Set-ExecutionPolicy -Scope CurrentUser RemoteSigned</a:t>
            </a:r>
            <a:endParaRPr lang="en-US" sz="1720" dirty="0"/>
          </a:p>
        </p:txBody>
      </p:sp>
      <p:sp>
        <p:nvSpPr>
          <p:cNvPr id="17" name="Text 15"/>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8" name="Text 16"/>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7 / 32</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FFC53D"/>
          </a:solidFill>
          <a:ln w="12700">
            <a:solidFill>
              <a:srgbClr val="FFC53D"/>
            </a:solidFill>
            <a:prstDash val="solid"/>
          </a:ln>
        </p:spPr>
      </p:sp>
      <p:sp>
        <p:nvSpPr>
          <p:cNvPr id="5" name="Text 3"/>
          <p:cNvSpPr/>
          <p:nvPr/>
        </p:nvSpPr>
        <p:spPr>
          <a:xfrm>
            <a:off x="10408615" y="411480"/>
            <a:ext cx="1005840" cy="329184"/>
          </a:xfrm>
          <a:prstGeom prst="roundRect">
            <a:avLst>
              <a:gd name="adj" fmla="val 22222"/>
            </a:avLst>
          </a:prstGeom>
          <a:solidFill>
            <a:srgbClr val="FFC53D"/>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LAB</a:t>
            </a:r>
            <a:endParaRPr lang="en-US" sz="1200" dirty="0"/>
          </a:p>
        </p:txBody>
      </p:sp>
      <p:sp>
        <p:nvSpPr>
          <p:cNvPr id="6" name="Text 4"/>
          <p:cNvSpPr/>
          <p:nvPr/>
        </p:nvSpPr>
        <p:spPr>
          <a:xfrm>
            <a:off x="777240" y="457200"/>
            <a:ext cx="1179576" cy="274320"/>
          </a:xfrm>
          <a:prstGeom prst="roundRect">
            <a:avLst>
              <a:gd name="adj" fmla="val 50000"/>
            </a:avLst>
          </a:prstGeom>
          <a:solidFill>
            <a:srgbClr val="FFC53D"/>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TRY IT</a:t>
            </a:r>
            <a:endParaRPr lang="en-US" sz="1100" dirty="0"/>
          </a:p>
        </p:txBody>
      </p:sp>
      <p:sp>
        <p:nvSpPr>
          <p:cNvPr id="7" name="Text 5"/>
          <p:cNvSpPr/>
          <p:nvPr/>
        </p:nvSpPr>
        <p:spPr>
          <a:xfrm>
            <a:off x="777240" y="841248"/>
            <a:ext cx="944849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Which Python is running?</a:t>
            </a:r>
            <a:endParaRPr lang="en-US" sz="3000" dirty="0"/>
          </a:p>
        </p:txBody>
      </p:sp>
      <p:sp>
        <p:nvSpPr>
          <p:cNvPr id="8" name="Shape 6"/>
          <p:cNvSpPr/>
          <p:nvPr/>
        </p:nvSpPr>
        <p:spPr>
          <a:xfrm>
            <a:off x="777240" y="1577340"/>
            <a:ext cx="10637215" cy="2895219"/>
          </a:xfrm>
          <a:prstGeom prst="roundRect">
            <a:avLst>
              <a:gd name="adj" fmla="val 3790"/>
            </a:avLst>
          </a:prstGeom>
          <a:solidFill>
            <a:srgbClr val="13272B"/>
          </a:solidFill>
          <a:ln w="9525">
            <a:solidFill>
              <a:srgbClr val="24413F"/>
            </a:solidFill>
            <a:prstDash val="solid"/>
          </a:ln>
        </p:spPr>
      </p:sp>
      <p:sp>
        <p:nvSpPr>
          <p:cNvPr id="9" name="Text 7"/>
          <p:cNvSpPr/>
          <p:nvPr/>
        </p:nvSpPr>
        <p:spPr>
          <a:xfrm>
            <a:off x="960120" y="1687068"/>
            <a:ext cx="10271455" cy="2712339"/>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code\where_am_i.py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Python version : 3.12.7</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Running from   : C:\...\prep-kit\.venv\Scripts\python.exe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Virtual env    : YES  (C:\...\prep-kit\.venv)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Packages the prep kit needs: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openai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httpx</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dotenv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tiktoken</a:t>
            </a:r>
            <a:endParaRPr lang="en-US" sz="1350" dirty="0"/>
          </a:p>
        </p:txBody>
      </p:sp>
      <p:sp>
        <p:nvSpPr>
          <p:cNvPr id="10" name="Text 8"/>
          <p:cNvSpPr/>
          <p:nvPr/>
        </p:nvSpPr>
        <p:spPr>
          <a:xfrm>
            <a:off x="777240" y="4600575"/>
            <a:ext cx="10637215" cy="75590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Now open a second terminal, </a:t>
            </a:r>
            <a:pPr algn="l" indent="0" marL="0">
              <a:buNone/>
            </a:pPr>
            <a:r>
              <a:rPr lang="en-US" sz="2000" b="1" dirty="0">
                <a:solidFill>
                  <a:srgbClr val="FFFFFF"/>
                </a:solidFill>
                <a:latin typeface="Segoe UI" pitchFamily="34" charset="0"/>
                <a:ea typeface="Segoe UI" pitchFamily="34" charset="-122"/>
                <a:cs typeface="Segoe UI" pitchFamily="34" charset="-120"/>
              </a:rPr>
              <a:t>don't</a:t>
            </a:r>
            <a:pPr algn="l" indent="0" marL="0">
              <a:buNone/>
            </a:pPr>
            <a:r>
              <a:rPr lang="en-US" sz="2000" dirty="0">
                <a:solidFill>
                  <a:srgbClr val="EEF6F3"/>
                </a:solidFill>
                <a:latin typeface="Segoe UI" pitchFamily="34" charset="0"/>
                <a:ea typeface="Segoe UI" pitchFamily="34" charset="-122"/>
                <a:cs typeface="Segoe UI" pitchFamily="34" charset="-120"/>
              </a:rPr>
              <a:t> activate, and run it again. Different Python, missing packages. That difference is the whole point.</a:t>
            </a:r>
            <a:endParaRPr lang="en-US" sz="2000" dirty="0"/>
          </a:p>
        </p:txBody>
      </p:sp>
      <p:sp>
        <p:nvSpPr>
          <p:cNvPr id="11" name="Text 9"/>
          <p:cNvSpPr/>
          <p:nvPr/>
        </p:nvSpPr>
        <p:spPr>
          <a:xfrm>
            <a:off x="777240" y="5484495"/>
            <a:ext cx="10637215" cy="650748"/>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macOS / Linux, with the venv active: </a:t>
            </a:r>
            <a:pPr algn="l" indent="0" marL="0">
              <a:buNone/>
            </a:pPr>
            <a:r>
              <a:rPr lang="en-US" sz="1500" dirty="0">
                <a:solidFill>
                  <a:srgbClr val="D8FFF0"/>
                </a:solidFill>
                <a:latin typeface="Consolas" pitchFamily="34" charset="0"/>
                <a:ea typeface="Consolas" pitchFamily="34" charset="-122"/>
                <a:cs typeface="Consolas" pitchFamily="34" charset="-120"/>
              </a:rPr>
              <a:t>python code/where_am_i.py</a:t>
            </a:r>
            <a:pPr algn="l" indent="0" marL="0">
              <a:buNone/>
            </a:pPr>
            <a:r>
              <a:rPr lang="en-US" sz="1700" dirty="0">
                <a:solidFill>
                  <a:srgbClr val="9DB5B1"/>
                </a:solidFill>
                <a:latin typeface="Segoe UI" pitchFamily="34" charset="0"/>
                <a:ea typeface="Segoe UI" pitchFamily="34" charset="-122"/>
                <a:cs typeface="Segoe UI" pitchFamily="34" charset="-120"/>
              </a:rPr>
              <a:t>. The same goes for every </a:t>
            </a:r>
            <a:pPr algn="l" indent="0" marL="0">
              <a:buNone/>
            </a:pPr>
            <a:r>
              <a:rPr lang="en-US" sz="1500" dirty="0">
                <a:solidFill>
                  <a:srgbClr val="D8FFF0"/>
                </a:solidFill>
                <a:latin typeface="Consolas" pitchFamily="34" charset="0"/>
                <a:ea typeface="Consolas" pitchFamily="34" charset="-122"/>
                <a:cs typeface="Consolas" pitchFamily="34" charset="-120"/>
              </a:rPr>
              <a:t>py code\…</a:t>
            </a:r>
            <a:pPr algn="l" indent="0" marL="0">
              <a:buNone/>
            </a:pPr>
            <a:r>
              <a:rPr lang="en-US" sz="1700" dirty="0">
                <a:solidFill>
                  <a:srgbClr val="9DB5B1"/>
                </a:solidFill>
                <a:latin typeface="Segoe UI" pitchFamily="34" charset="0"/>
                <a:ea typeface="Segoe UI" pitchFamily="34" charset="-122"/>
                <a:cs typeface="Segoe UI" pitchFamily="34" charset="-120"/>
              </a:rPr>
              <a:t> command in this deck.</a:t>
            </a:r>
            <a:endParaRPr lang="en-US" sz="1700" dirty="0"/>
          </a:p>
        </p:txBody>
      </p:sp>
      <p:sp>
        <p:nvSpPr>
          <p:cNvPr id="12" name="Text 10"/>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3" name="Text 11"/>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8 / 32</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02</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An API call is a request and a response</a:t>
            </a:r>
            <a:endParaRPr lang="en-US" sz="30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5952" y="1577340"/>
            <a:ext cx="10139791" cy="2764528"/>
          </a:xfrm>
          <a:prstGeom prst="rect">
            <a:avLst/>
          </a:prstGeom>
        </p:spPr>
      </p:pic>
      <p:sp>
        <p:nvSpPr>
          <p:cNvPr id="7" name="Text 4"/>
          <p:cNvSpPr/>
          <p:nvPr/>
        </p:nvSpPr>
        <p:spPr>
          <a:xfrm>
            <a:off x="777240" y="4561324"/>
            <a:ext cx="10637215" cy="650748"/>
          </a:xfrm>
          <a:prstGeom prst="rect">
            <a:avLst/>
          </a:prstGeom>
          <a:noFill/>
          <a:ln/>
        </p:spPr>
        <p:txBody>
          <a:bodyPr wrap="square" lIns="0" tIns="0" rIns="0" bIns="0" rtlCol="0" anchor="t"/>
          <a:lstStyle/>
          <a:p>
            <a:pPr algn="l" indent="0" marL="0">
              <a:buNone/>
            </a:pPr>
            <a:r>
              <a:rPr lang="en-US" sz="1500" dirty="0">
                <a:solidFill>
                  <a:srgbClr val="D8FFF0"/>
                </a:solidFill>
                <a:latin typeface="Consolas" pitchFamily="34" charset="0"/>
                <a:ea typeface="Consolas" pitchFamily="34" charset="-122"/>
                <a:cs typeface="Consolas" pitchFamily="34" charset="-120"/>
              </a:rPr>
              <a:t>GET</a:t>
            </a:r>
            <a:pPr algn="l" indent="0" marL="0">
              <a:buNone/>
            </a:pPr>
            <a:r>
              <a:rPr lang="en-US" sz="1700" dirty="0">
                <a:solidFill>
                  <a:srgbClr val="EEF6F3"/>
                </a:solidFill>
                <a:latin typeface="Segoe UI" pitchFamily="34" charset="0"/>
                <a:ea typeface="Segoe UI" pitchFamily="34" charset="-122"/>
                <a:cs typeface="Segoe UI" pitchFamily="34" charset="-120"/>
              </a:rPr>
              <a:t> reads something. </a:t>
            </a:r>
            <a:pPr algn="l" indent="0" marL="0">
              <a:buNone/>
            </a:pPr>
            <a:r>
              <a:rPr lang="en-US" sz="1500" dirty="0">
                <a:solidFill>
                  <a:srgbClr val="D8FFF0"/>
                </a:solidFill>
                <a:latin typeface="Consolas" pitchFamily="34" charset="0"/>
                <a:ea typeface="Consolas" pitchFamily="34" charset="-122"/>
                <a:cs typeface="Consolas" pitchFamily="34" charset="-120"/>
              </a:rPr>
              <a:t>POST</a:t>
            </a:r>
            <a:pPr algn="l" indent="0" marL="0">
              <a:buNone/>
            </a:pPr>
            <a:r>
              <a:rPr lang="en-US" sz="1700" dirty="0">
                <a:solidFill>
                  <a:srgbClr val="EEF6F3"/>
                </a:solidFill>
                <a:latin typeface="Segoe UI" pitchFamily="34" charset="0"/>
                <a:ea typeface="Segoe UI" pitchFamily="34" charset="-122"/>
                <a:cs typeface="Segoe UI" pitchFamily="34" charset="-120"/>
              </a:rPr>
              <a:t> creates or changes something. </a:t>
            </a:r>
            <a:pPr algn="l" indent="0" marL="0">
              <a:buNone/>
            </a:pPr>
            <a:r>
              <a:rPr lang="en-US" sz="1700" b="1" dirty="0">
                <a:solidFill>
                  <a:srgbClr val="FFFFFF"/>
                </a:solidFill>
                <a:latin typeface="Segoe UI" pitchFamily="34" charset="0"/>
                <a:ea typeface="Segoe UI" pitchFamily="34" charset="-122"/>
                <a:cs typeface="Segoe UI" pitchFamily="34" charset="-120"/>
              </a:rPr>
              <a:t>JSON</a:t>
            </a:r>
            <a:pPr algn="l" indent="0" marL="0">
              <a:buNone/>
            </a:pPr>
            <a:r>
              <a:rPr lang="en-US" sz="1700" dirty="0">
                <a:solidFill>
                  <a:srgbClr val="EEF6F3"/>
                </a:solidFill>
                <a:latin typeface="Segoe UI" pitchFamily="34" charset="0"/>
                <a:ea typeface="Segoe UI" pitchFamily="34" charset="-122"/>
                <a:cs typeface="Segoe UI" pitchFamily="34" charset="-120"/>
              </a:rPr>
              <a:t> is text that looks like a Python dict.</a:t>
            </a:r>
            <a:endParaRPr lang="en-US" sz="1700" dirty="0"/>
          </a:p>
        </p:txBody>
      </p:sp>
      <p:sp>
        <p:nvSpPr>
          <p:cNvPr id="8" name="Text 5"/>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9" name="Text 6"/>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9 / 32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02</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Four status codes you'll actually see</a:t>
            </a:r>
            <a:endParaRPr lang="en-US" sz="3000" dirty="0"/>
          </a:p>
        </p:txBody>
      </p:sp>
      <p:sp>
        <p:nvSpPr>
          <p:cNvPr id="6" name="Shape 4"/>
          <p:cNvSpPr/>
          <p:nvPr/>
        </p:nvSpPr>
        <p:spPr>
          <a:xfrm>
            <a:off x="777240" y="1577340"/>
            <a:ext cx="2487854" cy="1675295"/>
          </a:xfrm>
          <a:prstGeom prst="roundRect">
            <a:avLst>
              <a:gd name="adj" fmla="val 5458"/>
            </a:avLst>
          </a:prstGeom>
          <a:solidFill>
            <a:srgbClr val="13272B"/>
          </a:solidFill>
          <a:ln w="12700">
            <a:solidFill>
              <a:srgbClr val="13272B"/>
            </a:solidFill>
            <a:prstDash val="solid"/>
          </a:ln>
        </p:spPr>
      </p:sp>
      <p:sp>
        <p:nvSpPr>
          <p:cNvPr id="7" name="Shape 5"/>
          <p:cNvSpPr/>
          <p:nvPr/>
        </p:nvSpPr>
        <p:spPr>
          <a:xfrm>
            <a:off x="777240" y="1577340"/>
            <a:ext cx="2487854" cy="64008"/>
          </a:xfrm>
          <a:prstGeom prst="rect">
            <a:avLst/>
          </a:prstGeom>
          <a:solidFill>
            <a:srgbClr val="B4F05A"/>
          </a:solidFill>
          <a:ln w="12700">
            <a:solidFill>
              <a:srgbClr val="B4F05A"/>
            </a:solidFill>
            <a:prstDash val="solid"/>
          </a:ln>
        </p:spPr>
      </p:sp>
      <p:sp>
        <p:nvSpPr>
          <p:cNvPr id="8" name="Text 6"/>
          <p:cNvSpPr/>
          <p:nvPr/>
        </p:nvSpPr>
        <p:spPr>
          <a:xfrm>
            <a:off x="905256" y="1769364"/>
            <a:ext cx="2231822" cy="367703"/>
          </a:xfrm>
          <a:prstGeom prst="rect">
            <a:avLst/>
          </a:prstGeom>
          <a:noFill/>
          <a:ln/>
        </p:spPr>
        <p:txBody>
          <a:bodyPr wrap="square" lIns="0" tIns="0" rIns="0" bIns="0" rtlCol="0" anchor="t"/>
          <a:lstStyle/>
          <a:p>
            <a:pPr algn="l" indent="0" marL="0">
              <a:buNone/>
            </a:pPr>
            <a:r>
              <a:rPr lang="en-US" sz="1785" b="1" dirty="0">
                <a:solidFill>
                  <a:srgbClr val="B4F05A"/>
                </a:solidFill>
                <a:latin typeface="Segoe UI" pitchFamily="34" charset="0"/>
                <a:ea typeface="Segoe UI" pitchFamily="34" charset="-122"/>
                <a:cs typeface="Segoe UI" pitchFamily="34" charset="-120"/>
              </a:rPr>
              <a:t>200 OK</a:t>
            </a:r>
            <a:endParaRPr lang="en-US" sz="1785" dirty="0"/>
          </a:p>
        </p:txBody>
      </p:sp>
      <p:sp>
        <p:nvSpPr>
          <p:cNvPr id="9" name="Text 7"/>
          <p:cNvSpPr/>
          <p:nvPr/>
        </p:nvSpPr>
        <p:spPr>
          <a:xfrm>
            <a:off x="905256" y="2173643"/>
            <a:ext cx="2231822"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Here's what you asked for.</a:t>
            </a:r>
            <a:endParaRPr lang="en-US" sz="1600" dirty="0"/>
          </a:p>
        </p:txBody>
      </p:sp>
      <p:sp>
        <p:nvSpPr>
          <p:cNvPr id="10" name="Shape 8"/>
          <p:cNvSpPr/>
          <p:nvPr/>
        </p:nvSpPr>
        <p:spPr>
          <a:xfrm>
            <a:off x="3493694" y="1577340"/>
            <a:ext cx="2487854" cy="1675295"/>
          </a:xfrm>
          <a:prstGeom prst="roundRect">
            <a:avLst>
              <a:gd name="adj" fmla="val 5458"/>
            </a:avLst>
          </a:prstGeom>
          <a:solidFill>
            <a:srgbClr val="13272B"/>
          </a:solidFill>
          <a:ln w="12700">
            <a:solidFill>
              <a:srgbClr val="13272B"/>
            </a:solidFill>
            <a:prstDash val="solid"/>
          </a:ln>
        </p:spPr>
      </p:sp>
      <p:sp>
        <p:nvSpPr>
          <p:cNvPr id="11" name="Shape 9"/>
          <p:cNvSpPr/>
          <p:nvPr/>
        </p:nvSpPr>
        <p:spPr>
          <a:xfrm>
            <a:off x="3493694" y="1577340"/>
            <a:ext cx="2487854" cy="64008"/>
          </a:xfrm>
          <a:prstGeom prst="rect">
            <a:avLst/>
          </a:prstGeom>
          <a:solidFill>
            <a:srgbClr val="5AA2FF"/>
          </a:solidFill>
          <a:ln w="12700">
            <a:solidFill>
              <a:srgbClr val="5AA2FF"/>
            </a:solidFill>
            <a:prstDash val="solid"/>
          </a:ln>
        </p:spPr>
      </p:sp>
      <p:sp>
        <p:nvSpPr>
          <p:cNvPr id="12" name="Text 10"/>
          <p:cNvSpPr/>
          <p:nvPr/>
        </p:nvSpPr>
        <p:spPr>
          <a:xfrm>
            <a:off x="3621710" y="1769364"/>
            <a:ext cx="2231822"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404 Not found</a:t>
            </a:r>
            <a:endParaRPr lang="en-US" sz="1785" dirty="0"/>
          </a:p>
        </p:txBody>
      </p:sp>
      <p:sp>
        <p:nvSpPr>
          <p:cNvPr id="13" name="Text 11"/>
          <p:cNvSpPr/>
          <p:nvPr/>
        </p:nvSpPr>
        <p:spPr>
          <a:xfrm>
            <a:off x="3621710"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I understood you, but that thing doesn't exist.</a:t>
            </a:r>
            <a:endParaRPr lang="en-US" sz="1600" dirty="0"/>
          </a:p>
        </p:txBody>
      </p:sp>
      <p:sp>
        <p:nvSpPr>
          <p:cNvPr id="14" name="Shape 12"/>
          <p:cNvSpPr/>
          <p:nvPr/>
        </p:nvSpPr>
        <p:spPr>
          <a:xfrm>
            <a:off x="6210148" y="1577340"/>
            <a:ext cx="2487854" cy="1675295"/>
          </a:xfrm>
          <a:prstGeom prst="roundRect">
            <a:avLst>
              <a:gd name="adj" fmla="val 5458"/>
            </a:avLst>
          </a:prstGeom>
          <a:solidFill>
            <a:srgbClr val="13272B"/>
          </a:solidFill>
          <a:ln w="12700">
            <a:solidFill>
              <a:srgbClr val="13272B"/>
            </a:solidFill>
            <a:prstDash val="solid"/>
          </a:ln>
        </p:spPr>
      </p:sp>
      <p:sp>
        <p:nvSpPr>
          <p:cNvPr id="15" name="Shape 13"/>
          <p:cNvSpPr/>
          <p:nvPr/>
        </p:nvSpPr>
        <p:spPr>
          <a:xfrm>
            <a:off x="6210148" y="1577340"/>
            <a:ext cx="2487854" cy="64008"/>
          </a:xfrm>
          <a:prstGeom prst="rect">
            <a:avLst/>
          </a:prstGeom>
          <a:solidFill>
            <a:srgbClr val="FFC53D"/>
          </a:solidFill>
          <a:ln w="12700">
            <a:solidFill>
              <a:srgbClr val="FFC53D"/>
            </a:solidFill>
            <a:prstDash val="solid"/>
          </a:ln>
        </p:spPr>
      </p:sp>
      <p:sp>
        <p:nvSpPr>
          <p:cNvPr id="16" name="Text 14"/>
          <p:cNvSpPr/>
          <p:nvPr/>
        </p:nvSpPr>
        <p:spPr>
          <a:xfrm>
            <a:off x="6338164" y="1769364"/>
            <a:ext cx="2231822"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429 Too many</a:t>
            </a:r>
            <a:endParaRPr lang="en-US" sz="1785" dirty="0"/>
          </a:p>
        </p:txBody>
      </p:sp>
      <p:sp>
        <p:nvSpPr>
          <p:cNvPr id="17" name="Text 15"/>
          <p:cNvSpPr/>
          <p:nvPr/>
        </p:nvSpPr>
        <p:spPr>
          <a:xfrm>
            <a:off x="6338164"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Slow down. You'll meet this on free LLM tiers.</a:t>
            </a:r>
            <a:endParaRPr lang="en-US" sz="1600" dirty="0"/>
          </a:p>
        </p:txBody>
      </p:sp>
      <p:sp>
        <p:nvSpPr>
          <p:cNvPr id="18" name="Shape 16"/>
          <p:cNvSpPr/>
          <p:nvPr/>
        </p:nvSpPr>
        <p:spPr>
          <a:xfrm>
            <a:off x="8926601" y="1577340"/>
            <a:ext cx="2487854" cy="1675295"/>
          </a:xfrm>
          <a:prstGeom prst="roundRect">
            <a:avLst>
              <a:gd name="adj" fmla="val 5458"/>
            </a:avLst>
          </a:prstGeom>
          <a:solidFill>
            <a:srgbClr val="13272B"/>
          </a:solidFill>
          <a:ln w="12700">
            <a:solidFill>
              <a:srgbClr val="13272B"/>
            </a:solidFill>
            <a:prstDash val="solid"/>
          </a:ln>
        </p:spPr>
      </p:sp>
      <p:sp>
        <p:nvSpPr>
          <p:cNvPr id="19" name="Shape 17"/>
          <p:cNvSpPr/>
          <p:nvPr/>
        </p:nvSpPr>
        <p:spPr>
          <a:xfrm>
            <a:off x="8926601" y="1577340"/>
            <a:ext cx="2487854" cy="64008"/>
          </a:xfrm>
          <a:prstGeom prst="rect">
            <a:avLst/>
          </a:prstGeom>
          <a:solidFill>
            <a:srgbClr val="FF7A7A"/>
          </a:solidFill>
          <a:ln w="12700">
            <a:solidFill>
              <a:srgbClr val="FF7A7A"/>
            </a:solidFill>
            <a:prstDash val="solid"/>
          </a:ln>
        </p:spPr>
      </p:sp>
      <p:sp>
        <p:nvSpPr>
          <p:cNvPr id="20" name="Text 18"/>
          <p:cNvSpPr/>
          <p:nvPr/>
        </p:nvSpPr>
        <p:spPr>
          <a:xfrm>
            <a:off x="9054617" y="1769364"/>
            <a:ext cx="2231822" cy="367703"/>
          </a:xfrm>
          <a:prstGeom prst="rect">
            <a:avLst/>
          </a:prstGeom>
          <a:noFill/>
          <a:ln/>
        </p:spPr>
        <p:txBody>
          <a:bodyPr wrap="square" lIns="0" tIns="0" rIns="0" bIns="0" rtlCol="0" anchor="t"/>
          <a:lstStyle/>
          <a:p>
            <a:pPr algn="l" indent="0" marL="0">
              <a:buNone/>
            </a:pPr>
            <a:r>
              <a:rPr lang="en-US" sz="1785" b="1" dirty="0">
                <a:solidFill>
                  <a:srgbClr val="FF7A7A"/>
                </a:solidFill>
                <a:latin typeface="Segoe UI" pitchFamily="34" charset="0"/>
                <a:ea typeface="Segoe UI" pitchFamily="34" charset="-122"/>
                <a:cs typeface="Segoe UI" pitchFamily="34" charset="-120"/>
              </a:rPr>
              <a:t>500 Server error</a:t>
            </a:r>
            <a:endParaRPr lang="en-US" sz="1785" dirty="0"/>
          </a:p>
        </p:txBody>
      </p:sp>
      <p:sp>
        <p:nvSpPr>
          <p:cNvPr id="21" name="Text 19"/>
          <p:cNvSpPr/>
          <p:nvPr/>
        </p:nvSpPr>
        <p:spPr>
          <a:xfrm>
            <a:off x="9054617" y="2173643"/>
            <a:ext cx="2231822"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Something broke on my side, not yours.</a:t>
            </a:r>
            <a:endParaRPr lang="en-US" sz="1600" dirty="0"/>
          </a:p>
        </p:txBody>
      </p:sp>
      <p:sp>
        <p:nvSpPr>
          <p:cNvPr id="22" name="Shape 20"/>
          <p:cNvSpPr/>
          <p:nvPr/>
        </p:nvSpPr>
        <p:spPr>
          <a:xfrm>
            <a:off x="777240" y="3380651"/>
            <a:ext cx="10637215" cy="1169822"/>
          </a:xfrm>
          <a:prstGeom prst="roundRect">
            <a:avLst>
              <a:gd name="adj" fmla="val 7817"/>
            </a:avLst>
          </a:prstGeom>
          <a:solidFill>
            <a:srgbClr val="0D3029"/>
          </a:solidFill>
          <a:ln w="12700">
            <a:solidFill>
              <a:srgbClr val="0D3029"/>
            </a:solidFill>
            <a:prstDash val="solid"/>
          </a:ln>
        </p:spPr>
      </p:sp>
      <p:sp>
        <p:nvSpPr>
          <p:cNvPr id="23" name="Shape 21"/>
          <p:cNvSpPr/>
          <p:nvPr/>
        </p:nvSpPr>
        <p:spPr>
          <a:xfrm>
            <a:off x="777240" y="3380651"/>
            <a:ext cx="82296" cy="1169822"/>
          </a:xfrm>
          <a:prstGeom prst="rect">
            <a:avLst/>
          </a:prstGeom>
          <a:solidFill>
            <a:srgbClr val="01D294"/>
          </a:solidFill>
          <a:ln w="12700">
            <a:solidFill>
              <a:srgbClr val="01D294"/>
            </a:solidFill>
            <a:prstDash val="solid"/>
          </a:ln>
        </p:spPr>
      </p:sp>
      <p:sp>
        <p:nvSpPr>
          <p:cNvPr id="24" name="Text 22"/>
          <p:cNvSpPr/>
          <p:nvPr/>
        </p:nvSpPr>
        <p:spPr>
          <a:xfrm>
            <a:off x="1051560" y="3490379"/>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25" name="Text 23"/>
          <p:cNvSpPr/>
          <p:nvPr/>
        </p:nvSpPr>
        <p:spPr>
          <a:xfrm>
            <a:off x="1051560" y="3728123"/>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 404 is not a crash. The server answered fine; it's telling you something. Good code reads the status and decides what to do.</a:t>
            </a:r>
            <a:endParaRPr lang="en-US" sz="1720" dirty="0"/>
          </a:p>
        </p:txBody>
      </p:sp>
      <p:sp>
        <p:nvSpPr>
          <p:cNvPr id="26" name="Text 24"/>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27" name="Text 25"/>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10 / 32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FFC53D"/>
          </a:solidFill>
          <a:ln w="12700">
            <a:solidFill>
              <a:srgbClr val="FFC53D"/>
            </a:solidFill>
            <a:prstDash val="solid"/>
          </a:ln>
        </p:spPr>
      </p:sp>
      <p:sp>
        <p:nvSpPr>
          <p:cNvPr id="5" name="Text 3"/>
          <p:cNvSpPr/>
          <p:nvPr/>
        </p:nvSpPr>
        <p:spPr>
          <a:xfrm>
            <a:off x="10408615" y="411480"/>
            <a:ext cx="1005840" cy="329184"/>
          </a:xfrm>
          <a:prstGeom prst="roundRect">
            <a:avLst>
              <a:gd name="adj" fmla="val 22222"/>
            </a:avLst>
          </a:prstGeom>
          <a:solidFill>
            <a:srgbClr val="FFC53D"/>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LAB</a:t>
            </a:r>
            <a:endParaRPr lang="en-US" sz="1200" dirty="0"/>
          </a:p>
        </p:txBody>
      </p:sp>
      <p:sp>
        <p:nvSpPr>
          <p:cNvPr id="6" name="Text 4"/>
          <p:cNvSpPr/>
          <p:nvPr/>
        </p:nvSpPr>
        <p:spPr>
          <a:xfrm>
            <a:off x="777240" y="457200"/>
            <a:ext cx="1179576" cy="274320"/>
          </a:xfrm>
          <a:prstGeom prst="roundRect">
            <a:avLst>
              <a:gd name="adj" fmla="val 50000"/>
            </a:avLst>
          </a:prstGeom>
          <a:solidFill>
            <a:srgbClr val="FFC53D"/>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TRY IT</a:t>
            </a:r>
            <a:endParaRPr lang="en-US" sz="1100" dirty="0"/>
          </a:p>
        </p:txBody>
      </p:sp>
      <p:sp>
        <p:nvSpPr>
          <p:cNvPr id="7" name="Text 5"/>
          <p:cNvSpPr/>
          <p:nvPr/>
        </p:nvSpPr>
        <p:spPr>
          <a:xfrm>
            <a:off x="777240" y="841248"/>
            <a:ext cx="944849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real API, running on your laptop</a:t>
            </a:r>
            <a:endParaRPr lang="en-US" sz="3000" dirty="0"/>
          </a:p>
        </p:txBody>
      </p:sp>
      <p:sp>
        <p:nvSpPr>
          <p:cNvPr id="8" name="Shape 6"/>
          <p:cNvSpPr/>
          <p:nvPr/>
        </p:nvSpPr>
        <p:spPr>
          <a:xfrm>
            <a:off x="777240" y="1577340"/>
            <a:ext cx="10637215" cy="1475613"/>
          </a:xfrm>
          <a:prstGeom prst="roundRect">
            <a:avLst>
              <a:gd name="adj" fmla="val 7436"/>
            </a:avLst>
          </a:prstGeom>
          <a:solidFill>
            <a:srgbClr val="13272B"/>
          </a:solidFill>
          <a:ln w="9525">
            <a:solidFill>
              <a:srgbClr val="24413F"/>
            </a:solidFill>
            <a:prstDash val="solid"/>
          </a:ln>
        </p:spPr>
      </p:sp>
      <p:sp>
        <p:nvSpPr>
          <p:cNvPr id="9" name="Text 7"/>
          <p:cNvSpPr/>
          <p:nvPr/>
        </p:nvSpPr>
        <p:spPr>
          <a:xfrm>
            <a:off x="960120" y="1687068"/>
            <a:ext cx="10271455" cy="1292733"/>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terminal 1, from prep-kit/ (leave it running)</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uvicorn app:app --app-dir mock_api --port 9000</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terminal 2, from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code\hello_api.py</a:t>
            </a:r>
            <a:endParaRPr lang="en-US" sz="1350" dirty="0"/>
          </a:p>
        </p:txBody>
      </p:sp>
      <p:sp>
        <p:nvSpPr>
          <p:cNvPr id="10" name="Text 8"/>
          <p:cNvSpPr/>
          <p:nvPr/>
        </p:nvSpPr>
        <p:spPr>
          <a:xfrm>
            <a:off x="777240" y="3180969"/>
            <a:ext cx="10637215" cy="1225296"/>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Open </a:t>
            </a:r>
            <a:pPr indent="0" marL="0">
              <a:buNone/>
            </a:pPr>
            <a:r>
              <a:rPr lang="en-US" sz="2000" dirty="0">
                <a:solidFill>
                  <a:srgbClr val="D8FFF0"/>
                </a:solidFill>
                <a:latin typeface="Consolas" pitchFamily="34" charset="0"/>
                <a:ea typeface="Consolas" pitchFamily="34" charset="-122"/>
                <a:cs typeface="Consolas" pitchFamily="34" charset="-120"/>
              </a:rPr>
              <a:t>http://localhost:9000/docs</a:t>
            </a:r>
            <a:pPr indent="0" marL="0">
              <a:buNone/>
            </a:pPr>
            <a:r>
              <a:rPr lang="en-US" sz="2000" dirty="0">
                <a:solidFill>
                  <a:srgbClr val="EEF6F3"/>
                </a:solidFill>
                <a:latin typeface="Segoe UI" pitchFamily="34" charset="0"/>
                <a:ea typeface="Segoe UI" pitchFamily="34" charset="-122"/>
                <a:cs typeface="Segoe UI" pitchFamily="34" charset="-120"/>
              </a:rPr>
              <a:t>: every endpoint, with a "Try it out" button.</a:t>
            </a:r>
            <a:endParaRPr lang="en-US" sz="2000" dirty="0"/>
          </a:p>
          <a:p>
            <a:pPr marL="279400" indent="-279400">
              <a:spcAft>
                <a:spcPts val="500"/>
              </a:spcAft>
              <a:buSzPct val="100000"/>
              <a:buFont typeface="+mj-lt"/>
              <a:buAutoNum type="arabicPeriod" startAt="1"/>
            </a:pPr>
            <a:r>
              <a:rPr lang="en-US" sz="2000" dirty="0">
                <a:solidFill>
                  <a:srgbClr val="D8FFF0"/>
                </a:solidFill>
                <a:latin typeface="Consolas" pitchFamily="34" charset="0"/>
                <a:ea typeface="Consolas" pitchFamily="34" charset="-122"/>
                <a:cs typeface="Consolas" pitchFamily="34" charset="-120"/>
              </a:rPr>
              <a:t>hello_api.py</a:t>
            </a:r>
            <a:pPr indent="0" marL="0">
              <a:buNone/>
            </a:pPr>
            <a:r>
              <a:rPr lang="en-US" sz="2000" dirty="0">
                <a:solidFill>
                  <a:srgbClr val="EEF6F3"/>
                </a:solidFill>
                <a:latin typeface="Segoe UI" pitchFamily="34" charset="0"/>
                <a:ea typeface="Segoe UI" pitchFamily="34" charset="-122"/>
                <a:cs typeface="Segoe UI" pitchFamily="34" charset="-120"/>
              </a:rPr>
              <a:t> sends five requests: an order, a missing order (404), a refund, the same refund again, and a forced failure (500).</a:t>
            </a:r>
            <a:endParaRPr lang="en-US" sz="200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11 / 32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02</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Sending the same refund twice pays out once</a:t>
            </a:r>
            <a:endParaRPr lang="en-US" sz="3000" dirty="0"/>
          </a:p>
        </p:txBody>
      </p:sp>
      <p:sp>
        <p:nvSpPr>
          <p:cNvPr id="6" name="Shape 4"/>
          <p:cNvSpPr/>
          <p:nvPr/>
        </p:nvSpPr>
        <p:spPr>
          <a:xfrm>
            <a:off x="777240" y="1577340"/>
            <a:ext cx="10637215" cy="2185416"/>
          </a:xfrm>
          <a:prstGeom prst="roundRect">
            <a:avLst>
              <a:gd name="adj" fmla="val 5021"/>
            </a:avLst>
          </a:prstGeom>
          <a:solidFill>
            <a:srgbClr val="13272B"/>
          </a:solidFill>
          <a:ln w="9525">
            <a:solidFill>
              <a:srgbClr val="24413F"/>
            </a:solidFill>
            <a:prstDash val="solid"/>
          </a:ln>
        </p:spPr>
      </p:sp>
      <p:sp>
        <p:nvSpPr>
          <p:cNvPr id="7" name="Text 5"/>
          <p:cNvSpPr/>
          <p:nvPr/>
        </p:nvSpPr>
        <p:spPr>
          <a:xfrm>
            <a:off x="960120" y="1687068"/>
            <a:ext cx="10271455" cy="2002536"/>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hello_api.py, blocks 3 and 4, trimmed. The key on the right is set in the code.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3. Issue a refund</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POST http://localhost:9000/refunds        Idempotency-Key: prep-kit-1f2a9c3e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-&gt; status 200 OK      {"refund_id": "R-26762c6f", "amount_usd": 79.99}</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4. Retry with the SAME key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POST http://localhost:9000/refunds        Idempotency-Key: prep-kit-1f2a9c3e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-&gt; status 200 OK      {"refund_id": "R-26762c6f", "amount_usd": 79.99}</a:t>
            </a:r>
            <a:endParaRPr lang="en-US" sz="1350" dirty="0"/>
          </a:p>
        </p:txBody>
      </p:sp>
      <p:sp>
        <p:nvSpPr>
          <p:cNvPr id="8" name="Shape 6"/>
          <p:cNvSpPr/>
          <p:nvPr/>
        </p:nvSpPr>
        <p:spPr>
          <a:xfrm>
            <a:off x="777240" y="3890772"/>
            <a:ext cx="10637215" cy="868375"/>
          </a:xfrm>
          <a:prstGeom prst="roundRect">
            <a:avLst>
              <a:gd name="adj" fmla="val 10530"/>
            </a:avLst>
          </a:prstGeom>
          <a:solidFill>
            <a:srgbClr val="251F3D"/>
          </a:solidFill>
          <a:ln w="12700">
            <a:solidFill>
              <a:srgbClr val="251F3D"/>
            </a:solidFill>
            <a:prstDash val="solid"/>
          </a:ln>
        </p:spPr>
      </p:sp>
      <p:sp>
        <p:nvSpPr>
          <p:cNvPr id="9" name="Shape 7"/>
          <p:cNvSpPr/>
          <p:nvPr/>
        </p:nvSpPr>
        <p:spPr>
          <a:xfrm>
            <a:off x="777240" y="3890772"/>
            <a:ext cx="82296" cy="868375"/>
          </a:xfrm>
          <a:prstGeom prst="rect">
            <a:avLst/>
          </a:prstGeom>
          <a:solidFill>
            <a:srgbClr val="B99CFF"/>
          </a:solidFill>
          <a:ln w="12700">
            <a:solidFill>
              <a:srgbClr val="B99CFF"/>
            </a:solidFill>
            <a:prstDash val="solid"/>
          </a:ln>
        </p:spPr>
      </p:sp>
      <p:sp>
        <p:nvSpPr>
          <p:cNvPr id="10" name="Text 8"/>
          <p:cNvSpPr/>
          <p:nvPr/>
        </p:nvSpPr>
        <p:spPr>
          <a:xfrm>
            <a:off x="1051560" y="4000500"/>
            <a:ext cx="10225735" cy="237744"/>
          </a:xfrm>
          <a:prstGeom prst="rect">
            <a:avLst/>
          </a:prstGeom>
          <a:noFill/>
          <a:ln/>
        </p:spPr>
        <p:txBody>
          <a:bodyPr wrap="square" lIns="0" tIns="0" rIns="0" bIns="0" rtlCol="0" anchor="t"/>
          <a:lstStyle/>
          <a:p>
            <a:pPr indent="0" marL="0">
              <a:buNone/>
            </a:pPr>
            <a:r>
              <a:rPr lang="en-US" sz="1050" b="1" spc="300" kern="0" dirty="0">
                <a:solidFill>
                  <a:srgbClr val="B99CFF"/>
                </a:solidFill>
                <a:latin typeface="Segoe UI" pitchFamily="34" charset="0"/>
                <a:ea typeface="Segoe UI" pitchFamily="34" charset="-122"/>
                <a:cs typeface="Segoe UI" pitchFamily="34" charset="-120"/>
              </a:rPr>
              <a:t>THINK OF IT LIKE</a:t>
            </a:r>
            <a:endParaRPr lang="en-US" sz="1050" dirty="0"/>
          </a:p>
        </p:txBody>
      </p:sp>
      <p:sp>
        <p:nvSpPr>
          <p:cNvPr id="11" name="Text 9"/>
          <p:cNvSpPr/>
          <p:nvPr/>
        </p:nvSpPr>
        <p:spPr>
          <a:xfrm>
            <a:off x="1051560" y="4238244"/>
            <a:ext cx="10225735" cy="356311"/>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 receipt number on a bank transfer: hand the clerk the same slip twice and you pay once.</a:t>
            </a:r>
            <a:endParaRPr lang="en-US" sz="1720" dirty="0"/>
          </a:p>
        </p:txBody>
      </p:sp>
      <p:sp>
        <p:nvSpPr>
          <p:cNvPr id="12" name="Text 10"/>
          <p:cNvSpPr/>
          <p:nvPr/>
        </p:nvSpPr>
        <p:spPr>
          <a:xfrm>
            <a:off x="777240" y="4887163"/>
            <a:ext cx="10637215" cy="650748"/>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The caller picks one key for "this refund". A retry after a timeout reuses it, so the customer is refunded </a:t>
            </a:r>
            <a:pPr algn="l" indent="0" marL="0">
              <a:buNone/>
            </a:pPr>
            <a:r>
              <a:rPr lang="en-US" sz="1700" b="1" dirty="0">
                <a:solidFill>
                  <a:srgbClr val="FFFFFF"/>
                </a:solidFill>
                <a:latin typeface="Segoe UI" pitchFamily="34" charset="0"/>
                <a:ea typeface="Segoe UI" pitchFamily="34" charset="-122"/>
                <a:cs typeface="Segoe UI" pitchFamily="34" charset="-120"/>
              </a:rPr>
              <a:t>once</a:t>
            </a:r>
            <a:pPr algn="l" indent="0" marL="0">
              <a:buNone/>
            </a:pPr>
            <a:r>
              <a:rPr lang="en-US" sz="1700" dirty="0">
                <a:solidFill>
                  <a:srgbClr val="EEF6F3"/>
                </a:solidFill>
                <a:latin typeface="Segoe UI" pitchFamily="34" charset="0"/>
                <a:ea typeface="Segoe UI" pitchFamily="34" charset="-122"/>
                <a:cs typeface="Segoe UI" pitchFamily="34" charset="-120"/>
              </a:rPr>
              <a:t>. That's called </a:t>
            </a:r>
            <a:pPr algn="l" indent="0" marL="0">
              <a:buNone/>
            </a:pPr>
            <a:r>
              <a:rPr lang="en-US" sz="1700" b="1" dirty="0">
                <a:solidFill>
                  <a:srgbClr val="FFFFFF"/>
                </a:solidFill>
                <a:latin typeface="Segoe UI" pitchFamily="34" charset="0"/>
                <a:ea typeface="Segoe UI" pitchFamily="34" charset="-122"/>
                <a:cs typeface="Segoe UI" pitchFamily="34" charset="-120"/>
              </a:rPr>
              <a:t>idempotency</a:t>
            </a:r>
            <a:pPr algn="l" indent="0" marL="0">
              <a:buNone/>
            </a:pPr>
            <a:r>
              <a:rPr lang="en-US" sz="1700" dirty="0">
                <a:solidFill>
                  <a:srgbClr val="EEF6F3"/>
                </a:solidFill>
                <a:latin typeface="Segoe UI" pitchFamily="34" charset="0"/>
                <a:ea typeface="Segoe UI" pitchFamily="34" charset="-122"/>
                <a:cs typeface="Segoe UI" pitchFamily="34" charset="-120"/>
              </a:rPr>
              <a:t>.</a:t>
            </a:r>
            <a:endParaRPr lang="en-US" sz="1700" dirty="0"/>
          </a:p>
        </p:txBody>
      </p:sp>
      <p:sp>
        <p:nvSpPr>
          <p:cNvPr id="13" name="Text 11"/>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4" name="Text 12"/>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12 / 32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5AA2FF"/>
          </a:solidFill>
          <a:ln w="12700">
            <a:solidFill>
              <a:srgbClr val="5AA2FF"/>
            </a:solidFill>
            <a:prstDash val="solid"/>
          </a:ln>
        </p:spPr>
      </p:sp>
      <p:sp>
        <p:nvSpPr>
          <p:cNvPr id="5" name="Text 3"/>
          <p:cNvSpPr/>
          <p:nvPr/>
        </p:nvSpPr>
        <p:spPr>
          <a:xfrm>
            <a:off x="9585655" y="411480"/>
            <a:ext cx="1828800" cy="329184"/>
          </a:xfrm>
          <a:prstGeom prst="roundRect">
            <a:avLst>
              <a:gd name="adj" fmla="val 22222"/>
            </a:avLst>
          </a:prstGeom>
          <a:solidFill>
            <a:srgbClr val="5AA2FF"/>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QUICK CHECK</a:t>
            </a:r>
            <a:endParaRPr lang="en-US" sz="1200" dirty="0"/>
          </a:p>
        </p:txBody>
      </p:sp>
      <p:sp>
        <p:nvSpPr>
          <p:cNvPr id="6" name="Text 4"/>
          <p:cNvSpPr/>
          <p:nvPr/>
        </p:nvSpPr>
        <p:spPr>
          <a:xfrm>
            <a:off x="777240" y="457200"/>
            <a:ext cx="1819656" cy="274320"/>
          </a:xfrm>
          <a:prstGeom prst="roundRect">
            <a:avLst>
              <a:gd name="adj" fmla="val 50000"/>
            </a:avLst>
          </a:prstGeom>
          <a:solidFill>
            <a:srgbClr val="5AA2FF"/>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QUICK CHECK</a:t>
            </a:r>
            <a:endParaRPr lang="en-US" sz="1100" dirty="0"/>
          </a:p>
        </p:txBody>
      </p:sp>
      <p:sp>
        <p:nvSpPr>
          <p:cNvPr id="7" name="Text 5"/>
          <p:cNvSpPr/>
          <p:nvPr/>
        </p:nvSpPr>
        <p:spPr>
          <a:xfrm>
            <a:off x="777240" y="841248"/>
            <a:ext cx="862553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APIs and venvs</a:t>
            </a:r>
            <a:endParaRPr lang="en-US" sz="3000" dirty="0"/>
          </a:p>
        </p:txBody>
      </p:sp>
      <p:sp>
        <p:nvSpPr>
          <p:cNvPr id="8" name="Text 6"/>
          <p:cNvSpPr/>
          <p:nvPr/>
        </p:nvSpPr>
        <p:spPr>
          <a:xfrm>
            <a:off x="777240" y="1577340"/>
            <a:ext cx="10637215" cy="1639824"/>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You ask for order O-00000 and get a </a:t>
            </a:r>
            <a:pPr indent="0" marL="0">
              <a:buNone/>
            </a:pPr>
            <a:r>
              <a:rPr lang="en-US" sz="2000" b="1" dirty="0">
                <a:solidFill>
                  <a:srgbClr val="FFFFFF"/>
                </a:solidFill>
                <a:latin typeface="Segoe UI" pitchFamily="34" charset="0"/>
                <a:ea typeface="Segoe UI" pitchFamily="34" charset="-122"/>
                <a:cs typeface="Segoe UI" pitchFamily="34" charset="-120"/>
              </a:rPr>
              <a:t>404</a:t>
            </a:r>
            <a:pPr indent="0" marL="0">
              <a:buNone/>
            </a:pPr>
            <a:r>
              <a:rPr lang="en-US" sz="2000" dirty="0">
                <a:solidFill>
                  <a:srgbClr val="EEF6F3"/>
                </a:solidFill>
                <a:latin typeface="Segoe UI" pitchFamily="34" charset="0"/>
                <a:ea typeface="Segoe UI" pitchFamily="34" charset="-122"/>
                <a:cs typeface="Segoe UI" pitchFamily="34" charset="-120"/>
              </a:rPr>
              <a:t>. What is the 404 telling you?</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A refund request times out. Why is it safe to retry with the same </a:t>
            </a:r>
            <a:pPr indent="0" marL="0">
              <a:buNone/>
            </a:pPr>
            <a:r>
              <a:rPr lang="en-US" sz="2000" dirty="0">
                <a:solidFill>
                  <a:srgbClr val="D8FFF0"/>
                </a:solidFill>
                <a:latin typeface="Consolas" pitchFamily="34" charset="0"/>
                <a:ea typeface="Consolas" pitchFamily="34" charset="-122"/>
                <a:cs typeface="Consolas" pitchFamily="34" charset="-120"/>
              </a:rPr>
              <a:t>Idempotency-Key</a:t>
            </a:r>
            <a:pPr indent="0" marL="0">
              <a:buNone/>
            </a:pPr>
            <a:r>
              <a:rPr lang="en-US" sz="2000" dirty="0">
                <a:solidFill>
                  <a:srgbClr val="EEF6F3"/>
                </a:solidFill>
                <a:latin typeface="Segoe UI" pitchFamily="34" charset="0"/>
                <a:ea typeface="Segoe UI" pitchFamily="34" charset="-122"/>
                <a:cs typeface="Segoe UI" pitchFamily="34" charset="-120"/>
              </a:rPr>
              <a: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Your script prints </a:t>
            </a:r>
            <a:pPr indent="0" marL="0">
              <a:buNone/>
            </a:pPr>
            <a:r>
              <a:rPr lang="en-US" sz="2000" dirty="0">
                <a:solidFill>
                  <a:srgbClr val="D8FFF0"/>
                </a:solidFill>
                <a:latin typeface="Consolas" pitchFamily="34" charset="0"/>
                <a:ea typeface="Consolas" pitchFamily="34" charset="-122"/>
                <a:cs typeface="Consolas" pitchFamily="34" charset="-120"/>
              </a:rPr>
              <a:t>Virtual env : NO</a:t>
            </a:r>
            <a:pPr indent="0" marL="0">
              <a:buNone/>
            </a:pPr>
            <a:r>
              <a:rPr lang="en-US" sz="2000" dirty="0">
                <a:solidFill>
                  <a:srgbClr val="EEF6F3"/>
                </a:solidFill>
                <a:latin typeface="Segoe UI" pitchFamily="34" charset="0"/>
                <a:ea typeface="Segoe UI" pitchFamily="34" charset="-122"/>
                <a:cs typeface="Segoe UI" pitchFamily="34" charset="-120"/>
              </a:rPr>
              <a:t>. What did you forget?</a:t>
            </a:r>
            <a:endParaRPr lang="en-US" sz="20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13 / 32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03</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Keys never go in your code</a:t>
            </a:r>
            <a:endParaRPr lang="en-US" sz="3000" dirty="0"/>
          </a:p>
        </p:txBody>
      </p:sp>
      <p:sp>
        <p:nvSpPr>
          <p:cNvPr id="6" name="Text 4"/>
          <p:cNvSpPr/>
          <p:nvPr/>
        </p:nvSpPr>
        <p:spPr>
          <a:xfrm>
            <a:off x="777240"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The </a:t>
            </a:r>
            <a:pPr algn="l" indent="0" marL="0">
              <a:buNone/>
            </a:pPr>
            <a:r>
              <a:rPr lang="en-US" sz="1850" dirty="0">
                <a:solidFill>
                  <a:srgbClr val="D8FFF0"/>
                </a:solidFill>
                <a:latin typeface="Consolas" pitchFamily="34" charset="0"/>
                <a:ea typeface="Consolas" pitchFamily="34" charset="-122"/>
                <a:cs typeface="Consolas" pitchFamily="34" charset="-120"/>
              </a:rPr>
              <a:t>.env</a:t>
            </a:r>
            <a:pPr algn="l" indent="0" marL="0">
              <a:buNone/>
            </a:pPr>
            <a:r>
              <a:rPr lang="en-US" sz="2100" dirty="0">
                <a:solidFill>
                  <a:srgbClr val="01D294"/>
                </a:solidFill>
                <a:latin typeface="Segoe UI" pitchFamily="34" charset="0"/>
                <a:ea typeface="Segoe UI" pitchFamily="34" charset="-122"/>
                <a:cs typeface="Segoe UI" pitchFamily="34" charset="-120"/>
              </a:rPr>
              <a:t> file</a:t>
            </a:r>
            <a:endParaRPr lang="en-US" sz="2100" dirty="0"/>
          </a:p>
        </p:txBody>
      </p:sp>
      <p:sp>
        <p:nvSpPr>
          <p:cNvPr id="7" name="Shape 5"/>
          <p:cNvSpPr/>
          <p:nvPr/>
        </p:nvSpPr>
        <p:spPr>
          <a:xfrm>
            <a:off x="777240" y="2091690"/>
            <a:ext cx="5135728" cy="765810"/>
          </a:xfrm>
          <a:prstGeom prst="roundRect">
            <a:avLst>
              <a:gd name="adj" fmla="val 14328"/>
            </a:avLst>
          </a:prstGeom>
          <a:solidFill>
            <a:srgbClr val="13272B"/>
          </a:solidFill>
          <a:ln w="9525">
            <a:solidFill>
              <a:srgbClr val="24413F"/>
            </a:solidFill>
            <a:prstDash val="solid"/>
          </a:ln>
        </p:spPr>
      </p:sp>
      <p:sp>
        <p:nvSpPr>
          <p:cNvPr id="8" name="Text 6"/>
          <p:cNvSpPr/>
          <p:nvPr/>
        </p:nvSpPr>
        <p:spPr>
          <a:xfrm>
            <a:off x="960120" y="2201418"/>
            <a:ext cx="4769968" cy="582930"/>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GEMINI_API_KEY=AIza...</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GEMINI_MODEL=gemini-3.5-flash-lite</a:t>
            </a:r>
            <a:endParaRPr lang="en-US" sz="1350" dirty="0"/>
          </a:p>
        </p:txBody>
      </p:sp>
      <p:sp>
        <p:nvSpPr>
          <p:cNvPr id="9" name="Text 7"/>
          <p:cNvSpPr/>
          <p:nvPr/>
        </p:nvSpPr>
        <p:spPr>
          <a:xfrm>
            <a:off x="777240" y="2948940"/>
            <a:ext cx="5135728" cy="650748"/>
          </a:xfrm>
          <a:prstGeom prst="rect">
            <a:avLst/>
          </a:prstGeom>
          <a:noFill/>
          <a:ln/>
        </p:spPr>
        <p:txBody>
          <a:bodyPr wrap="square" lIns="0" tIns="0" rIns="0" bIns="0" rtlCol="0" anchor="t"/>
          <a:lstStyle/>
          <a:p>
            <a:pPr algn="l" indent="0" marL="0">
              <a:buNone/>
            </a:pPr>
            <a:r>
              <a:rPr lang="en-US" sz="1500" dirty="0">
                <a:solidFill>
                  <a:srgbClr val="D8FFF0"/>
                </a:solidFill>
                <a:latin typeface="Consolas" pitchFamily="34" charset="0"/>
                <a:ea typeface="Consolas" pitchFamily="34" charset="-122"/>
                <a:cs typeface="Consolas" pitchFamily="34" charset="-120"/>
              </a:rPr>
              <a:t>python-dotenv</a:t>
            </a:r>
            <a:pPr algn="l" indent="0" marL="0">
              <a:buNone/>
            </a:pPr>
            <a:r>
              <a:rPr lang="en-US" sz="1700" dirty="0">
                <a:solidFill>
                  <a:srgbClr val="EEF6F3"/>
                </a:solidFill>
                <a:latin typeface="Segoe UI" pitchFamily="34" charset="0"/>
                <a:ea typeface="Segoe UI" pitchFamily="34" charset="-122"/>
                <a:cs typeface="Segoe UI" pitchFamily="34" charset="-120"/>
              </a:rPr>
              <a:t> reads it at startup and Python sees each line as an environment variable.</a:t>
            </a:r>
            <a:endParaRPr lang="en-US" sz="1700" dirty="0"/>
          </a:p>
        </p:txBody>
      </p:sp>
      <p:sp>
        <p:nvSpPr>
          <p:cNvPr id="10" name="Text 8"/>
          <p:cNvSpPr/>
          <p:nvPr/>
        </p:nvSpPr>
        <p:spPr>
          <a:xfrm>
            <a:off x="6278728"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The </a:t>
            </a:r>
            <a:pPr algn="l" indent="0" marL="0">
              <a:buNone/>
            </a:pPr>
            <a:r>
              <a:rPr lang="en-US" sz="1850" dirty="0">
                <a:solidFill>
                  <a:srgbClr val="D8FFF0"/>
                </a:solidFill>
                <a:latin typeface="Consolas" pitchFamily="34" charset="0"/>
                <a:ea typeface="Consolas" pitchFamily="34" charset="-122"/>
                <a:cs typeface="Consolas" pitchFamily="34" charset="-120"/>
              </a:rPr>
              <a:t>.gitignore</a:t>
            </a:r>
            <a:pPr algn="l" indent="0" marL="0">
              <a:buNone/>
            </a:pPr>
            <a:r>
              <a:rPr lang="en-US" sz="2100" dirty="0">
                <a:solidFill>
                  <a:srgbClr val="01D294"/>
                </a:solidFill>
                <a:latin typeface="Segoe UI" pitchFamily="34" charset="0"/>
                <a:ea typeface="Segoe UI" pitchFamily="34" charset="-122"/>
                <a:cs typeface="Segoe UI" pitchFamily="34" charset="-120"/>
              </a:rPr>
              <a:t> file</a:t>
            </a:r>
            <a:endParaRPr lang="en-US" sz="2100" dirty="0"/>
          </a:p>
        </p:txBody>
      </p:sp>
      <p:sp>
        <p:nvSpPr>
          <p:cNvPr id="11" name="Shape 9"/>
          <p:cNvSpPr/>
          <p:nvPr/>
        </p:nvSpPr>
        <p:spPr>
          <a:xfrm>
            <a:off x="6278728" y="2091690"/>
            <a:ext cx="5135728" cy="529209"/>
          </a:xfrm>
          <a:prstGeom prst="roundRect">
            <a:avLst>
              <a:gd name="adj" fmla="val 20734"/>
            </a:avLst>
          </a:prstGeom>
          <a:solidFill>
            <a:srgbClr val="13272B"/>
          </a:solidFill>
          <a:ln w="9525">
            <a:solidFill>
              <a:srgbClr val="24413F"/>
            </a:solidFill>
            <a:prstDash val="solid"/>
          </a:ln>
        </p:spPr>
      </p:sp>
      <p:sp>
        <p:nvSpPr>
          <p:cNvPr id="12" name="Text 10"/>
          <p:cNvSpPr/>
          <p:nvPr/>
        </p:nvSpPr>
        <p:spPr>
          <a:xfrm>
            <a:off x="6461608" y="2201418"/>
            <a:ext cx="4769968" cy="346329"/>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.env</a:t>
            </a:r>
            <a:endParaRPr lang="en-US" sz="1350" dirty="0"/>
          </a:p>
        </p:txBody>
      </p:sp>
      <p:sp>
        <p:nvSpPr>
          <p:cNvPr id="13" name="Text 11"/>
          <p:cNvSpPr/>
          <p:nvPr/>
        </p:nvSpPr>
        <p:spPr>
          <a:xfrm>
            <a:off x="6278728" y="2712339"/>
            <a:ext cx="5135728" cy="948690"/>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Git never sees </a:t>
            </a:r>
            <a:pPr algn="l" indent="0" marL="0">
              <a:buNone/>
            </a:pPr>
            <a:r>
              <a:rPr lang="en-US" sz="1500" dirty="0">
                <a:solidFill>
                  <a:srgbClr val="D8FFF0"/>
                </a:solidFill>
                <a:latin typeface="Consolas" pitchFamily="34" charset="0"/>
                <a:ea typeface="Consolas" pitchFamily="34" charset="-122"/>
                <a:cs typeface="Consolas" pitchFamily="34" charset="-120"/>
              </a:rPr>
              <a:t>.env</a:t>
            </a:r>
            <a:pPr algn="l" indent="0" marL="0">
              <a:buNone/>
            </a:pPr>
            <a:r>
              <a:rPr lang="en-US" sz="1700" dirty="0">
                <a:solidFill>
                  <a:srgbClr val="EEF6F3"/>
                </a:solidFill>
                <a:latin typeface="Segoe UI" pitchFamily="34" charset="0"/>
                <a:ea typeface="Segoe UI" pitchFamily="34" charset="-122"/>
                <a:cs typeface="Segoe UI" pitchFamily="34" charset="-120"/>
              </a:rPr>
              <a:t>, so you can't commit it by accident. The repo ships </a:t>
            </a:r>
            <a:pPr algn="l" indent="0" marL="0">
              <a:buNone/>
            </a:pPr>
            <a:r>
              <a:rPr lang="en-US" sz="1500" dirty="0">
                <a:solidFill>
                  <a:srgbClr val="D8FFF0"/>
                </a:solidFill>
                <a:latin typeface="Consolas" pitchFamily="34" charset="0"/>
                <a:ea typeface="Consolas" pitchFamily="34" charset="-122"/>
                <a:cs typeface="Consolas" pitchFamily="34" charset="-120"/>
              </a:rPr>
              <a:t>.env.example</a:t>
            </a:r>
            <a:pPr algn="l" indent="0" marL="0">
              <a:buNone/>
            </a:pPr>
            <a:r>
              <a:rPr lang="en-US" sz="1700" dirty="0">
                <a:solidFill>
                  <a:srgbClr val="EEF6F3"/>
                </a:solidFill>
                <a:latin typeface="Segoe UI" pitchFamily="34" charset="0"/>
                <a:ea typeface="Segoe UI" pitchFamily="34" charset="-122"/>
                <a:cs typeface="Segoe UI" pitchFamily="34" charset="-120"/>
              </a:rPr>
              <a:t> with the values empty.</a:t>
            </a:r>
            <a:endParaRPr lang="en-US" sz="1700" dirty="0"/>
          </a:p>
        </p:txBody>
      </p:sp>
      <p:sp>
        <p:nvSpPr>
          <p:cNvPr id="14" name="Shape 12"/>
          <p:cNvSpPr/>
          <p:nvPr/>
        </p:nvSpPr>
        <p:spPr>
          <a:xfrm>
            <a:off x="777240" y="3880485"/>
            <a:ext cx="10637215" cy="1169822"/>
          </a:xfrm>
          <a:prstGeom prst="roundRect">
            <a:avLst>
              <a:gd name="adj" fmla="val 7817"/>
            </a:avLst>
          </a:prstGeom>
          <a:solidFill>
            <a:srgbClr val="3A1C1F"/>
          </a:solidFill>
          <a:ln w="12700">
            <a:solidFill>
              <a:srgbClr val="3A1C1F"/>
            </a:solidFill>
            <a:prstDash val="solid"/>
          </a:ln>
        </p:spPr>
      </p:sp>
      <p:sp>
        <p:nvSpPr>
          <p:cNvPr id="15" name="Shape 13"/>
          <p:cNvSpPr/>
          <p:nvPr/>
        </p:nvSpPr>
        <p:spPr>
          <a:xfrm>
            <a:off x="777240" y="3880485"/>
            <a:ext cx="82296" cy="1169822"/>
          </a:xfrm>
          <a:prstGeom prst="rect">
            <a:avLst/>
          </a:prstGeom>
          <a:solidFill>
            <a:srgbClr val="FF7A7A"/>
          </a:solidFill>
          <a:ln w="12700">
            <a:solidFill>
              <a:srgbClr val="FF7A7A"/>
            </a:solidFill>
            <a:prstDash val="solid"/>
          </a:ln>
        </p:spPr>
      </p:sp>
      <p:sp>
        <p:nvSpPr>
          <p:cNvPr id="16" name="Text 14"/>
          <p:cNvSpPr/>
          <p:nvPr/>
        </p:nvSpPr>
        <p:spPr>
          <a:xfrm>
            <a:off x="1051560" y="3990213"/>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WATCH OUT</a:t>
            </a:r>
            <a:endParaRPr lang="en-US" sz="1050" dirty="0"/>
          </a:p>
        </p:txBody>
      </p:sp>
      <p:sp>
        <p:nvSpPr>
          <p:cNvPr id="17" name="Text 15"/>
          <p:cNvSpPr/>
          <p:nvPr/>
        </p:nvSpPr>
        <p:spPr>
          <a:xfrm>
            <a:off x="1051560" y="4227957"/>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Bots scan public GitHub for leaked keys within minutes. A key in your code is a key on the internet.</a:t>
            </a:r>
            <a:endParaRPr lang="en-US" sz="1720" dirty="0"/>
          </a:p>
        </p:txBody>
      </p:sp>
      <p:sp>
        <p:nvSpPr>
          <p:cNvPr id="18" name="Text 16"/>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9" name="Text 17"/>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14 / 32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03</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Four habits that save you money</a:t>
            </a:r>
            <a:endParaRPr lang="en-US" sz="3000" dirty="0"/>
          </a:p>
        </p:txBody>
      </p:sp>
      <p:sp>
        <p:nvSpPr>
          <p:cNvPr id="6" name="Text 4"/>
          <p:cNvSpPr/>
          <p:nvPr/>
        </p:nvSpPr>
        <p:spPr>
          <a:xfrm>
            <a:off x="777240" y="1577340"/>
            <a:ext cx="10637215" cy="2404872"/>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Never paste a key into code, a chat (AI assistants included), a screenshot or a slide.</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Set a </a:t>
            </a:r>
            <a:pPr indent="0" marL="0">
              <a:buNone/>
            </a:pPr>
            <a:r>
              <a:rPr lang="en-US" sz="2000" b="1" dirty="0">
                <a:solidFill>
                  <a:srgbClr val="FFFFFF"/>
                </a:solidFill>
                <a:latin typeface="Segoe UI" pitchFamily="34" charset="0"/>
                <a:ea typeface="Segoe UI" pitchFamily="34" charset="-122"/>
                <a:cs typeface="Segoe UI" pitchFamily="34" charset="-120"/>
              </a:rPr>
              <a:t>monthly spending limit</a:t>
            </a:r>
            <a:pPr indent="0" marL="0">
              <a:buNone/>
            </a:pPr>
            <a:r>
              <a:rPr lang="en-US" sz="2000" dirty="0">
                <a:solidFill>
                  <a:srgbClr val="EEF6F3"/>
                </a:solidFill>
                <a:latin typeface="Segoe UI" pitchFamily="34" charset="0"/>
                <a:ea typeface="Segoe UI" pitchFamily="34" charset="-122"/>
                <a:cs typeface="Segoe UI" pitchFamily="34" charset="-120"/>
              </a:rPr>
              <a:t> the day you create a paid key.</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Leaked a key? Revoke it in the provider's dashboard and make a new one. It takes a minute.</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One key per project, so you can revoke one without breaking the others.</a:t>
            </a:r>
            <a:endParaRPr lang="en-US" sz="2000" dirty="0"/>
          </a:p>
        </p:txBody>
      </p:sp>
      <p:sp>
        <p:nvSpPr>
          <p:cNvPr id="7" name="Shape 5"/>
          <p:cNvSpPr/>
          <p:nvPr/>
        </p:nvSpPr>
        <p:spPr>
          <a:xfrm>
            <a:off x="777240" y="4110228"/>
            <a:ext cx="10637215" cy="1169822"/>
          </a:xfrm>
          <a:prstGeom prst="roundRect">
            <a:avLst>
              <a:gd name="adj" fmla="val 7817"/>
            </a:avLst>
          </a:prstGeom>
          <a:solidFill>
            <a:srgbClr val="112A45"/>
          </a:solidFill>
          <a:ln w="12700">
            <a:solidFill>
              <a:srgbClr val="112A45"/>
            </a:solidFill>
            <a:prstDash val="solid"/>
          </a:ln>
        </p:spPr>
      </p:sp>
      <p:sp>
        <p:nvSpPr>
          <p:cNvPr id="8" name="Shape 6"/>
          <p:cNvSpPr/>
          <p:nvPr/>
        </p:nvSpPr>
        <p:spPr>
          <a:xfrm>
            <a:off x="777240" y="4110228"/>
            <a:ext cx="82296" cy="1169822"/>
          </a:xfrm>
          <a:prstGeom prst="rect">
            <a:avLst/>
          </a:prstGeom>
          <a:solidFill>
            <a:srgbClr val="5AA2FF"/>
          </a:solidFill>
          <a:ln w="12700">
            <a:solidFill>
              <a:srgbClr val="5AA2FF"/>
            </a:solidFill>
            <a:prstDash val="solid"/>
          </a:ln>
        </p:spPr>
      </p:sp>
      <p:sp>
        <p:nvSpPr>
          <p:cNvPr id="9" name="Text 7"/>
          <p:cNvSpPr/>
          <p:nvPr/>
        </p:nvSpPr>
        <p:spPr>
          <a:xfrm>
            <a:off x="1051560" y="4219956"/>
            <a:ext cx="10225735" cy="237744"/>
          </a:xfrm>
          <a:prstGeom prst="rect">
            <a:avLst/>
          </a:prstGeom>
          <a:noFill/>
          <a:ln/>
        </p:spPr>
        <p:txBody>
          <a:bodyPr wrap="square" lIns="0" tIns="0" rIns="0" bIns="0" rtlCol="0" anchor="t"/>
          <a:lstStyle/>
          <a:p>
            <a:pPr indent="0" marL="0">
              <a:buNone/>
            </a:pPr>
            <a:r>
              <a:rPr lang="en-US" sz="1050" b="1" spc="300" kern="0" dirty="0">
                <a:solidFill>
                  <a:srgbClr val="5AA2FF"/>
                </a:solidFill>
                <a:latin typeface="Segoe UI" pitchFamily="34" charset="0"/>
                <a:ea typeface="Segoe UI" pitchFamily="34" charset="-122"/>
                <a:cs typeface="Segoe UI" pitchFamily="34" charset="-120"/>
              </a:rPr>
              <a:t>GOOD TO KNOW</a:t>
            </a:r>
            <a:endParaRPr lang="en-US" sz="1050" dirty="0"/>
          </a:p>
        </p:txBody>
      </p:sp>
      <p:sp>
        <p:nvSpPr>
          <p:cNvPr id="10" name="Text 8"/>
          <p:cNvSpPr/>
          <p:nvPr/>
        </p:nvSpPr>
        <p:spPr>
          <a:xfrm>
            <a:off x="1051560" y="4457700"/>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Two </a:t>
            </a:r>
            <a:pPr algn="l" indent="0" marL="0">
              <a:buNone/>
            </a:pPr>
            <a:r>
              <a:rPr lang="en-US" sz="1510" dirty="0">
                <a:solidFill>
                  <a:srgbClr val="D8FFF0"/>
                </a:solidFill>
                <a:latin typeface="Consolas" pitchFamily="34" charset="0"/>
                <a:ea typeface="Consolas" pitchFamily="34" charset="-122"/>
                <a:cs typeface="Consolas" pitchFamily="34" charset="-120"/>
              </a:rPr>
              <a:t>.env</a:t>
            </a:r>
            <a:pPr algn="l" indent="0" marL="0">
              <a:buNone/>
            </a:pPr>
            <a:r>
              <a:rPr lang="en-US" sz="1720" dirty="0">
                <a:solidFill>
                  <a:srgbClr val="EEF6F3"/>
                </a:solidFill>
                <a:latin typeface="Segoe UI" pitchFamily="34" charset="0"/>
                <a:ea typeface="Segoe UI" pitchFamily="34" charset="-122"/>
                <a:cs typeface="Segoe UI" pitchFamily="34" charset="-120"/>
              </a:rPr>
              <a:t> files, on purpose: </a:t>
            </a:r>
            <a:pPr algn="l" indent="0" marL="0">
              <a:buNone/>
            </a:pPr>
            <a:r>
              <a:rPr lang="en-US" sz="1510" dirty="0">
                <a:solidFill>
                  <a:srgbClr val="D8FFF0"/>
                </a:solidFill>
                <a:latin typeface="Consolas" pitchFamily="34" charset="0"/>
                <a:ea typeface="Consolas" pitchFamily="34" charset="-122"/>
                <a:cs typeface="Consolas" pitchFamily="34" charset="-120"/>
              </a:rPr>
              <a:t>prep-kit/.env</a:t>
            </a:r>
            <a:pPr algn="l" indent="0" marL="0">
              <a:buNone/>
            </a:pPr>
            <a:r>
              <a:rPr lang="en-US" sz="1720" dirty="0">
                <a:solidFill>
                  <a:srgbClr val="EEF6F3"/>
                </a:solidFill>
                <a:latin typeface="Segoe UI" pitchFamily="34" charset="0"/>
                <a:ea typeface="Segoe UI" pitchFamily="34" charset="-122"/>
                <a:cs typeface="Segoe UI" pitchFamily="34" charset="-120"/>
              </a:rPr>
              <a:t> for free practice keys, </a:t>
            </a:r>
            <a:pPr algn="l" indent="0" marL="0">
              <a:buNone/>
            </a:pPr>
            <a:r>
              <a:rPr lang="en-US" sz="1510" dirty="0">
                <a:solidFill>
                  <a:srgbClr val="D8FFF0"/>
                </a:solidFill>
                <a:latin typeface="Consolas" pitchFamily="34" charset="0"/>
                <a:ea typeface="Consolas" pitchFamily="34" charset="-122"/>
                <a:cs typeface="Consolas" pitchFamily="34" charset="-120"/>
              </a:rPr>
              <a:t>deskhand-workshop/.env</a:t>
            </a:r>
            <a:pPr algn="l" indent="0" marL="0">
              <a:buNone/>
            </a:pPr>
            <a:r>
              <a:rPr lang="en-US" sz="1720" dirty="0">
                <a:solidFill>
                  <a:srgbClr val="EEF6F3"/>
                </a:solidFill>
                <a:latin typeface="Segoe UI" pitchFamily="34" charset="0"/>
                <a:ea typeface="Segoe UI" pitchFamily="34" charset="-122"/>
                <a:cs typeface="Segoe UI" pitchFamily="34" charset="-120"/>
              </a:rPr>
              <a:t> for the course key.</a:t>
            </a:r>
            <a:endParaRPr lang="en-US" sz="172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15 / 32</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2075688"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EXTRA READING</a:t>
            </a:r>
            <a:endParaRPr lang="en-US" sz="1100" dirty="0"/>
          </a:p>
        </p:txBody>
      </p:sp>
      <p:sp>
        <p:nvSpPr>
          <p:cNvPr id="5" name="Text 3"/>
          <p:cNvSpPr/>
          <p:nvPr/>
        </p:nvSpPr>
        <p:spPr>
          <a:xfrm>
            <a:off x="777240" y="841248"/>
            <a:ext cx="10637215" cy="109728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Where LLMs (large language models) came from, in four steps</a:t>
            </a:r>
            <a:endParaRPr lang="en-US" sz="3000" dirty="0"/>
          </a:p>
        </p:txBody>
      </p:sp>
      <p:sp>
        <p:nvSpPr>
          <p:cNvPr id="6" name="Shape 4"/>
          <p:cNvSpPr/>
          <p:nvPr/>
        </p:nvSpPr>
        <p:spPr>
          <a:xfrm>
            <a:off x="777240" y="2103120"/>
            <a:ext cx="2487854" cy="2939110"/>
          </a:xfrm>
          <a:prstGeom prst="roundRect">
            <a:avLst>
              <a:gd name="adj" fmla="val 3675"/>
            </a:avLst>
          </a:prstGeom>
          <a:solidFill>
            <a:srgbClr val="13272B"/>
          </a:solidFill>
          <a:ln w="12700">
            <a:solidFill>
              <a:srgbClr val="13272B"/>
            </a:solidFill>
            <a:prstDash val="solid"/>
          </a:ln>
        </p:spPr>
      </p:sp>
      <p:sp>
        <p:nvSpPr>
          <p:cNvPr id="7" name="Shape 5"/>
          <p:cNvSpPr/>
          <p:nvPr/>
        </p:nvSpPr>
        <p:spPr>
          <a:xfrm>
            <a:off x="777240" y="2103120"/>
            <a:ext cx="2487854" cy="64008"/>
          </a:xfrm>
          <a:prstGeom prst="rect">
            <a:avLst/>
          </a:prstGeom>
          <a:solidFill>
            <a:srgbClr val="01D294"/>
          </a:solidFill>
          <a:ln w="12700">
            <a:solidFill>
              <a:srgbClr val="01D294"/>
            </a:solidFill>
            <a:prstDash val="solid"/>
          </a:ln>
        </p:spPr>
      </p:sp>
      <p:sp>
        <p:nvSpPr>
          <p:cNvPr id="8" name="Text 6"/>
          <p:cNvSpPr/>
          <p:nvPr/>
        </p:nvSpPr>
        <p:spPr>
          <a:xfrm>
            <a:off x="905256" y="2295144"/>
            <a:ext cx="2231822" cy="680542"/>
          </a:xfrm>
          <a:prstGeom prst="rect">
            <a:avLst/>
          </a:prstGeom>
          <a:noFill/>
          <a:ln/>
        </p:spPr>
        <p:txBody>
          <a:bodyPr wrap="square" lIns="0" tIns="0" rIns="0" bIns="0" rtlCol="0" anchor="t"/>
          <a:lstStyle/>
          <a:p>
            <a:pPr algn="l" indent="0" marL="0">
              <a:buNone/>
            </a:pPr>
            <a:r>
              <a:rPr lang="en-US" sz="1785" b="1" dirty="0">
                <a:solidFill>
                  <a:srgbClr val="01D294"/>
                </a:solidFill>
                <a:latin typeface="Segoe UI" pitchFamily="34" charset="0"/>
                <a:ea typeface="Segoe UI" pitchFamily="34" charset="-122"/>
                <a:cs typeface="Segoe UI" pitchFamily="34" charset="-120"/>
              </a:rPr>
              <a:t>Classic machine learning</a:t>
            </a:r>
            <a:endParaRPr lang="en-US" sz="1785" dirty="0"/>
          </a:p>
        </p:txBody>
      </p:sp>
      <p:sp>
        <p:nvSpPr>
          <p:cNvPr id="9" name="Text 7"/>
          <p:cNvSpPr/>
          <p:nvPr/>
        </p:nvSpPr>
        <p:spPr>
          <a:xfrm>
            <a:off x="905256" y="3012262"/>
            <a:ext cx="2231822" cy="1176528"/>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A person picks the clues. The computer learns how much each counts.</a:t>
            </a:r>
            <a:endParaRPr lang="en-US" sz="1600" dirty="0"/>
          </a:p>
        </p:txBody>
      </p:sp>
      <p:sp>
        <p:nvSpPr>
          <p:cNvPr id="10" name="Text 8"/>
          <p:cNvSpPr/>
          <p:nvPr/>
        </p:nvSpPr>
        <p:spPr>
          <a:xfrm>
            <a:off x="905256" y="4243654"/>
            <a:ext cx="2231822" cy="615696"/>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A spam filter counting "free".</a:t>
            </a:r>
            <a:endParaRPr lang="en-US" sz="1600" dirty="0"/>
          </a:p>
        </p:txBody>
      </p:sp>
      <p:sp>
        <p:nvSpPr>
          <p:cNvPr id="11" name="Shape 9"/>
          <p:cNvSpPr/>
          <p:nvPr/>
        </p:nvSpPr>
        <p:spPr>
          <a:xfrm>
            <a:off x="3493694" y="2103120"/>
            <a:ext cx="2487854" cy="2939110"/>
          </a:xfrm>
          <a:prstGeom prst="roundRect">
            <a:avLst>
              <a:gd name="adj" fmla="val 3675"/>
            </a:avLst>
          </a:prstGeom>
          <a:solidFill>
            <a:srgbClr val="13272B"/>
          </a:solidFill>
          <a:ln w="12700">
            <a:solidFill>
              <a:srgbClr val="13272B"/>
            </a:solidFill>
            <a:prstDash val="solid"/>
          </a:ln>
        </p:spPr>
      </p:sp>
      <p:sp>
        <p:nvSpPr>
          <p:cNvPr id="12" name="Shape 10"/>
          <p:cNvSpPr/>
          <p:nvPr/>
        </p:nvSpPr>
        <p:spPr>
          <a:xfrm>
            <a:off x="3493694" y="2103120"/>
            <a:ext cx="2487854" cy="64008"/>
          </a:xfrm>
          <a:prstGeom prst="rect">
            <a:avLst/>
          </a:prstGeom>
          <a:solidFill>
            <a:srgbClr val="5AA2FF"/>
          </a:solidFill>
          <a:ln w="12700">
            <a:solidFill>
              <a:srgbClr val="5AA2FF"/>
            </a:solidFill>
            <a:prstDash val="solid"/>
          </a:ln>
        </p:spPr>
      </p:sp>
      <p:sp>
        <p:nvSpPr>
          <p:cNvPr id="13" name="Text 11"/>
          <p:cNvSpPr/>
          <p:nvPr/>
        </p:nvSpPr>
        <p:spPr>
          <a:xfrm>
            <a:off x="3621710" y="2295144"/>
            <a:ext cx="2231822"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Deep learning</a:t>
            </a:r>
            <a:endParaRPr lang="en-US" sz="1785" dirty="0"/>
          </a:p>
        </p:txBody>
      </p:sp>
      <p:sp>
        <p:nvSpPr>
          <p:cNvPr id="14" name="Text 12"/>
          <p:cNvSpPr/>
          <p:nvPr/>
        </p:nvSpPr>
        <p:spPr>
          <a:xfrm>
            <a:off x="3621710" y="269942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Millions of examples. It finds the clues itself.</a:t>
            </a:r>
            <a:endParaRPr lang="en-US" sz="1600" dirty="0"/>
          </a:p>
        </p:txBody>
      </p:sp>
      <p:sp>
        <p:nvSpPr>
          <p:cNvPr id="15" name="Text 13"/>
          <p:cNvSpPr/>
          <p:nvPr/>
        </p:nvSpPr>
        <p:spPr>
          <a:xfrm>
            <a:off x="3621710" y="3650399"/>
            <a:ext cx="2231822" cy="615696"/>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Finding your dog in your photos.</a:t>
            </a:r>
            <a:endParaRPr lang="en-US" sz="1600" dirty="0"/>
          </a:p>
        </p:txBody>
      </p:sp>
      <p:sp>
        <p:nvSpPr>
          <p:cNvPr id="16" name="Shape 14"/>
          <p:cNvSpPr/>
          <p:nvPr/>
        </p:nvSpPr>
        <p:spPr>
          <a:xfrm>
            <a:off x="6210148" y="2103120"/>
            <a:ext cx="2487854" cy="2939110"/>
          </a:xfrm>
          <a:prstGeom prst="roundRect">
            <a:avLst>
              <a:gd name="adj" fmla="val 3675"/>
            </a:avLst>
          </a:prstGeom>
          <a:solidFill>
            <a:srgbClr val="13272B"/>
          </a:solidFill>
          <a:ln w="12700">
            <a:solidFill>
              <a:srgbClr val="13272B"/>
            </a:solidFill>
            <a:prstDash val="solid"/>
          </a:ln>
        </p:spPr>
      </p:sp>
      <p:sp>
        <p:nvSpPr>
          <p:cNvPr id="17" name="Shape 15"/>
          <p:cNvSpPr/>
          <p:nvPr/>
        </p:nvSpPr>
        <p:spPr>
          <a:xfrm>
            <a:off x="6210148" y="2103120"/>
            <a:ext cx="2487854" cy="64008"/>
          </a:xfrm>
          <a:prstGeom prst="rect">
            <a:avLst/>
          </a:prstGeom>
          <a:solidFill>
            <a:srgbClr val="FFC53D"/>
          </a:solidFill>
          <a:ln w="12700">
            <a:solidFill>
              <a:srgbClr val="FFC53D"/>
            </a:solidFill>
            <a:prstDash val="solid"/>
          </a:ln>
        </p:spPr>
      </p:sp>
      <p:sp>
        <p:nvSpPr>
          <p:cNvPr id="18" name="Text 16"/>
          <p:cNvSpPr/>
          <p:nvPr/>
        </p:nvSpPr>
        <p:spPr>
          <a:xfrm>
            <a:off x="6338164" y="2295144"/>
            <a:ext cx="2231822"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Transformers</a:t>
            </a:r>
            <a:endParaRPr lang="en-US" sz="1785" dirty="0"/>
          </a:p>
        </p:txBody>
      </p:sp>
      <p:sp>
        <p:nvSpPr>
          <p:cNvPr id="19" name="Text 17"/>
          <p:cNvSpPr/>
          <p:nvPr/>
        </p:nvSpPr>
        <p:spPr>
          <a:xfrm>
            <a:off x="6338164" y="269942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Every word can "look at" every other word. (2017)</a:t>
            </a:r>
            <a:endParaRPr lang="en-US" sz="1600" dirty="0"/>
          </a:p>
        </p:txBody>
      </p:sp>
      <p:sp>
        <p:nvSpPr>
          <p:cNvPr id="20" name="Text 18"/>
          <p:cNvSpPr/>
          <p:nvPr/>
        </p:nvSpPr>
        <p:spPr>
          <a:xfrm>
            <a:off x="6338164" y="3650399"/>
            <a:ext cx="2231822" cy="896112"/>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"I want </a:t>
            </a:r>
            <a:pPr algn="l" indent="0" marL="0">
              <a:buNone/>
            </a:pPr>
            <a:r>
              <a:rPr lang="en-US" sz="1600" dirty="0">
                <a:solidFill>
                  <a:srgbClr val="01D294"/>
                </a:solidFill>
                <a:latin typeface="Segoe UI" pitchFamily="34" charset="0"/>
                <a:ea typeface="Segoe UI" pitchFamily="34" charset="-122"/>
                <a:cs typeface="Segoe UI" pitchFamily="34" charset="-120"/>
              </a:rPr>
              <a:t>them</a:t>
            </a:r>
            <a:pPr algn="l" indent="0" marL="0">
              <a:buNone/>
            </a:pPr>
            <a:r>
              <a:rPr lang="en-US" sz="1600" dirty="0">
                <a:solidFill>
                  <a:srgbClr val="9DB5B1"/>
                </a:solidFill>
                <a:latin typeface="Segoe UI" pitchFamily="34" charset="0"/>
                <a:ea typeface="Segoe UI" pitchFamily="34" charset="-122"/>
                <a:cs typeface="Segoe UI" pitchFamily="34" charset="-120"/>
              </a:rPr>
              <a:t> replaced": them = the headphones.</a:t>
            </a:r>
            <a:endParaRPr lang="en-US" sz="1600" dirty="0"/>
          </a:p>
        </p:txBody>
      </p:sp>
      <p:sp>
        <p:nvSpPr>
          <p:cNvPr id="21" name="Shape 19"/>
          <p:cNvSpPr/>
          <p:nvPr/>
        </p:nvSpPr>
        <p:spPr>
          <a:xfrm>
            <a:off x="8926601" y="2103120"/>
            <a:ext cx="2487854" cy="2939110"/>
          </a:xfrm>
          <a:prstGeom prst="roundRect">
            <a:avLst>
              <a:gd name="adj" fmla="val 3675"/>
            </a:avLst>
          </a:prstGeom>
          <a:solidFill>
            <a:srgbClr val="13272B"/>
          </a:solidFill>
          <a:ln w="12700">
            <a:solidFill>
              <a:srgbClr val="13272B"/>
            </a:solidFill>
            <a:prstDash val="solid"/>
          </a:ln>
        </p:spPr>
      </p:sp>
      <p:sp>
        <p:nvSpPr>
          <p:cNvPr id="22" name="Shape 20"/>
          <p:cNvSpPr/>
          <p:nvPr/>
        </p:nvSpPr>
        <p:spPr>
          <a:xfrm>
            <a:off x="8926601" y="2103120"/>
            <a:ext cx="2487854" cy="64008"/>
          </a:xfrm>
          <a:prstGeom prst="rect">
            <a:avLst/>
          </a:prstGeom>
          <a:solidFill>
            <a:srgbClr val="B99CFF"/>
          </a:solidFill>
          <a:ln w="12700">
            <a:solidFill>
              <a:srgbClr val="B99CFF"/>
            </a:solidFill>
            <a:prstDash val="solid"/>
          </a:ln>
        </p:spPr>
      </p:sp>
      <p:sp>
        <p:nvSpPr>
          <p:cNvPr id="23" name="Text 21"/>
          <p:cNvSpPr/>
          <p:nvPr/>
        </p:nvSpPr>
        <p:spPr>
          <a:xfrm>
            <a:off x="9054617" y="2295144"/>
            <a:ext cx="2231822" cy="367703"/>
          </a:xfrm>
          <a:prstGeom prst="rect">
            <a:avLst/>
          </a:prstGeom>
          <a:noFill/>
          <a:ln/>
        </p:spPr>
        <p:txBody>
          <a:bodyPr wrap="square" lIns="0" tIns="0" rIns="0" bIns="0" rtlCol="0" anchor="t"/>
          <a:lstStyle/>
          <a:p>
            <a:pPr algn="l" indent="0" marL="0">
              <a:buNone/>
            </a:pPr>
            <a:r>
              <a:rPr lang="en-US" sz="1785" b="1" dirty="0">
                <a:solidFill>
                  <a:srgbClr val="B99CFF"/>
                </a:solidFill>
                <a:latin typeface="Segoe UI" pitchFamily="34" charset="0"/>
                <a:ea typeface="Segoe UI" pitchFamily="34" charset="-122"/>
                <a:cs typeface="Segoe UI" pitchFamily="34" charset="-120"/>
              </a:rPr>
              <a:t>Instruction tuning</a:t>
            </a:r>
            <a:endParaRPr lang="en-US" sz="1785" dirty="0"/>
          </a:p>
        </p:txBody>
      </p:sp>
      <p:sp>
        <p:nvSpPr>
          <p:cNvPr id="24" name="Text 22"/>
          <p:cNvSpPr/>
          <p:nvPr/>
        </p:nvSpPr>
        <p:spPr>
          <a:xfrm>
            <a:off x="9054617" y="269942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Trained on questions and good answers. (about 2022)</a:t>
            </a:r>
            <a:endParaRPr lang="en-US" sz="1600" dirty="0"/>
          </a:p>
        </p:txBody>
      </p:sp>
      <p:sp>
        <p:nvSpPr>
          <p:cNvPr id="25" name="Text 23"/>
          <p:cNvSpPr/>
          <p:nvPr/>
        </p:nvSpPr>
        <p:spPr>
          <a:xfrm>
            <a:off x="9054617" y="3650399"/>
            <a:ext cx="2231822" cy="335280"/>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ChatGPT.</a:t>
            </a:r>
            <a:endParaRPr lang="en-US" sz="1600" dirty="0"/>
          </a:p>
        </p:txBody>
      </p:sp>
      <p:sp>
        <p:nvSpPr>
          <p:cNvPr id="26" name="Shape 24"/>
          <p:cNvSpPr/>
          <p:nvPr/>
        </p:nvSpPr>
        <p:spPr>
          <a:xfrm>
            <a:off x="777240" y="5170246"/>
            <a:ext cx="10637215" cy="868375"/>
          </a:xfrm>
          <a:prstGeom prst="roundRect">
            <a:avLst>
              <a:gd name="adj" fmla="val 10530"/>
            </a:avLst>
          </a:prstGeom>
          <a:solidFill>
            <a:srgbClr val="0D3029"/>
          </a:solidFill>
          <a:ln w="12700">
            <a:solidFill>
              <a:srgbClr val="0D3029"/>
            </a:solidFill>
            <a:prstDash val="solid"/>
          </a:ln>
        </p:spPr>
      </p:sp>
      <p:sp>
        <p:nvSpPr>
          <p:cNvPr id="27" name="Shape 25"/>
          <p:cNvSpPr/>
          <p:nvPr/>
        </p:nvSpPr>
        <p:spPr>
          <a:xfrm>
            <a:off x="777240" y="5170246"/>
            <a:ext cx="82296" cy="868375"/>
          </a:xfrm>
          <a:prstGeom prst="rect">
            <a:avLst/>
          </a:prstGeom>
          <a:solidFill>
            <a:srgbClr val="01D294"/>
          </a:solidFill>
          <a:ln w="12700">
            <a:solidFill>
              <a:srgbClr val="01D294"/>
            </a:solidFill>
            <a:prstDash val="solid"/>
          </a:ln>
        </p:spPr>
      </p:sp>
      <p:sp>
        <p:nvSpPr>
          <p:cNvPr id="28" name="Text 26"/>
          <p:cNvSpPr/>
          <p:nvPr/>
        </p:nvSpPr>
        <p:spPr>
          <a:xfrm>
            <a:off x="1051560" y="5279974"/>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29" name="Text 27"/>
          <p:cNvSpPr/>
          <p:nvPr/>
        </p:nvSpPr>
        <p:spPr>
          <a:xfrm>
            <a:off x="1051560" y="5517718"/>
            <a:ext cx="10225735" cy="356311"/>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Behind the API is a model that </a:t>
            </a:r>
            <a:pPr algn="l" indent="0" marL="0">
              <a:buNone/>
            </a:pPr>
            <a:r>
              <a:rPr lang="en-US" sz="1720" b="1" dirty="0">
                <a:solidFill>
                  <a:srgbClr val="FFFFFF"/>
                </a:solidFill>
                <a:latin typeface="Segoe UI" pitchFamily="34" charset="0"/>
                <a:ea typeface="Segoe UI" pitchFamily="34" charset="-122"/>
                <a:cs typeface="Segoe UI" pitchFamily="34" charset="-120"/>
              </a:rPr>
              <a:t>predicts the next bit of text</a:t>
            </a:r>
            <a:pPr algn="l" indent="0" marL="0">
              <a:buNone/>
            </a:pPr>
            <a:r>
              <a:rPr lang="en-US" sz="1720" dirty="0">
                <a:solidFill>
                  <a:srgbClr val="EEF6F3"/>
                </a:solidFill>
                <a:latin typeface="Segoe UI" pitchFamily="34" charset="0"/>
                <a:ea typeface="Segoe UI" pitchFamily="34" charset="-122"/>
                <a:cs typeface="Segoe UI" pitchFamily="34" charset="-120"/>
              </a:rPr>
              <a:t>, trained to be helpful.</a:t>
            </a:r>
            <a:endParaRPr lang="en-US" sz="1720" dirty="0"/>
          </a:p>
        </p:txBody>
      </p:sp>
      <p:sp>
        <p:nvSpPr>
          <p:cNvPr id="30" name="Text 28"/>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31" name="Text 29"/>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16 / 32</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An LLM call is just another API call</a:t>
            </a:r>
            <a:endParaRPr lang="en-US" sz="3000" dirty="0"/>
          </a:p>
        </p:txBody>
      </p:sp>
      <p:sp>
        <p:nvSpPr>
          <p:cNvPr id="6" name="Text 4"/>
          <p:cNvSpPr/>
          <p:nvPr/>
        </p:nvSpPr>
        <p:spPr>
          <a:xfrm>
            <a:off x="777240"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You send</a:t>
            </a:r>
            <a:endParaRPr lang="en-US" sz="2100" dirty="0"/>
          </a:p>
        </p:txBody>
      </p:sp>
      <p:sp>
        <p:nvSpPr>
          <p:cNvPr id="7" name="Shape 5"/>
          <p:cNvSpPr/>
          <p:nvPr/>
        </p:nvSpPr>
        <p:spPr>
          <a:xfrm>
            <a:off x="777240" y="2091690"/>
            <a:ext cx="5135728" cy="2422017"/>
          </a:xfrm>
          <a:prstGeom prst="roundRect">
            <a:avLst>
              <a:gd name="adj" fmla="val 4530"/>
            </a:avLst>
          </a:prstGeom>
          <a:solidFill>
            <a:srgbClr val="13272B"/>
          </a:solidFill>
          <a:ln w="9525">
            <a:solidFill>
              <a:srgbClr val="24413F"/>
            </a:solidFill>
            <a:prstDash val="solid"/>
          </a:ln>
        </p:spPr>
      </p:sp>
      <p:sp>
        <p:nvSpPr>
          <p:cNvPr id="8" name="Text 6"/>
          <p:cNvSpPr/>
          <p:nvPr/>
        </p:nvSpPr>
        <p:spPr>
          <a:xfrm>
            <a:off x="960120" y="2201418"/>
            <a:ext cx="4769968" cy="2239137"/>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"model": "gemini-3.5-flash-lite",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"messages":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{"role": "system",</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"content": "Keep answers short."},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{"role": "user",</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"content": "What is an API?"}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p:txBody>
      </p:sp>
      <p:sp>
        <p:nvSpPr>
          <p:cNvPr id="9" name="Text 7"/>
          <p:cNvSpPr/>
          <p:nvPr/>
        </p:nvSpPr>
        <p:spPr>
          <a:xfrm>
            <a:off x="6278728"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You get back</a:t>
            </a:r>
            <a:endParaRPr lang="en-US" sz="2100" dirty="0"/>
          </a:p>
        </p:txBody>
      </p:sp>
      <p:sp>
        <p:nvSpPr>
          <p:cNvPr id="10" name="Shape 8"/>
          <p:cNvSpPr/>
          <p:nvPr/>
        </p:nvSpPr>
        <p:spPr>
          <a:xfrm>
            <a:off x="6278728" y="2091690"/>
            <a:ext cx="5135728" cy="2185416"/>
          </a:xfrm>
          <a:prstGeom prst="roundRect">
            <a:avLst>
              <a:gd name="adj" fmla="val 5021"/>
            </a:avLst>
          </a:prstGeom>
          <a:solidFill>
            <a:srgbClr val="13272B"/>
          </a:solidFill>
          <a:ln w="9525">
            <a:solidFill>
              <a:srgbClr val="24413F"/>
            </a:solidFill>
            <a:prstDash val="solid"/>
          </a:ln>
        </p:spPr>
      </p:sp>
      <p:sp>
        <p:nvSpPr>
          <p:cNvPr id="11" name="Text 9"/>
          <p:cNvSpPr/>
          <p:nvPr/>
        </p:nvSpPr>
        <p:spPr>
          <a:xfrm>
            <a:off x="6461608" y="2201418"/>
            <a:ext cx="4769968" cy="2002536"/>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"choices": [{"message":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"content": "A set of rules that…"}}],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"usage":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"prompt_tokens": 31,</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"completion_tokens": 24</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p:txBody>
      </p:sp>
      <p:sp>
        <p:nvSpPr>
          <p:cNvPr id="12" name="Text 10"/>
          <p:cNvSpPr/>
          <p:nvPr/>
        </p:nvSpPr>
        <p:spPr>
          <a:xfrm>
            <a:off x="777240" y="4733163"/>
            <a:ext cx="10637215" cy="650748"/>
          </a:xfrm>
          <a:prstGeom prst="rect">
            <a:avLst/>
          </a:prstGeom>
          <a:noFill/>
          <a:ln/>
        </p:spPr>
        <p:txBody>
          <a:bodyPr wrap="square" lIns="0" tIns="0" rIns="0" bIns="0" rtlCol="0" anchor="t"/>
          <a:lstStyle/>
          <a:p>
            <a:pPr algn="l" indent="0" marL="0">
              <a:buNone/>
            </a:pPr>
            <a:r>
              <a:rPr lang="en-US" sz="1700" b="1" dirty="0">
                <a:solidFill>
                  <a:srgbClr val="FFFFFF"/>
                </a:solidFill>
                <a:latin typeface="Segoe UI" pitchFamily="34" charset="0"/>
                <a:ea typeface="Segoe UI" pitchFamily="34" charset="-122"/>
                <a:cs typeface="Segoe UI" pitchFamily="34" charset="-120"/>
              </a:rPr>
              <a:t>system</a:t>
            </a:r>
            <a:pPr algn="l" indent="0" marL="0">
              <a:buNone/>
            </a:pPr>
            <a:r>
              <a:rPr lang="en-US" sz="1700" dirty="0">
                <a:solidFill>
                  <a:srgbClr val="EEF6F3"/>
                </a:solidFill>
                <a:latin typeface="Segoe UI" pitchFamily="34" charset="0"/>
                <a:ea typeface="Segoe UI" pitchFamily="34" charset="-122"/>
                <a:cs typeface="Segoe UI" pitchFamily="34" charset="-120"/>
              </a:rPr>
              <a:t> sets the rules · </a:t>
            </a:r>
            <a:pPr algn="l" indent="0" marL="0">
              <a:buNone/>
            </a:pPr>
            <a:r>
              <a:rPr lang="en-US" sz="1700" b="1" dirty="0">
                <a:solidFill>
                  <a:srgbClr val="FFFFFF"/>
                </a:solidFill>
                <a:latin typeface="Segoe UI" pitchFamily="34" charset="0"/>
                <a:ea typeface="Segoe UI" pitchFamily="34" charset="-122"/>
                <a:cs typeface="Segoe UI" pitchFamily="34" charset="-120"/>
              </a:rPr>
              <a:t>user</a:t>
            </a:r>
            <a:pPr algn="l" indent="0" marL="0">
              <a:buNone/>
            </a:pPr>
            <a:r>
              <a:rPr lang="en-US" sz="1700" dirty="0">
                <a:solidFill>
                  <a:srgbClr val="EEF6F3"/>
                </a:solidFill>
                <a:latin typeface="Segoe UI" pitchFamily="34" charset="0"/>
                <a:ea typeface="Segoe UI" pitchFamily="34" charset="-122"/>
                <a:cs typeface="Segoe UI" pitchFamily="34" charset="-120"/>
              </a:rPr>
              <a:t> asks · </a:t>
            </a:r>
            <a:pPr algn="l" indent="0" marL="0">
              <a:buNone/>
            </a:pPr>
            <a:r>
              <a:rPr lang="en-US" sz="1700" b="1" dirty="0">
                <a:solidFill>
                  <a:srgbClr val="FFFFFF"/>
                </a:solidFill>
                <a:latin typeface="Segoe UI" pitchFamily="34" charset="0"/>
                <a:ea typeface="Segoe UI" pitchFamily="34" charset="-122"/>
                <a:cs typeface="Segoe UI" pitchFamily="34" charset="-120"/>
              </a:rPr>
              <a:t>usage</a:t>
            </a:r>
            <a:pPr algn="l" indent="0" marL="0">
              <a:buNone/>
            </a:pPr>
            <a:r>
              <a:rPr lang="en-US" sz="1700" dirty="0">
                <a:solidFill>
                  <a:srgbClr val="EEF6F3"/>
                </a:solidFill>
                <a:latin typeface="Segoe UI" pitchFamily="34" charset="0"/>
                <a:ea typeface="Segoe UI" pitchFamily="34" charset="-122"/>
                <a:cs typeface="Segoe UI" pitchFamily="34" charset="-120"/>
              </a:rPr>
              <a:t>: how many tokens (chunks of text, step 06) went in and out. That's the bill.</a:t>
            </a:r>
            <a:endParaRPr lang="en-US" sz="1700" dirty="0"/>
          </a:p>
        </p:txBody>
      </p:sp>
      <p:sp>
        <p:nvSpPr>
          <p:cNvPr id="13" name="Text 11"/>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4" name="Text 12"/>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17 / 32</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One SDK, three addresses</a:t>
            </a:r>
            <a:endParaRPr lang="en-US" sz="30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5952" y="1577340"/>
            <a:ext cx="10139791" cy="3041937"/>
          </a:xfrm>
          <a:prstGeom prst="rect">
            <a:avLst/>
          </a:prstGeom>
        </p:spPr>
      </p:pic>
      <p:sp>
        <p:nvSpPr>
          <p:cNvPr id="7" name="Text 4"/>
          <p:cNvSpPr/>
          <p:nvPr/>
        </p:nvSpPr>
        <p:spPr>
          <a:xfrm>
            <a:off x="777240" y="4838733"/>
            <a:ext cx="10637215" cy="650748"/>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A provider is </a:t>
            </a:r>
            <a:pPr algn="l" indent="0" marL="0">
              <a:buNone/>
            </a:pPr>
            <a:r>
              <a:rPr lang="en-US" sz="1700" b="1" dirty="0">
                <a:solidFill>
                  <a:srgbClr val="FFFFFF"/>
                </a:solidFill>
                <a:latin typeface="Segoe UI" pitchFamily="34" charset="0"/>
                <a:ea typeface="Segoe UI" pitchFamily="34" charset="-122"/>
                <a:cs typeface="Segoe UI" pitchFamily="34" charset="-120"/>
              </a:rPr>
              <a:t>an address plus a key</a:t>
            </a:r>
            <a:pPr algn="l" indent="0" marL="0">
              <a:buNone/>
            </a:pPr>
            <a:r>
              <a:rPr lang="en-US" sz="1700" dirty="0">
                <a:solidFill>
                  <a:srgbClr val="EEF6F3"/>
                </a:solidFill>
                <a:latin typeface="Segoe UI" pitchFamily="34" charset="0"/>
                <a:ea typeface="Segoe UI" pitchFamily="34" charset="-122"/>
                <a:cs typeface="Segoe UI" pitchFamily="34" charset="-120"/>
              </a:rPr>
              <a:t>. Change those two, pick one of that provider's model names, and the same code talks to a different company's model.</a:t>
            </a:r>
            <a:endParaRPr lang="en-US" sz="1700" dirty="0"/>
          </a:p>
        </p:txBody>
      </p:sp>
      <p:sp>
        <p:nvSpPr>
          <p:cNvPr id="8" name="Text 5"/>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9" name="Text 6"/>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18 / 32</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All the code it takes</a:t>
            </a:r>
            <a:endParaRPr lang="en-US" sz="3000" dirty="0"/>
          </a:p>
        </p:txBody>
      </p:sp>
      <p:sp>
        <p:nvSpPr>
          <p:cNvPr id="6" name="Shape 4"/>
          <p:cNvSpPr/>
          <p:nvPr/>
        </p:nvSpPr>
        <p:spPr>
          <a:xfrm>
            <a:off x="777240" y="1577340"/>
            <a:ext cx="10637215" cy="3874159"/>
          </a:xfrm>
          <a:prstGeom prst="roundRect">
            <a:avLst>
              <a:gd name="adj" fmla="val 2832"/>
            </a:avLst>
          </a:prstGeom>
          <a:solidFill>
            <a:srgbClr val="13272B"/>
          </a:solidFill>
          <a:ln w="9525">
            <a:solidFill>
              <a:srgbClr val="24413F"/>
            </a:solidFill>
            <a:prstDash val="solid"/>
          </a:ln>
        </p:spPr>
      </p:sp>
      <p:sp>
        <p:nvSpPr>
          <p:cNvPr id="7" name="Text 5"/>
          <p:cNvSpPr/>
          <p:nvPr/>
        </p:nvSpPr>
        <p:spPr>
          <a:xfrm>
            <a:off x="960120" y="1687068"/>
            <a:ext cx="10271455" cy="3691279"/>
          </a:xfrm>
          <a:prstGeom prst="rect">
            <a:avLst/>
          </a:prstGeom>
          <a:noFill/>
          <a:ln/>
        </p:spPr>
        <p:txBody>
          <a:bodyPr wrap="square" lIns="0" tIns="0" rIns="0" bIns="0" rtlCol="0" anchor="t"/>
          <a:lstStyle/>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import os</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from dotenv import load_dotenv</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from openai import OpenAI</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 </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 1 · the address and the key (load_dotenv reads .env, as on the secrets slide)</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load_dotenv()</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key = os.environ["OPENROUTER_API_KEY"]</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client = OpenAI(base_url="https://openrouter.ai/api/v1", api_key=key)</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 </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 2 · one call: a model name and the messages</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response = client.chat.completions.create(</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    model="openrouter/free",</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    messages=[{"role": "system", "content": "Keep answers short."},</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              {"role": "user", "content": "Explain an API in one sentence."}],</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 3 · the reply, and the two token counts</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print(response.choices[0].message.content)</a:t>
            </a:r>
            <a:endParaRPr lang="en-US" sz="1135" dirty="0"/>
          </a:p>
          <a:p>
            <a:pPr indent="0" marL="0">
              <a:lnSpc>
                <a:spcPct val="115000"/>
              </a:lnSpc>
              <a:buNone/>
            </a:pPr>
            <a:r>
              <a:rPr lang="en-US" sz="1135" dirty="0">
                <a:solidFill>
                  <a:srgbClr val="D8FFF0"/>
                </a:solidFill>
                <a:latin typeface="Consolas" pitchFamily="34" charset="0"/>
                <a:ea typeface="Consolas" pitchFamily="34" charset="-122"/>
                <a:cs typeface="Consolas" pitchFamily="34" charset="-120"/>
              </a:rPr>
              <a:t>print(response.usage.prompt_tokens, response.usage.completion_tokens)</a:t>
            </a:r>
            <a:endParaRPr lang="en-US" sz="1135" dirty="0"/>
          </a:p>
        </p:txBody>
      </p:sp>
      <p:sp>
        <p:nvSpPr>
          <p:cNvPr id="8" name="Text 6"/>
          <p:cNvSpPr/>
          <p:nvPr/>
        </p:nvSpPr>
        <p:spPr>
          <a:xfrm>
            <a:off x="777240" y="5579515"/>
            <a:ext cx="10637215" cy="555986"/>
          </a:xfrm>
          <a:prstGeom prst="rect">
            <a:avLst/>
          </a:prstGeom>
          <a:noFill/>
          <a:ln/>
        </p:spPr>
        <p:txBody>
          <a:bodyPr wrap="square" lIns="0" tIns="0" rIns="0" bIns="0" rtlCol="0" anchor="t"/>
          <a:lstStyle/>
          <a:p>
            <a:pPr algn="l" indent="0" marL="0">
              <a:buNone/>
            </a:pPr>
            <a:r>
              <a:rPr lang="en-US" sz="1430" dirty="0">
                <a:solidFill>
                  <a:srgbClr val="EEF6F3"/>
                </a:solidFill>
                <a:latin typeface="Segoe UI" pitchFamily="34" charset="0"/>
                <a:ea typeface="Segoe UI" pitchFamily="34" charset="-122"/>
                <a:cs typeface="Segoe UI" pitchFamily="34" charset="-120"/>
              </a:rPr>
              <a:t>A minimal version to read, not a file in the kit. The kit's </a:t>
            </a:r>
            <a:pPr algn="l" indent="0" marL="0">
              <a:buNone/>
            </a:pPr>
            <a:r>
              <a:rPr lang="en-US" sz="1260" dirty="0">
                <a:solidFill>
                  <a:srgbClr val="D8FFF0"/>
                </a:solidFill>
                <a:latin typeface="Consolas" pitchFamily="34" charset="0"/>
                <a:ea typeface="Consolas" pitchFamily="34" charset="-122"/>
                <a:cs typeface="Consolas" pitchFamily="34" charset="-120"/>
              </a:rPr>
              <a:t>code/chat.py</a:t>
            </a:r>
            <a:pPr algn="l" indent="0" marL="0">
              <a:buNone/>
            </a:pPr>
            <a:r>
              <a:rPr lang="en-US" sz="1430" dirty="0">
                <a:solidFill>
                  <a:srgbClr val="EEF6F3"/>
                </a:solidFill>
                <a:latin typeface="Segoe UI" pitchFamily="34" charset="0"/>
                <a:ea typeface="Segoe UI" pitchFamily="34" charset="-122"/>
                <a:cs typeface="Segoe UI" pitchFamily="34" charset="-120"/>
              </a:rPr>
              <a:t> does the same, with a </a:t>
            </a:r>
            <a:pPr algn="l" indent="0" marL="0">
              <a:buNone/>
            </a:pPr>
            <a:r>
              <a:rPr lang="en-US" sz="1260" dirty="0">
                <a:solidFill>
                  <a:srgbClr val="D8FFF0"/>
                </a:solidFill>
                <a:latin typeface="Consolas" pitchFamily="34" charset="0"/>
                <a:ea typeface="Consolas" pitchFamily="34" charset="-122"/>
                <a:cs typeface="Consolas" pitchFamily="34" charset="-120"/>
              </a:rPr>
              <a:t>--provider</a:t>
            </a:r>
            <a:pPr algn="l" indent="0" marL="0">
              <a:buNone/>
            </a:pPr>
            <a:r>
              <a:rPr lang="en-US" sz="1430" dirty="0">
                <a:solidFill>
                  <a:srgbClr val="EEF6F3"/>
                </a:solidFill>
                <a:latin typeface="Segoe UI" pitchFamily="34" charset="0"/>
                <a:ea typeface="Segoe UI" pitchFamily="34" charset="-122"/>
                <a:cs typeface="Segoe UI" pitchFamily="34" charset="-120"/>
              </a:rPr>
              <a:t> switch and friendly error messages.</a:t>
            </a:r>
            <a:endParaRPr lang="en-US" sz="143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19 / 32</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2331720"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STEPS 04 AND 05</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Three free ways to practise</a:t>
            </a:r>
            <a:endParaRPr lang="en-US" sz="3000" dirty="0"/>
          </a:p>
        </p:txBody>
      </p:sp>
      <p:sp>
        <p:nvSpPr>
          <p:cNvPr id="6" name="Shape 4"/>
          <p:cNvSpPr/>
          <p:nvPr/>
        </p:nvSpPr>
        <p:spPr>
          <a:xfrm>
            <a:off x="777240" y="1577340"/>
            <a:ext cx="3393338" cy="2261730"/>
          </a:xfrm>
          <a:prstGeom prst="roundRect">
            <a:avLst>
              <a:gd name="adj" fmla="val 4043"/>
            </a:avLst>
          </a:prstGeom>
          <a:solidFill>
            <a:srgbClr val="13272B"/>
          </a:solidFill>
          <a:ln w="12700">
            <a:solidFill>
              <a:srgbClr val="13272B"/>
            </a:solidFill>
            <a:prstDash val="solid"/>
          </a:ln>
        </p:spPr>
      </p:sp>
      <p:sp>
        <p:nvSpPr>
          <p:cNvPr id="7" name="Shape 5"/>
          <p:cNvSpPr/>
          <p:nvPr/>
        </p:nvSpPr>
        <p:spPr>
          <a:xfrm>
            <a:off x="777240" y="1577340"/>
            <a:ext cx="3393338" cy="64008"/>
          </a:xfrm>
          <a:prstGeom prst="rect">
            <a:avLst/>
          </a:prstGeom>
          <a:solidFill>
            <a:srgbClr val="01D294"/>
          </a:solidFill>
          <a:ln w="12700">
            <a:solidFill>
              <a:srgbClr val="01D294"/>
            </a:solidFill>
            <a:prstDash val="solid"/>
          </a:ln>
        </p:spPr>
      </p:sp>
      <p:sp>
        <p:nvSpPr>
          <p:cNvPr id="8" name="Text 6"/>
          <p:cNvSpPr/>
          <p:nvPr/>
        </p:nvSpPr>
        <p:spPr>
          <a:xfrm>
            <a:off x="905256" y="1769364"/>
            <a:ext cx="3137306" cy="367703"/>
          </a:xfrm>
          <a:prstGeom prst="rect">
            <a:avLst/>
          </a:prstGeom>
          <a:noFill/>
          <a:ln/>
        </p:spPr>
        <p:txBody>
          <a:bodyPr wrap="square" lIns="0" tIns="0" rIns="0" bIns="0" rtlCol="0" anchor="t"/>
          <a:lstStyle/>
          <a:p>
            <a:pPr algn="l" indent="0" marL="0">
              <a:buNone/>
            </a:pPr>
            <a:r>
              <a:rPr lang="en-US" sz="1785" b="1" dirty="0">
                <a:solidFill>
                  <a:srgbClr val="01D294"/>
                </a:solidFill>
                <a:latin typeface="Segoe UI" pitchFamily="34" charset="0"/>
                <a:ea typeface="Segoe UI" pitchFamily="34" charset="-122"/>
                <a:cs typeface="Segoe UI" pitchFamily="34" charset="-120"/>
              </a:rPr>
              <a:t>Gemini</a:t>
            </a:r>
            <a:endParaRPr lang="en-US" sz="1785" dirty="0"/>
          </a:p>
        </p:txBody>
      </p:sp>
      <p:sp>
        <p:nvSpPr>
          <p:cNvPr id="9" name="Text 7"/>
          <p:cNvSpPr/>
          <p:nvPr/>
        </p:nvSpPr>
        <p:spPr>
          <a:xfrm>
            <a:off x="905256" y="2173643"/>
            <a:ext cx="313730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Key from </a:t>
            </a:r>
            <a:pPr algn="l" indent="0" marL="0">
              <a:buNone/>
            </a:pPr>
            <a:r>
              <a:rPr lang="en-US" sz="1410" dirty="0">
                <a:solidFill>
                  <a:srgbClr val="D8FFF0"/>
                </a:solidFill>
                <a:latin typeface="Consolas" pitchFamily="34" charset="0"/>
                <a:ea typeface="Consolas" pitchFamily="34" charset="-122"/>
                <a:cs typeface="Consolas" pitchFamily="34" charset="-120"/>
              </a:rPr>
              <a:t>aistudio.google.com/apikey</a:t>
            </a:r>
            <a:pPr algn="l" indent="0" marL="0">
              <a:buNone/>
            </a:pPr>
            <a:r>
              <a:rPr lang="en-US" sz="1600" dirty="0">
                <a:solidFill>
                  <a:srgbClr val="EEF6F3"/>
                </a:solidFill>
                <a:latin typeface="Segoe UI" pitchFamily="34" charset="0"/>
                <a:ea typeface="Segoe UI" pitchFamily="34" charset="-122"/>
                <a:cs typeface="Segoe UI" pitchFamily="34" charset="-120"/>
              </a:rPr>
              <a:t>. No card needed.</a:t>
            </a:r>
            <a:endParaRPr lang="en-US" sz="1600" dirty="0"/>
          </a:p>
        </p:txBody>
      </p:sp>
      <p:sp>
        <p:nvSpPr>
          <p:cNvPr id="10" name="Text 8"/>
          <p:cNvSpPr/>
          <p:nvPr/>
        </p:nvSpPr>
        <p:spPr>
          <a:xfrm>
            <a:off x="905256" y="2844203"/>
            <a:ext cx="3137306" cy="769925"/>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Free tier: Google may use what you send. Practise only on the Nimbus tickets.</a:t>
            </a:r>
            <a:endParaRPr lang="en-US" sz="1360" dirty="0"/>
          </a:p>
        </p:txBody>
      </p:sp>
      <p:sp>
        <p:nvSpPr>
          <p:cNvPr id="11" name="Shape 9"/>
          <p:cNvSpPr/>
          <p:nvPr/>
        </p:nvSpPr>
        <p:spPr>
          <a:xfrm>
            <a:off x="4399178" y="1577340"/>
            <a:ext cx="3393338" cy="2261730"/>
          </a:xfrm>
          <a:prstGeom prst="roundRect">
            <a:avLst>
              <a:gd name="adj" fmla="val 4043"/>
            </a:avLst>
          </a:prstGeom>
          <a:solidFill>
            <a:srgbClr val="13272B"/>
          </a:solidFill>
          <a:ln w="12700">
            <a:solidFill>
              <a:srgbClr val="13272B"/>
            </a:solidFill>
            <a:prstDash val="solid"/>
          </a:ln>
        </p:spPr>
      </p:sp>
      <p:sp>
        <p:nvSpPr>
          <p:cNvPr id="12" name="Shape 10"/>
          <p:cNvSpPr/>
          <p:nvPr/>
        </p:nvSpPr>
        <p:spPr>
          <a:xfrm>
            <a:off x="4399178" y="1577340"/>
            <a:ext cx="3393338" cy="64008"/>
          </a:xfrm>
          <a:prstGeom prst="rect">
            <a:avLst/>
          </a:prstGeom>
          <a:solidFill>
            <a:srgbClr val="5AA2FF"/>
          </a:solidFill>
          <a:ln w="12700">
            <a:solidFill>
              <a:srgbClr val="5AA2FF"/>
            </a:solidFill>
            <a:prstDash val="solid"/>
          </a:ln>
        </p:spPr>
      </p:sp>
      <p:sp>
        <p:nvSpPr>
          <p:cNvPr id="13" name="Text 11"/>
          <p:cNvSpPr/>
          <p:nvPr/>
        </p:nvSpPr>
        <p:spPr>
          <a:xfrm>
            <a:off x="4527194" y="1769364"/>
            <a:ext cx="3137306"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OpenRouter</a:t>
            </a:r>
            <a:endParaRPr lang="en-US" sz="1785" dirty="0"/>
          </a:p>
        </p:txBody>
      </p:sp>
      <p:sp>
        <p:nvSpPr>
          <p:cNvPr id="14" name="Text 12"/>
          <p:cNvSpPr/>
          <p:nvPr/>
        </p:nvSpPr>
        <p:spPr>
          <a:xfrm>
            <a:off x="4527194" y="2173643"/>
            <a:ext cx="3137306"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One key, hundreds of models. </a:t>
            </a:r>
            <a:pPr algn="l" indent="0" marL="0">
              <a:buNone/>
            </a:pPr>
            <a:r>
              <a:rPr lang="en-US" sz="1410" dirty="0">
                <a:solidFill>
                  <a:srgbClr val="D8FFF0"/>
                </a:solidFill>
                <a:latin typeface="Consolas" pitchFamily="34" charset="0"/>
                <a:ea typeface="Consolas" pitchFamily="34" charset="-122"/>
                <a:cs typeface="Consolas" pitchFamily="34" charset="-120"/>
              </a:rPr>
              <a:t>openrouter/free</a:t>
            </a:r>
            <a:pPr algn="l" indent="0" marL="0">
              <a:buNone/>
            </a:pPr>
            <a:r>
              <a:rPr lang="en-US" sz="1600" dirty="0">
                <a:solidFill>
                  <a:srgbClr val="EEF6F3"/>
                </a:solidFill>
                <a:latin typeface="Segoe UI" pitchFamily="34" charset="0"/>
                <a:ea typeface="Segoe UI" pitchFamily="34" charset="-122"/>
                <a:cs typeface="Segoe UI" pitchFamily="34" charset="-120"/>
              </a:rPr>
              <a:t> picks a free one.</a:t>
            </a:r>
            <a:endParaRPr lang="en-US" sz="1600" dirty="0"/>
          </a:p>
        </p:txBody>
      </p:sp>
      <p:sp>
        <p:nvSpPr>
          <p:cNvPr id="15" name="Text 13"/>
          <p:cNvSpPr/>
          <p:nvPr/>
        </p:nvSpPr>
        <p:spPr>
          <a:xfrm>
            <a:off x="4527194" y="3124619"/>
            <a:ext cx="3137306" cy="531571"/>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About 50 free requests a day without credit.</a:t>
            </a:r>
            <a:endParaRPr lang="en-US" sz="1360" dirty="0"/>
          </a:p>
        </p:txBody>
      </p:sp>
      <p:sp>
        <p:nvSpPr>
          <p:cNvPr id="16" name="Shape 14"/>
          <p:cNvSpPr/>
          <p:nvPr/>
        </p:nvSpPr>
        <p:spPr>
          <a:xfrm>
            <a:off x="8021117" y="1577340"/>
            <a:ext cx="3393338" cy="2261730"/>
          </a:xfrm>
          <a:prstGeom prst="roundRect">
            <a:avLst>
              <a:gd name="adj" fmla="val 4043"/>
            </a:avLst>
          </a:prstGeom>
          <a:solidFill>
            <a:srgbClr val="13272B"/>
          </a:solidFill>
          <a:ln w="12700">
            <a:solidFill>
              <a:srgbClr val="13272B"/>
            </a:solidFill>
            <a:prstDash val="solid"/>
          </a:ln>
        </p:spPr>
      </p:sp>
      <p:sp>
        <p:nvSpPr>
          <p:cNvPr id="17" name="Shape 15"/>
          <p:cNvSpPr/>
          <p:nvPr/>
        </p:nvSpPr>
        <p:spPr>
          <a:xfrm>
            <a:off x="8021117" y="1577340"/>
            <a:ext cx="3393338" cy="64008"/>
          </a:xfrm>
          <a:prstGeom prst="rect">
            <a:avLst/>
          </a:prstGeom>
          <a:solidFill>
            <a:srgbClr val="FFC53D"/>
          </a:solidFill>
          <a:ln w="12700">
            <a:solidFill>
              <a:srgbClr val="FFC53D"/>
            </a:solidFill>
            <a:prstDash val="solid"/>
          </a:ln>
        </p:spPr>
      </p:sp>
      <p:sp>
        <p:nvSpPr>
          <p:cNvPr id="18" name="Text 16"/>
          <p:cNvSpPr/>
          <p:nvPr/>
        </p:nvSpPr>
        <p:spPr>
          <a:xfrm>
            <a:off x="8149133" y="1769364"/>
            <a:ext cx="3137306"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Ollama</a:t>
            </a:r>
            <a:endParaRPr lang="en-US" sz="1785" dirty="0"/>
          </a:p>
        </p:txBody>
      </p:sp>
      <p:sp>
        <p:nvSpPr>
          <p:cNvPr id="19" name="Text 17"/>
          <p:cNvSpPr/>
          <p:nvPr/>
        </p:nvSpPr>
        <p:spPr>
          <a:xfrm>
            <a:off x="8149133" y="2173643"/>
            <a:ext cx="313730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Runs on your laptop. No key, works offline, costs nothing.</a:t>
            </a:r>
            <a:endParaRPr lang="en-US" sz="1600" dirty="0"/>
          </a:p>
        </p:txBody>
      </p:sp>
      <p:sp>
        <p:nvSpPr>
          <p:cNvPr id="20" name="Text 18"/>
          <p:cNvSpPr/>
          <p:nvPr/>
        </p:nvSpPr>
        <p:spPr>
          <a:xfrm>
            <a:off x="8149133" y="2844203"/>
            <a:ext cx="3137306" cy="531571"/>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Much weaker than the cloud models, and slower on old laptops.</a:t>
            </a:r>
            <a:endParaRPr lang="en-US" sz="1360" dirty="0"/>
          </a:p>
        </p:txBody>
      </p:sp>
      <p:sp>
        <p:nvSpPr>
          <p:cNvPr id="21" name="Shape 19"/>
          <p:cNvSpPr/>
          <p:nvPr/>
        </p:nvSpPr>
        <p:spPr>
          <a:xfrm>
            <a:off x="777240" y="3967086"/>
            <a:ext cx="10637215" cy="868375"/>
          </a:xfrm>
          <a:prstGeom prst="roundRect">
            <a:avLst>
              <a:gd name="adj" fmla="val 10530"/>
            </a:avLst>
          </a:prstGeom>
          <a:solidFill>
            <a:srgbClr val="3A1C1F"/>
          </a:solidFill>
          <a:ln w="12700">
            <a:solidFill>
              <a:srgbClr val="3A1C1F"/>
            </a:solidFill>
            <a:prstDash val="solid"/>
          </a:ln>
        </p:spPr>
      </p:sp>
      <p:sp>
        <p:nvSpPr>
          <p:cNvPr id="22" name="Shape 20"/>
          <p:cNvSpPr/>
          <p:nvPr/>
        </p:nvSpPr>
        <p:spPr>
          <a:xfrm>
            <a:off x="777240" y="3967086"/>
            <a:ext cx="82296" cy="868375"/>
          </a:xfrm>
          <a:prstGeom prst="rect">
            <a:avLst/>
          </a:prstGeom>
          <a:solidFill>
            <a:srgbClr val="FF7A7A"/>
          </a:solidFill>
          <a:ln w="12700">
            <a:solidFill>
              <a:srgbClr val="FF7A7A"/>
            </a:solidFill>
            <a:prstDash val="solid"/>
          </a:ln>
        </p:spPr>
      </p:sp>
      <p:sp>
        <p:nvSpPr>
          <p:cNvPr id="23" name="Text 21"/>
          <p:cNvSpPr/>
          <p:nvPr/>
        </p:nvSpPr>
        <p:spPr>
          <a:xfrm>
            <a:off x="1051560" y="4076814"/>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WATCH OUT</a:t>
            </a:r>
            <a:endParaRPr lang="en-US" sz="1050" dirty="0"/>
          </a:p>
        </p:txBody>
      </p:sp>
      <p:sp>
        <p:nvSpPr>
          <p:cNvPr id="24" name="Text 22"/>
          <p:cNvSpPr/>
          <p:nvPr/>
        </p:nvSpPr>
        <p:spPr>
          <a:xfrm>
            <a:off x="1051560" y="4314558"/>
            <a:ext cx="10225735" cy="356311"/>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These are for practice. The course needs a paid OpenAI or Azure OpenAI key (step 08).</a:t>
            </a:r>
            <a:endParaRPr lang="en-US" sz="1720" dirty="0"/>
          </a:p>
        </p:txBody>
      </p:sp>
      <p:sp>
        <p:nvSpPr>
          <p:cNvPr id="25" name="Text 23"/>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26" name="Text 24"/>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20 / 32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FFC53D"/>
          </a:solidFill>
          <a:ln w="12700">
            <a:solidFill>
              <a:srgbClr val="FFC53D"/>
            </a:solidFill>
            <a:prstDash val="solid"/>
          </a:ln>
        </p:spPr>
      </p:sp>
      <p:sp>
        <p:nvSpPr>
          <p:cNvPr id="5" name="Text 3"/>
          <p:cNvSpPr/>
          <p:nvPr/>
        </p:nvSpPr>
        <p:spPr>
          <a:xfrm>
            <a:off x="10408615" y="411480"/>
            <a:ext cx="1005840" cy="329184"/>
          </a:xfrm>
          <a:prstGeom prst="roundRect">
            <a:avLst>
              <a:gd name="adj" fmla="val 22222"/>
            </a:avLst>
          </a:prstGeom>
          <a:solidFill>
            <a:srgbClr val="FFC53D"/>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LAB</a:t>
            </a:r>
            <a:endParaRPr lang="en-US" sz="1200" dirty="0"/>
          </a:p>
        </p:txBody>
      </p:sp>
      <p:sp>
        <p:nvSpPr>
          <p:cNvPr id="6" name="Text 4"/>
          <p:cNvSpPr/>
          <p:nvPr/>
        </p:nvSpPr>
        <p:spPr>
          <a:xfrm>
            <a:off x="777240" y="457200"/>
            <a:ext cx="1179576" cy="274320"/>
          </a:xfrm>
          <a:prstGeom prst="roundRect">
            <a:avLst>
              <a:gd name="adj" fmla="val 50000"/>
            </a:avLst>
          </a:prstGeom>
          <a:solidFill>
            <a:srgbClr val="FFC53D"/>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TRY IT</a:t>
            </a:r>
            <a:endParaRPr lang="en-US" sz="1100" dirty="0"/>
          </a:p>
        </p:txBody>
      </p:sp>
      <p:sp>
        <p:nvSpPr>
          <p:cNvPr id="7" name="Text 5"/>
          <p:cNvSpPr/>
          <p:nvPr/>
        </p:nvSpPr>
        <p:spPr>
          <a:xfrm>
            <a:off x="777240" y="841248"/>
            <a:ext cx="944849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Your first LLM calls</a:t>
            </a:r>
            <a:endParaRPr lang="en-US" sz="3000" dirty="0"/>
          </a:p>
        </p:txBody>
      </p:sp>
      <p:sp>
        <p:nvSpPr>
          <p:cNvPr id="8" name="Shape 6"/>
          <p:cNvSpPr/>
          <p:nvPr/>
        </p:nvSpPr>
        <p:spPr>
          <a:xfrm>
            <a:off x="777240" y="1577340"/>
            <a:ext cx="10637215" cy="2185416"/>
          </a:xfrm>
          <a:prstGeom prst="roundRect">
            <a:avLst>
              <a:gd name="adj" fmla="val 5021"/>
            </a:avLst>
          </a:prstGeom>
          <a:solidFill>
            <a:srgbClr val="13272B"/>
          </a:solidFill>
          <a:ln w="9525">
            <a:solidFill>
              <a:srgbClr val="24413F"/>
            </a:solidFill>
            <a:prstDash val="solid"/>
          </a:ln>
        </p:spPr>
      </p:sp>
      <p:sp>
        <p:nvSpPr>
          <p:cNvPr id="9" name="Text 7"/>
          <p:cNvSpPr/>
          <p:nvPr/>
        </p:nvSpPr>
        <p:spPr>
          <a:xfrm>
            <a:off x="960120" y="1687068"/>
            <a:ext cx="10271455" cy="2002536"/>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code\show_env.py                  # are the keys set? (never prints them)</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gemini "Explain what an API is in one sentence."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openrouter "Explain what an API is in one sentence."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ollama "Explain what an API is in one sentence."   # after step 05</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An API is a set of rules that lets different programs talk to each other.</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[gemini | gemini-3.5-flash-lite | 31 tokens in, 24 out | 870 ms]</a:t>
            </a:r>
            <a:endParaRPr lang="en-US" sz="1350" dirty="0"/>
          </a:p>
        </p:txBody>
      </p:sp>
      <p:sp>
        <p:nvSpPr>
          <p:cNvPr id="10" name="Text 8"/>
          <p:cNvSpPr/>
          <p:nvPr/>
        </p:nvSpPr>
        <p:spPr>
          <a:xfrm>
            <a:off x="777240" y="3890772"/>
            <a:ext cx="10637215" cy="755904"/>
          </a:xfrm>
          <a:prstGeom prst="rect">
            <a:avLst/>
          </a:prstGeom>
          <a:noFill/>
          <a:ln/>
        </p:spPr>
        <p:txBody>
          <a:bodyPr wrap="square" lIns="0" tIns="0" rIns="0" bIns="0" rtlCol="0" anchor="t"/>
          <a:lstStyle/>
          <a:p>
            <a:pPr algn="l" indent="0" marL="0">
              <a:buNone/>
            </a:pPr>
            <a:r>
              <a:rPr lang="en-US" sz="2000" b="1" dirty="0">
                <a:solidFill>
                  <a:srgbClr val="FFFFFF"/>
                </a:solidFill>
                <a:latin typeface="Segoe UI" pitchFamily="34" charset="0"/>
                <a:ea typeface="Segoe UI" pitchFamily="34" charset="-122"/>
                <a:cs typeface="Segoe UI" pitchFamily="34" charset="-120"/>
              </a:rPr>
              <a:t>Temperature</a:t>
            </a:r>
            <a:pPr algn="l" indent="0" marL="0">
              <a:buNone/>
            </a:pPr>
            <a:r>
              <a:rPr lang="en-US" sz="2000" dirty="0">
                <a:solidFill>
                  <a:srgbClr val="EEF6F3"/>
                </a:solidFill>
                <a:latin typeface="Segoe UI" pitchFamily="34" charset="0"/>
                <a:ea typeface="Segoe UI" pitchFamily="34" charset="-122"/>
                <a:cs typeface="Segoe UI" pitchFamily="34" charset="-120"/>
              </a:rPr>
              <a:t> is a randomness dial: near 0 you get the same answer most times, higher gives variety. Run this three times, then three times with </a:t>
            </a:r>
            <a:pPr algn="l" indent="0" marL="0">
              <a:buNone/>
            </a:pPr>
            <a:r>
              <a:rPr lang="en-US" sz="1760" dirty="0">
                <a:solidFill>
                  <a:srgbClr val="D8FFF0"/>
                </a:solidFill>
                <a:latin typeface="Consolas" pitchFamily="34" charset="0"/>
                <a:ea typeface="Consolas" pitchFamily="34" charset="-122"/>
                <a:cs typeface="Consolas" pitchFamily="34" charset="-120"/>
              </a:rPr>
              <a:t>--temperature 0</a:t>
            </a:r>
            <a:pPr algn="l" indent="0" marL="0">
              <a:buNone/>
            </a:pPr>
            <a:r>
              <a:rPr lang="en-US" sz="2000" dirty="0">
                <a:solidFill>
                  <a:srgbClr val="EEF6F3"/>
                </a:solidFill>
                <a:latin typeface="Segoe UI" pitchFamily="34" charset="0"/>
                <a:ea typeface="Segoe UI" pitchFamily="34" charset="-122"/>
                <a:cs typeface="Segoe UI" pitchFamily="34" charset="-120"/>
              </a:rPr>
              <a:t>:</a:t>
            </a:r>
            <a:endParaRPr lang="en-US" sz="2000" dirty="0"/>
          </a:p>
        </p:txBody>
      </p:sp>
      <p:sp>
        <p:nvSpPr>
          <p:cNvPr id="11" name="Shape 9"/>
          <p:cNvSpPr/>
          <p:nvPr/>
        </p:nvSpPr>
        <p:spPr>
          <a:xfrm>
            <a:off x="777240" y="4774692"/>
            <a:ext cx="10637215" cy="529209"/>
          </a:xfrm>
          <a:prstGeom prst="roundRect">
            <a:avLst>
              <a:gd name="adj" fmla="val 20734"/>
            </a:avLst>
          </a:prstGeom>
          <a:solidFill>
            <a:srgbClr val="13272B"/>
          </a:solidFill>
          <a:ln w="9525">
            <a:solidFill>
              <a:srgbClr val="24413F"/>
            </a:solidFill>
            <a:prstDash val="solid"/>
          </a:ln>
        </p:spPr>
      </p:sp>
      <p:sp>
        <p:nvSpPr>
          <p:cNvPr id="12" name="Text 10"/>
          <p:cNvSpPr/>
          <p:nvPr/>
        </p:nvSpPr>
        <p:spPr>
          <a:xfrm>
            <a:off x="960120" y="4884420"/>
            <a:ext cx="10271455" cy="346329"/>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gemini --temperature 1.5 "Tell me a one-line joke about printers."</a:t>
            </a:r>
            <a:endParaRPr lang="en-US" sz="1350" dirty="0"/>
          </a:p>
        </p:txBody>
      </p:sp>
      <p:sp>
        <p:nvSpPr>
          <p:cNvPr id="13" name="Text 11"/>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4" name="Text 12"/>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21 / 32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05</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model on your own laptop</a:t>
            </a:r>
            <a:endParaRPr lang="en-US" sz="3000" dirty="0"/>
          </a:p>
        </p:txBody>
      </p:sp>
      <p:sp>
        <p:nvSpPr>
          <p:cNvPr id="6" name="Shape 4"/>
          <p:cNvSpPr/>
          <p:nvPr/>
        </p:nvSpPr>
        <p:spPr>
          <a:xfrm>
            <a:off x="777240" y="1577340"/>
            <a:ext cx="10637215" cy="765810"/>
          </a:xfrm>
          <a:prstGeom prst="roundRect">
            <a:avLst>
              <a:gd name="adj" fmla="val 14328"/>
            </a:avLst>
          </a:prstGeom>
          <a:solidFill>
            <a:srgbClr val="13272B"/>
          </a:solidFill>
          <a:ln w="9525">
            <a:solidFill>
              <a:srgbClr val="24413F"/>
            </a:solidFill>
            <a:prstDash val="solid"/>
          </a:ln>
        </p:spPr>
      </p:sp>
      <p:sp>
        <p:nvSpPr>
          <p:cNvPr id="7" name="Text 5"/>
          <p:cNvSpPr/>
          <p:nvPr/>
        </p:nvSpPr>
        <p:spPr>
          <a:xfrm>
            <a:off x="960120" y="1687068"/>
            <a:ext cx="10271455" cy="582930"/>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ollama pull llama3.2          # about 2 GB, 3 billion parameters (the numbers the model is made of)</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ollama "Say hello in five words."</a:t>
            </a:r>
            <a:endParaRPr lang="en-US" sz="13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77240" y="2471166"/>
          <a:ext cx="10637215" cy="914400"/>
        </p:xfrm>
        <a:graphic>
          <a:graphicData uri="http://schemas.openxmlformats.org/drawingml/2006/table">
            <a:tbl>
              <a:tblPr/>
              <a:tblGrid>
                <a:gridCol w="3128162"/>
                <a:gridCol w="7509053"/>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Your laptop has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Try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8 GB of memory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llama3.2</a:t>
                      </a:r>
                      <a:pPr indent="0" marL="0">
                        <a:buNone/>
                      </a:pPr>
                      <a:r>
                        <a:rPr lang="en-US" sz="1450" dirty="0">
                          <a:solidFill>
                            <a:srgbClr val="EEF6F3"/>
                          </a:solidFill>
                          <a:latin typeface="Segoe UI" pitchFamily="34" charset="0"/>
                          <a:ea typeface="Segoe UI" pitchFamily="34" charset="-122"/>
                          <a:cs typeface="Segoe UI" pitchFamily="34" charset="-120"/>
                        </a:rPr>
                        <a:t> (2 GB)</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16 GB or more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also </a:t>
                      </a:r>
                      <a:pPr indent="0" marL="0">
                        <a:buNone/>
                      </a:pPr>
                      <a:r>
                        <a:rPr lang="en-US" sz="1280" dirty="0">
                          <a:solidFill>
                            <a:srgbClr val="D8FFF0"/>
                          </a:solidFill>
                          <a:latin typeface="Consolas" pitchFamily="34" charset="0"/>
                          <a:ea typeface="Consolas" pitchFamily="34" charset="-122"/>
                          <a:cs typeface="Consolas" pitchFamily="34" charset="-120"/>
                        </a:rPr>
                        <a:t>gemma3:4b</a:t>
                      </a:r>
                      <a:pPr indent="0" marL="0">
                        <a:buNone/>
                      </a:pPr>
                      <a:r>
                        <a:rPr lang="en-US" sz="1450" dirty="0">
                          <a:solidFill>
                            <a:srgbClr val="EEF6F3"/>
                          </a:solidFill>
                          <a:latin typeface="Segoe UI" pitchFamily="34" charset="0"/>
                          <a:ea typeface="Segoe UI" pitchFamily="34" charset="-122"/>
                          <a:cs typeface="Segoe UI" pitchFamily="34" charset="-120"/>
                        </a:rPr>
                        <a:t> (3.3 GB), and compare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9" name="Shape 6"/>
          <p:cNvSpPr/>
          <p:nvPr/>
        </p:nvSpPr>
        <p:spPr>
          <a:xfrm>
            <a:off x="777240" y="3791331"/>
            <a:ext cx="10637215" cy="1169822"/>
          </a:xfrm>
          <a:prstGeom prst="roundRect">
            <a:avLst>
              <a:gd name="adj" fmla="val 7817"/>
            </a:avLst>
          </a:prstGeom>
          <a:solidFill>
            <a:srgbClr val="3A1C1F"/>
          </a:solidFill>
          <a:ln w="12700">
            <a:solidFill>
              <a:srgbClr val="3A1C1F"/>
            </a:solidFill>
            <a:prstDash val="solid"/>
          </a:ln>
        </p:spPr>
      </p:sp>
      <p:sp>
        <p:nvSpPr>
          <p:cNvPr id="10" name="Shape 7"/>
          <p:cNvSpPr/>
          <p:nvPr/>
        </p:nvSpPr>
        <p:spPr>
          <a:xfrm>
            <a:off x="777240" y="3791331"/>
            <a:ext cx="82296" cy="1169822"/>
          </a:xfrm>
          <a:prstGeom prst="rect">
            <a:avLst/>
          </a:prstGeom>
          <a:solidFill>
            <a:srgbClr val="FF7A7A"/>
          </a:solidFill>
          <a:ln w="12700">
            <a:solidFill>
              <a:srgbClr val="FF7A7A"/>
            </a:solidFill>
            <a:prstDash val="solid"/>
          </a:ln>
        </p:spPr>
      </p:sp>
      <p:sp>
        <p:nvSpPr>
          <p:cNvPr id="11" name="Text 8"/>
          <p:cNvSpPr/>
          <p:nvPr/>
        </p:nvSpPr>
        <p:spPr>
          <a:xfrm>
            <a:off x="1051560" y="3901059"/>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IF OLLAMA CRASHES (500, OFTEN MENTIONING CUDA)</a:t>
            </a:r>
            <a:endParaRPr lang="en-US" sz="1050" dirty="0"/>
          </a:p>
        </p:txBody>
      </p:sp>
      <p:sp>
        <p:nvSpPr>
          <p:cNvPr id="12" name="Text 9"/>
          <p:cNvSpPr/>
          <p:nvPr/>
        </p:nvSpPr>
        <p:spPr>
          <a:xfrm>
            <a:off x="1051560" y="4138803"/>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The graphics driver is the usual cause. Quit Ollama, then run it on the CPU: </a:t>
            </a:r>
            <a:pPr algn="l" indent="0" marL="0">
              <a:buNone/>
            </a:pPr>
            <a:r>
              <a:rPr lang="en-US" sz="1510" dirty="0">
                <a:solidFill>
                  <a:srgbClr val="D8FFF0"/>
                </a:solidFill>
                <a:latin typeface="Consolas" pitchFamily="34" charset="0"/>
                <a:ea typeface="Consolas" pitchFamily="34" charset="-122"/>
                <a:cs typeface="Consolas" pitchFamily="34" charset="-120"/>
              </a:rPr>
              <a:t>$env:CUDA_VISIBLE_DEVICES="-1"; ollama serve</a:t>
            </a:r>
            <a:endParaRPr lang="en-US" sz="1720" dirty="0"/>
          </a:p>
        </p:txBody>
      </p:sp>
      <p:sp>
        <p:nvSpPr>
          <p:cNvPr id="13" name="Text 10"/>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4" name="Text 11"/>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22 / 32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06</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Models read tokens, not words</a:t>
            </a:r>
            <a:endParaRPr lang="en-US" sz="3000" dirty="0"/>
          </a:p>
        </p:txBody>
      </p:sp>
      <p:sp>
        <p:nvSpPr>
          <p:cNvPr id="6" name="Shape 4"/>
          <p:cNvSpPr/>
          <p:nvPr/>
        </p:nvSpPr>
        <p:spPr>
          <a:xfrm>
            <a:off x="777240" y="1577340"/>
            <a:ext cx="10637215" cy="1948815"/>
          </a:xfrm>
          <a:prstGeom prst="roundRect">
            <a:avLst>
              <a:gd name="adj" fmla="val 5630"/>
            </a:avLst>
          </a:prstGeom>
          <a:solidFill>
            <a:srgbClr val="13272B"/>
          </a:solidFill>
          <a:ln w="9525">
            <a:solidFill>
              <a:srgbClr val="24413F"/>
            </a:solidFill>
            <a:prstDash val="solid"/>
          </a:ln>
        </p:spPr>
      </p:sp>
      <p:sp>
        <p:nvSpPr>
          <p:cNvPr id="7" name="Text 5"/>
          <p:cNvSpPr/>
          <p:nvPr/>
        </p:nvSpPr>
        <p:spPr>
          <a:xfrm>
            <a:off x="960120" y="1687068"/>
            <a:ext cx="10271455" cy="1765935"/>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code\count_tokens.py          # output trimmed</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Ticket T-1001: 217 characters, 40 words, 47 tokens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The first 20 tokens, as the model sees them:</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'I' | ' ordered' | ' the' | ' wireless' | ' headphones' | ' two' | ' weeks'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ago' | ',' | ' order' | ' #' | '482' | '91' | '.' | ' They' | ' arrived' | ...</a:t>
            </a:r>
            <a:endParaRPr lang="en-US" sz="1350" dirty="0"/>
          </a:p>
        </p:txBody>
      </p:sp>
      <p:sp>
        <p:nvSpPr>
          <p:cNvPr id="8" name="Shape 6"/>
          <p:cNvSpPr/>
          <p:nvPr/>
        </p:nvSpPr>
        <p:spPr>
          <a:xfrm>
            <a:off x="777240" y="3654171"/>
            <a:ext cx="10637215" cy="1169822"/>
          </a:xfrm>
          <a:prstGeom prst="roundRect">
            <a:avLst>
              <a:gd name="adj" fmla="val 7817"/>
            </a:avLst>
          </a:prstGeom>
          <a:solidFill>
            <a:srgbClr val="0D3029"/>
          </a:solidFill>
          <a:ln w="12700">
            <a:solidFill>
              <a:srgbClr val="0D3029"/>
            </a:solidFill>
            <a:prstDash val="solid"/>
          </a:ln>
        </p:spPr>
      </p:sp>
      <p:sp>
        <p:nvSpPr>
          <p:cNvPr id="9" name="Shape 7"/>
          <p:cNvSpPr/>
          <p:nvPr/>
        </p:nvSpPr>
        <p:spPr>
          <a:xfrm>
            <a:off x="777240" y="3654171"/>
            <a:ext cx="82296" cy="1169822"/>
          </a:xfrm>
          <a:prstGeom prst="rect">
            <a:avLst/>
          </a:prstGeom>
          <a:solidFill>
            <a:srgbClr val="01D294"/>
          </a:solidFill>
          <a:ln w="12700">
            <a:solidFill>
              <a:srgbClr val="01D294"/>
            </a:solidFill>
            <a:prstDash val="solid"/>
          </a:ln>
        </p:spPr>
      </p:sp>
      <p:sp>
        <p:nvSpPr>
          <p:cNvPr id="10" name="Text 8"/>
          <p:cNvSpPr/>
          <p:nvPr/>
        </p:nvSpPr>
        <p:spPr>
          <a:xfrm>
            <a:off x="1051560" y="3763899"/>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11" name="Text 9"/>
          <p:cNvSpPr/>
          <p:nvPr/>
        </p:nvSpPr>
        <p:spPr>
          <a:xfrm>
            <a:off x="1051560" y="4001643"/>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 </a:t>
            </a:r>
            <a:pPr algn="l" indent="0" marL="0">
              <a:buNone/>
            </a:pPr>
            <a:r>
              <a:rPr lang="en-US" sz="1720" b="1" dirty="0">
                <a:solidFill>
                  <a:srgbClr val="FFFFFF"/>
                </a:solidFill>
                <a:latin typeface="Segoe UI" pitchFamily="34" charset="0"/>
                <a:ea typeface="Segoe UI" pitchFamily="34" charset="-122"/>
                <a:cs typeface="Segoe UI" pitchFamily="34" charset="-120"/>
              </a:rPr>
              <a:t>token</a:t>
            </a:r>
            <a:pPr algn="l" indent="0" marL="0">
              <a:buNone/>
            </a:pPr>
            <a:r>
              <a:rPr lang="en-US" sz="1720" dirty="0">
                <a:solidFill>
                  <a:srgbClr val="EEF6F3"/>
                </a:solidFill>
                <a:latin typeface="Segoe UI" pitchFamily="34" charset="0"/>
                <a:ea typeface="Segoe UI" pitchFamily="34" charset="-122"/>
                <a:cs typeface="Segoe UI" pitchFamily="34" charset="-120"/>
              </a:rPr>
              <a:t> is a chunk of text: often a short word, sometimes part of a word or a number. English is about 4 tokens per 3 words.</a:t>
            </a:r>
            <a:endParaRPr lang="en-US" sz="1720" dirty="0"/>
          </a:p>
        </p:txBody>
      </p:sp>
      <p:sp>
        <p:nvSpPr>
          <p:cNvPr id="12" name="Text 10"/>
          <p:cNvSpPr/>
          <p:nvPr/>
        </p:nvSpPr>
        <p:spPr>
          <a:xfrm>
            <a:off x="777240" y="4952009"/>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The order number </a:t>
            </a:r>
            <a:pPr algn="l" indent="0" marL="0">
              <a:buNone/>
            </a:pPr>
            <a:r>
              <a:rPr lang="en-US" sz="1500" dirty="0">
                <a:solidFill>
                  <a:srgbClr val="D8FFF0"/>
                </a:solidFill>
                <a:latin typeface="Consolas" pitchFamily="34" charset="0"/>
                <a:ea typeface="Consolas" pitchFamily="34" charset="-122"/>
                <a:cs typeface="Consolas" pitchFamily="34" charset="-120"/>
              </a:rPr>
              <a:t>48291</a:t>
            </a:r>
            <a:pPr algn="l" indent="0" marL="0">
              <a:buNone/>
            </a:pPr>
            <a:r>
              <a:rPr lang="en-US" sz="1700" dirty="0">
                <a:solidFill>
                  <a:srgbClr val="EEF6F3"/>
                </a:solidFill>
                <a:latin typeface="Segoe UI" pitchFamily="34" charset="0"/>
                <a:ea typeface="Segoe UI" pitchFamily="34" charset="-122"/>
                <a:cs typeface="Segoe UI" pitchFamily="34" charset="-120"/>
              </a:rPr>
              <a:t> became two tokens. The model never sees it as one thing.</a:t>
            </a:r>
            <a:endParaRPr lang="en-US" sz="1700" dirty="0"/>
          </a:p>
        </p:txBody>
      </p:sp>
      <p:sp>
        <p:nvSpPr>
          <p:cNvPr id="13" name="Text 11"/>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4" name="Text 12"/>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23 / 32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06</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Same request, different price per language</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7637069"/>
                <a:gridCol w="1363370"/>
                <a:gridCol w="1636776"/>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The same request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Words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Tokens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I want a refund for my order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أريد استرداد المبلغ لطلبي</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4</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10</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بدي رجّع المصاري</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Text 4"/>
          <p:cNvSpPr/>
          <p:nvPr/>
        </p:nvSpPr>
        <p:spPr>
          <a:xfrm>
            <a:off x="777240" y="3279648"/>
            <a:ext cx="10637215" cy="75590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The tokenizer learned mostly from English, so other languages get cut into more pieces. </a:t>
            </a:r>
            <a:pPr algn="l" indent="0" marL="0">
              <a:buNone/>
            </a:pPr>
            <a:r>
              <a:rPr lang="en-US" sz="1760" dirty="0">
                <a:solidFill>
                  <a:srgbClr val="D8FFF0"/>
                </a:solidFill>
                <a:latin typeface="Consolas" pitchFamily="34" charset="0"/>
                <a:ea typeface="Consolas" pitchFamily="34" charset="-122"/>
                <a:cs typeface="Consolas" pitchFamily="34" charset="-120"/>
              </a:rPr>
              <a:t>refund</a:t>
            </a:r>
            <a:pPr algn="l" indent="0" marL="0">
              <a:buNone/>
            </a:pPr>
            <a:r>
              <a:rPr lang="en-US" sz="2000" dirty="0">
                <a:solidFill>
                  <a:srgbClr val="EEF6F3"/>
                </a:solidFill>
                <a:latin typeface="Segoe UI" pitchFamily="34" charset="0"/>
                <a:ea typeface="Segoe UI" pitchFamily="34" charset="-122"/>
                <a:cs typeface="Segoe UI" pitchFamily="34" charset="-120"/>
              </a:rPr>
              <a:t> is 1 token; استرداد is 3.</a:t>
            </a:r>
            <a:endParaRPr lang="en-US" sz="2000" dirty="0"/>
          </a:p>
        </p:txBody>
      </p:sp>
      <p:sp>
        <p:nvSpPr>
          <p:cNvPr id="8" name="Shape 5"/>
          <p:cNvSpPr/>
          <p:nvPr/>
        </p:nvSpPr>
        <p:spPr>
          <a:xfrm>
            <a:off x="777240" y="4163568"/>
            <a:ext cx="10637215" cy="868375"/>
          </a:xfrm>
          <a:prstGeom prst="roundRect">
            <a:avLst>
              <a:gd name="adj" fmla="val 10530"/>
            </a:avLst>
          </a:prstGeom>
          <a:solidFill>
            <a:srgbClr val="112A45"/>
          </a:solidFill>
          <a:ln w="12700">
            <a:solidFill>
              <a:srgbClr val="112A45"/>
            </a:solidFill>
            <a:prstDash val="solid"/>
          </a:ln>
        </p:spPr>
      </p:sp>
      <p:sp>
        <p:nvSpPr>
          <p:cNvPr id="9" name="Shape 6"/>
          <p:cNvSpPr/>
          <p:nvPr/>
        </p:nvSpPr>
        <p:spPr>
          <a:xfrm>
            <a:off x="777240" y="4163568"/>
            <a:ext cx="82296" cy="868375"/>
          </a:xfrm>
          <a:prstGeom prst="rect">
            <a:avLst/>
          </a:prstGeom>
          <a:solidFill>
            <a:srgbClr val="5AA2FF"/>
          </a:solidFill>
          <a:ln w="12700">
            <a:solidFill>
              <a:srgbClr val="5AA2FF"/>
            </a:solidFill>
            <a:prstDash val="solid"/>
          </a:ln>
        </p:spPr>
      </p:sp>
      <p:sp>
        <p:nvSpPr>
          <p:cNvPr id="10" name="Text 7"/>
          <p:cNvSpPr/>
          <p:nvPr/>
        </p:nvSpPr>
        <p:spPr>
          <a:xfrm>
            <a:off x="1051560" y="4273296"/>
            <a:ext cx="10225735" cy="237744"/>
          </a:xfrm>
          <a:prstGeom prst="rect">
            <a:avLst/>
          </a:prstGeom>
          <a:noFill/>
          <a:ln/>
        </p:spPr>
        <p:txBody>
          <a:bodyPr wrap="square" lIns="0" tIns="0" rIns="0" bIns="0" rtlCol="0" anchor="t"/>
          <a:lstStyle/>
          <a:p>
            <a:pPr indent="0" marL="0">
              <a:buNone/>
            </a:pPr>
            <a:r>
              <a:rPr lang="en-US" sz="1050" b="1" spc="300" kern="0" dirty="0">
                <a:solidFill>
                  <a:srgbClr val="5AA2FF"/>
                </a:solidFill>
                <a:latin typeface="Segoe UI" pitchFamily="34" charset="0"/>
                <a:ea typeface="Segoe UI" pitchFamily="34" charset="-122"/>
                <a:cs typeface="Segoe UI" pitchFamily="34" charset="-120"/>
              </a:rPr>
              <a:t>GOOD TO KNOW</a:t>
            </a:r>
            <a:endParaRPr lang="en-US" sz="1050" dirty="0"/>
          </a:p>
        </p:txBody>
      </p:sp>
      <p:sp>
        <p:nvSpPr>
          <p:cNvPr id="11" name="Text 8"/>
          <p:cNvSpPr/>
          <p:nvPr/>
        </p:nvSpPr>
        <p:spPr>
          <a:xfrm>
            <a:off x="1051560" y="4511040"/>
            <a:ext cx="10225735" cy="356311"/>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Try yours: </a:t>
            </a:r>
            <a:pPr algn="l" indent="0" marL="0">
              <a:buNone/>
            </a:pPr>
            <a:r>
              <a:rPr lang="en-US" sz="1510" dirty="0">
                <a:solidFill>
                  <a:srgbClr val="D8FFF0"/>
                </a:solidFill>
                <a:latin typeface="Consolas" pitchFamily="34" charset="0"/>
                <a:ea typeface="Consolas" pitchFamily="34" charset="-122"/>
                <a:cs typeface="Consolas" pitchFamily="34" charset="-120"/>
              </a:rPr>
              <a:t>py code\count_tokens.py --text "your sentence"</a:t>
            </a:r>
            <a:endParaRPr lang="en-US" sz="1720" dirty="0"/>
          </a:p>
        </p:txBody>
      </p:sp>
      <p:sp>
        <p:nvSpPr>
          <p:cNvPr id="12"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3"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24 / 32</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06</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What one ticket costs</a:t>
            </a:r>
            <a:endParaRPr lang="en-US" sz="3000" dirty="0"/>
          </a:p>
        </p:txBody>
      </p:sp>
      <p:sp>
        <p:nvSpPr>
          <p:cNvPr id="6" name="Text 4"/>
          <p:cNvSpPr/>
          <p:nvPr/>
        </p:nvSpPr>
        <p:spPr>
          <a:xfrm>
            <a:off x="777240" y="1577340"/>
            <a:ext cx="10637215" cy="40538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Read ticket T-1001 (47 tokens) and write a 150-token reply:</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2110740"/>
          <a:ext cx="10637215" cy="914400"/>
        </p:xfrm>
        <a:graphic>
          <a:graphicData uri="http://schemas.openxmlformats.org/drawingml/2006/table">
            <a:tbl>
              <a:tblPr/>
              <a:tblGrid>
                <a:gridCol w="5754319"/>
                <a:gridCol w="1743761"/>
                <a:gridCol w="3139135"/>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Model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Per ticket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Per 10,000 tickets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gpt-4o-mini</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$0.000097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B4F05A"/>
                          </a:solidFill>
                          <a:latin typeface="Segoe UI" pitchFamily="34" charset="0"/>
                          <a:ea typeface="Segoe UI" pitchFamily="34" charset="-122"/>
                          <a:cs typeface="Segoe UI" pitchFamily="34" charset="-120"/>
                        </a:rPr>
                        <a:t>$0.97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gemini-3.5-flash-lite</a:t>
                      </a:r>
                      <a:pPr indent="0" marL="0">
                        <a:buNone/>
                      </a:pPr>
                      <a:r>
                        <a:rPr lang="en-US" sz="1450" dirty="0">
                          <a:solidFill>
                            <a:srgbClr val="EEF6F3"/>
                          </a:solidFill>
                          <a:latin typeface="Segoe UI" pitchFamily="34" charset="0"/>
                          <a:ea typeface="Segoe UI" pitchFamily="34" charset="-122"/>
                          <a:cs typeface="Segoe UI" pitchFamily="34" charset="-120"/>
                        </a:rPr>
                        <a:t> (paid tier)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$0.000389</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$3.89</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gpt-4o</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$0.001618</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FF7A7A"/>
                          </a:solidFill>
                          <a:latin typeface="Segoe UI" pitchFamily="34" charset="0"/>
                          <a:ea typeface="Segoe UI" pitchFamily="34" charset="-122"/>
                          <a:cs typeface="Segoe UI" pitchFamily="34" charset="-120"/>
                        </a:rPr>
                        <a:t>$16.18</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8" name="Text 5"/>
          <p:cNvSpPr/>
          <p:nvPr/>
        </p:nvSpPr>
        <p:spPr>
          <a:xfrm>
            <a:off x="777240" y="3813048"/>
            <a:ext cx="10637215" cy="1225296"/>
          </a:xfrm>
          <a:prstGeom prst="rect">
            <a:avLst/>
          </a:prstGeom>
          <a:noFill/>
          <a:ln/>
        </p:spPr>
        <p:txBody>
          <a:bodyPr wrap="square" lIns="0" tIns="0" rIns="0" bIns="0" rtlCol="0" anchor="t"/>
          <a:lstStyle/>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Priced per million tokens. </a:t>
            </a:r>
            <a:pPr indent="0" marL="0">
              <a:buNone/>
            </a:pPr>
            <a:r>
              <a:rPr lang="en-US" sz="2000" b="1" dirty="0">
                <a:solidFill>
                  <a:srgbClr val="FFFFFF"/>
                </a:solidFill>
                <a:latin typeface="Segoe UI" pitchFamily="34" charset="0"/>
                <a:ea typeface="Segoe UI" pitchFamily="34" charset="-122"/>
                <a:cs typeface="Segoe UI" pitchFamily="34" charset="-120"/>
              </a:rPr>
              <a:t>Output</a:t>
            </a:r>
            <a:pPr indent="0" marL="0">
              <a:buNone/>
            </a:pPr>
            <a:r>
              <a:rPr lang="en-US" sz="2000" dirty="0">
                <a:solidFill>
                  <a:srgbClr val="EEF6F3"/>
                </a:solidFill>
                <a:latin typeface="Segoe UI" pitchFamily="34" charset="0"/>
                <a:ea typeface="Segoe UI" pitchFamily="34" charset="-122"/>
                <a:cs typeface="Segoe UI" pitchFamily="34" charset="-120"/>
              </a:rPr>
              <a:t> costs more than input.</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One call is a fraction of a cent. The choice of model is a </a:t>
            </a:r>
            <a:pPr indent="0" marL="0">
              <a:buNone/>
            </a:pPr>
            <a:r>
              <a:rPr lang="en-US" sz="2000" b="1" dirty="0">
                <a:solidFill>
                  <a:srgbClr val="FFFFFF"/>
                </a:solidFill>
                <a:latin typeface="Segoe UI" pitchFamily="34" charset="0"/>
                <a:ea typeface="Segoe UI" pitchFamily="34" charset="-122"/>
                <a:cs typeface="Segoe UI" pitchFamily="34" charset="-120"/>
              </a:rPr>
              <a:t>17×</a:t>
            </a:r>
            <a:pPr indent="0" marL="0">
              <a:buNone/>
            </a:pPr>
            <a:r>
              <a:rPr lang="en-US" sz="2000" dirty="0">
                <a:solidFill>
                  <a:srgbClr val="EEF6F3"/>
                </a:solidFill>
                <a:latin typeface="Segoe UI" pitchFamily="34" charset="0"/>
                <a:ea typeface="Segoe UI" pitchFamily="34" charset="-122"/>
                <a:cs typeface="Segoe UI" pitchFamily="34" charset="-120"/>
              </a:rPr>
              <a:t> difference in the bill.</a:t>
            </a:r>
            <a:endParaRPr lang="en-US" sz="2000" dirty="0"/>
          </a:p>
        </p:txBody>
      </p:sp>
      <p:sp>
        <p:nvSpPr>
          <p:cNvPr id="9" name="Text 6"/>
          <p:cNvSpPr/>
          <p:nvPr/>
        </p:nvSpPr>
        <p:spPr>
          <a:xfrm>
            <a:off x="777240" y="5166360"/>
            <a:ext cx="10637215" cy="352806"/>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Prices checked October 2026. They change: always check the provider's pricing page.</a:t>
            </a:r>
            <a:endParaRPr lang="en-US" sz="1700" dirty="0"/>
          </a:p>
        </p:txBody>
      </p:sp>
      <p:sp>
        <p:nvSpPr>
          <p:cNvPr id="10"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1"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25 / 32</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5AA2FF"/>
          </a:solidFill>
          <a:ln w="12700">
            <a:solidFill>
              <a:srgbClr val="5AA2FF"/>
            </a:solidFill>
            <a:prstDash val="solid"/>
          </a:ln>
        </p:spPr>
      </p:sp>
      <p:sp>
        <p:nvSpPr>
          <p:cNvPr id="5" name="Text 3"/>
          <p:cNvSpPr/>
          <p:nvPr/>
        </p:nvSpPr>
        <p:spPr>
          <a:xfrm>
            <a:off x="9585655" y="411480"/>
            <a:ext cx="1828800" cy="329184"/>
          </a:xfrm>
          <a:prstGeom prst="roundRect">
            <a:avLst>
              <a:gd name="adj" fmla="val 22222"/>
            </a:avLst>
          </a:prstGeom>
          <a:solidFill>
            <a:srgbClr val="5AA2FF"/>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QUICK CHECK</a:t>
            </a:r>
            <a:endParaRPr lang="en-US" sz="1200" dirty="0"/>
          </a:p>
        </p:txBody>
      </p:sp>
      <p:sp>
        <p:nvSpPr>
          <p:cNvPr id="6" name="Text 4"/>
          <p:cNvSpPr/>
          <p:nvPr/>
        </p:nvSpPr>
        <p:spPr>
          <a:xfrm>
            <a:off x="777240" y="457200"/>
            <a:ext cx="1819656" cy="274320"/>
          </a:xfrm>
          <a:prstGeom prst="roundRect">
            <a:avLst>
              <a:gd name="adj" fmla="val 50000"/>
            </a:avLst>
          </a:prstGeom>
          <a:solidFill>
            <a:srgbClr val="5AA2FF"/>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QUICK CHECK</a:t>
            </a:r>
            <a:endParaRPr lang="en-US" sz="1100" dirty="0"/>
          </a:p>
        </p:txBody>
      </p:sp>
      <p:sp>
        <p:nvSpPr>
          <p:cNvPr id="7" name="Text 5"/>
          <p:cNvSpPr/>
          <p:nvPr/>
        </p:nvSpPr>
        <p:spPr>
          <a:xfrm>
            <a:off x="777240" y="841248"/>
            <a:ext cx="862553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Keys, providers, tokens</a:t>
            </a:r>
            <a:endParaRPr lang="en-US" sz="3000" dirty="0"/>
          </a:p>
        </p:txBody>
      </p:sp>
      <p:sp>
        <p:nvSpPr>
          <p:cNvPr id="8" name="Text 6"/>
          <p:cNvSpPr/>
          <p:nvPr/>
        </p:nvSpPr>
        <p:spPr>
          <a:xfrm>
            <a:off x="777240" y="1577340"/>
            <a:ext cx="10637215" cy="1289304"/>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To switch </a:t>
            </a:r>
            <a:pPr indent="0" marL="0">
              <a:buNone/>
            </a:pPr>
            <a:r>
              <a:rPr lang="en-US" sz="2000" dirty="0">
                <a:solidFill>
                  <a:srgbClr val="D8FFF0"/>
                </a:solidFill>
                <a:latin typeface="Consolas" pitchFamily="34" charset="0"/>
                <a:ea typeface="Consolas" pitchFamily="34" charset="-122"/>
                <a:cs typeface="Consolas" pitchFamily="34" charset="-120"/>
              </a:rPr>
              <a:t>chat.py</a:t>
            </a:r>
            <a:pPr indent="0" marL="0">
              <a:buNone/>
            </a:pPr>
            <a:r>
              <a:rPr lang="en-US" sz="2000" dirty="0">
                <a:solidFill>
                  <a:srgbClr val="EEF6F3"/>
                </a:solidFill>
                <a:latin typeface="Segoe UI" pitchFamily="34" charset="0"/>
                <a:ea typeface="Segoe UI" pitchFamily="34" charset="-122"/>
                <a:cs typeface="Segoe UI" pitchFamily="34" charset="-120"/>
              </a:rPr>
              <a:t> from Gemini to OpenRouter, which </a:t>
            </a:r>
            <a:pPr indent="0" marL="0">
              <a:buNone/>
            </a:pPr>
            <a:r>
              <a:rPr lang="en-US" sz="2000" b="1" dirty="0">
                <a:solidFill>
                  <a:srgbClr val="FFFFFF"/>
                </a:solidFill>
                <a:latin typeface="Segoe UI" pitchFamily="34" charset="0"/>
                <a:ea typeface="Segoe UI" pitchFamily="34" charset="-122"/>
                <a:cs typeface="Segoe UI" pitchFamily="34" charset="-120"/>
              </a:rPr>
              <a:t>three</a:t>
            </a:r>
            <a:pPr indent="0" marL="0">
              <a:buNone/>
            </a:pPr>
            <a:r>
              <a:rPr lang="en-US" sz="2000" dirty="0">
                <a:solidFill>
                  <a:srgbClr val="EEF6F3"/>
                </a:solidFill>
                <a:latin typeface="Segoe UI" pitchFamily="34" charset="0"/>
                <a:ea typeface="Segoe UI" pitchFamily="34" charset="-122"/>
                <a:cs typeface="Segoe UI" pitchFamily="34" charset="-120"/>
              </a:rPr>
              <a:t> things change?</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You pushed a key to GitHub by mistake. What do you do first?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Which costs more per token: what you send, or what the model writes?</a:t>
            </a:r>
            <a:endParaRPr lang="en-US" sz="20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26 / 32</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07</a:t>
            </a:r>
            <a:endParaRPr lang="en-US" sz="1100" dirty="0"/>
          </a:p>
        </p:txBody>
      </p:sp>
      <p:sp>
        <p:nvSpPr>
          <p:cNvPr id="5" name="Text 3"/>
          <p:cNvSpPr/>
          <p:nvPr/>
        </p:nvSpPr>
        <p:spPr>
          <a:xfrm>
            <a:off x="777240" y="841248"/>
            <a:ext cx="10637215" cy="109728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Sorting real tickets: the model suggests, your code decides</a:t>
            </a:r>
            <a:endParaRPr lang="en-US" sz="3000" dirty="0"/>
          </a:p>
        </p:txBody>
      </p:sp>
      <p:sp>
        <p:nvSpPr>
          <p:cNvPr id="6" name="Shape 4"/>
          <p:cNvSpPr/>
          <p:nvPr/>
        </p:nvSpPr>
        <p:spPr>
          <a:xfrm>
            <a:off x="777240" y="2103120"/>
            <a:ext cx="10637215" cy="1239012"/>
          </a:xfrm>
          <a:prstGeom prst="roundRect">
            <a:avLst>
              <a:gd name="adj" fmla="val 8856"/>
            </a:avLst>
          </a:prstGeom>
          <a:solidFill>
            <a:srgbClr val="13272B"/>
          </a:solidFill>
          <a:ln w="9525">
            <a:solidFill>
              <a:srgbClr val="24413F"/>
            </a:solidFill>
            <a:prstDash val="solid"/>
          </a:ln>
        </p:spPr>
      </p:sp>
      <p:sp>
        <p:nvSpPr>
          <p:cNvPr id="7" name="Text 5"/>
          <p:cNvSpPr/>
          <p:nvPr/>
        </p:nvSpPr>
        <p:spPr>
          <a:xfrm>
            <a:off x="960120" y="2212848"/>
            <a:ext cx="10271455" cy="105613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code\taste_of_resolvo.py --provider gemini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T-1002: Hi, checking on order O-58204 (SoundBar Mini). It says shipped...</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{'category': 'shipping_delay', 'priority': 'low', 'sentiment': 'calm'}</a:t>
            </a:r>
            <a:endParaRPr lang="en-US" sz="1350" dirty="0"/>
          </a:p>
        </p:txBody>
      </p:sp>
      <p:sp>
        <p:nvSpPr>
          <p:cNvPr id="8" name="Shape 6"/>
          <p:cNvSpPr/>
          <p:nvPr/>
        </p:nvSpPr>
        <p:spPr>
          <a:xfrm>
            <a:off x="777240" y="3470148"/>
            <a:ext cx="3393338" cy="1394879"/>
          </a:xfrm>
          <a:prstGeom prst="roundRect">
            <a:avLst>
              <a:gd name="adj" fmla="val 6555"/>
            </a:avLst>
          </a:prstGeom>
          <a:solidFill>
            <a:srgbClr val="13272B"/>
          </a:solidFill>
          <a:ln w="12700">
            <a:solidFill>
              <a:srgbClr val="13272B"/>
            </a:solidFill>
            <a:prstDash val="solid"/>
          </a:ln>
        </p:spPr>
      </p:sp>
      <p:sp>
        <p:nvSpPr>
          <p:cNvPr id="9" name="Shape 7"/>
          <p:cNvSpPr/>
          <p:nvPr/>
        </p:nvSpPr>
        <p:spPr>
          <a:xfrm>
            <a:off x="777240" y="3470148"/>
            <a:ext cx="3393338" cy="64008"/>
          </a:xfrm>
          <a:prstGeom prst="rect">
            <a:avLst/>
          </a:prstGeom>
          <a:solidFill>
            <a:srgbClr val="01D294"/>
          </a:solidFill>
          <a:ln w="12700">
            <a:solidFill>
              <a:srgbClr val="01D294"/>
            </a:solidFill>
            <a:prstDash val="solid"/>
          </a:ln>
        </p:spPr>
      </p:sp>
      <p:sp>
        <p:nvSpPr>
          <p:cNvPr id="10" name="Text 8"/>
          <p:cNvSpPr/>
          <p:nvPr/>
        </p:nvSpPr>
        <p:spPr>
          <a:xfrm>
            <a:off x="905256" y="3662172"/>
            <a:ext cx="3137306" cy="367703"/>
          </a:xfrm>
          <a:prstGeom prst="rect">
            <a:avLst/>
          </a:prstGeom>
          <a:noFill/>
          <a:ln/>
        </p:spPr>
        <p:txBody>
          <a:bodyPr wrap="square" lIns="0" tIns="0" rIns="0" bIns="0" rtlCol="0" anchor="t"/>
          <a:lstStyle/>
          <a:p>
            <a:pPr algn="l" indent="0" marL="0">
              <a:buNone/>
            </a:pPr>
            <a:r>
              <a:rPr lang="en-US" sz="1785" b="1" dirty="0">
                <a:solidFill>
                  <a:srgbClr val="01D294"/>
                </a:solidFill>
                <a:latin typeface="Segoe UI" pitchFamily="34" charset="0"/>
                <a:ea typeface="Segoe UI" pitchFamily="34" charset="-122"/>
                <a:cs typeface="Segoe UI" pitchFamily="34" charset="-120"/>
              </a:rPr>
              <a:t>1. Valid JSON?</a:t>
            </a:r>
            <a:endParaRPr lang="en-US" sz="1785" dirty="0"/>
          </a:p>
        </p:txBody>
      </p:sp>
      <p:sp>
        <p:nvSpPr>
          <p:cNvPr id="11" name="Text 9"/>
          <p:cNvSpPr/>
          <p:nvPr/>
        </p:nvSpPr>
        <p:spPr>
          <a:xfrm>
            <a:off x="905256" y="4066451"/>
            <a:ext cx="3137306" cy="335280"/>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Not "Sure! Here's the JSON…"</a:t>
            </a:r>
            <a:endParaRPr lang="en-US" sz="1600" dirty="0"/>
          </a:p>
        </p:txBody>
      </p:sp>
      <p:sp>
        <p:nvSpPr>
          <p:cNvPr id="12" name="Shape 10"/>
          <p:cNvSpPr/>
          <p:nvPr/>
        </p:nvSpPr>
        <p:spPr>
          <a:xfrm>
            <a:off x="4399178" y="3470148"/>
            <a:ext cx="3393338" cy="1394879"/>
          </a:xfrm>
          <a:prstGeom prst="roundRect">
            <a:avLst>
              <a:gd name="adj" fmla="val 6555"/>
            </a:avLst>
          </a:prstGeom>
          <a:solidFill>
            <a:srgbClr val="13272B"/>
          </a:solidFill>
          <a:ln w="12700">
            <a:solidFill>
              <a:srgbClr val="13272B"/>
            </a:solidFill>
            <a:prstDash val="solid"/>
          </a:ln>
        </p:spPr>
      </p:sp>
      <p:sp>
        <p:nvSpPr>
          <p:cNvPr id="13" name="Shape 11"/>
          <p:cNvSpPr/>
          <p:nvPr/>
        </p:nvSpPr>
        <p:spPr>
          <a:xfrm>
            <a:off x="4399178" y="3470148"/>
            <a:ext cx="3393338" cy="64008"/>
          </a:xfrm>
          <a:prstGeom prst="rect">
            <a:avLst/>
          </a:prstGeom>
          <a:solidFill>
            <a:srgbClr val="5AA2FF"/>
          </a:solidFill>
          <a:ln w="12700">
            <a:solidFill>
              <a:srgbClr val="5AA2FF"/>
            </a:solidFill>
            <a:prstDash val="solid"/>
          </a:ln>
        </p:spPr>
      </p:sp>
      <p:sp>
        <p:nvSpPr>
          <p:cNvPr id="14" name="Text 12"/>
          <p:cNvSpPr/>
          <p:nvPr/>
        </p:nvSpPr>
        <p:spPr>
          <a:xfrm>
            <a:off x="4527194" y="3662172"/>
            <a:ext cx="3137306"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2. An object?</a:t>
            </a:r>
            <a:endParaRPr lang="en-US" sz="1785" dirty="0"/>
          </a:p>
        </p:txBody>
      </p:sp>
      <p:sp>
        <p:nvSpPr>
          <p:cNvPr id="15" name="Text 13"/>
          <p:cNvSpPr/>
          <p:nvPr/>
        </p:nvSpPr>
        <p:spPr>
          <a:xfrm>
            <a:off x="4527194" y="4066451"/>
            <a:ext cx="313730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A dict, not a list or a string.</a:t>
            </a:r>
            <a:endParaRPr lang="en-US" sz="1600" dirty="0"/>
          </a:p>
        </p:txBody>
      </p:sp>
      <p:sp>
        <p:nvSpPr>
          <p:cNvPr id="16" name="Shape 14"/>
          <p:cNvSpPr/>
          <p:nvPr/>
        </p:nvSpPr>
        <p:spPr>
          <a:xfrm>
            <a:off x="8021117" y="3470148"/>
            <a:ext cx="3393338" cy="1394879"/>
          </a:xfrm>
          <a:prstGeom prst="roundRect">
            <a:avLst>
              <a:gd name="adj" fmla="val 6555"/>
            </a:avLst>
          </a:prstGeom>
          <a:solidFill>
            <a:srgbClr val="13272B"/>
          </a:solidFill>
          <a:ln w="12700">
            <a:solidFill>
              <a:srgbClr val="13272B"/>
            </a:solidFill>
            <a:prstDash val="solid"/>
          </a:ln>
        </p:spPr>
      </p:sp>
      <p:sp>
        <p:nvSpPr>
          <p:cNvPr id="17" name="Shape 15"/>
          <p:cNvSpPr/>
          <p:nvPr/>
        </p:nvSpPr>
        <p:spPr>
          <a:xfrm>
            <a:off x="8021117" y="3470148"/>
            <a:ext cx="3393338" cy="64008"/>
          </a:xfrm>
          <a:prstGeom prst="rect">
            <a:avLst/>
          </a:prstGeom>
          <a:solidFill>
            <a:srgbClr val="FFC53D"/>
          </a:solidFill>
          <a:ln w="12700">
            <a:solidFill>
              <a:srgbClr val="FFC53D"/>
            </a:solidFill>
            <a:prstDash val="solid"/>
          </a:ln>
        </p:spPr>
      </p:sp>
      <p:sp>
        <p:nvSpPr>
          <p:cNvPr id="18" name="Text 16"/>
          <p:cNvSpPr/>
          <p:nvPr/>
        </p:nvSpPr>
        <p:spPr>
          <a:xfrm>
            <a:off x="8149133" y="3662172"/>
            <a:ext cx="3137306"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3. Allowed values?</a:t>
            </a:r>
            <a:endParaRPr lang="en-US" sz="1785" dirty="0"/>
          </a:p>
        </p:txBody>
      </p:sp>
      <p:sp>
        <p:nvSpPr>
          <p:cNvPr id="19" name="Text 17"/>
          <p:cNvSpPr/>
          <p:nvPr/>
        </p:nvSpPr>
        <p:spPr>
          <a:xfrm>
            <a:off x="8149133" y="4066451"/>
            <a:ext cx="3137306" cy="335280"/>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Every field from the list.</a:t>
            </a:r>
            <a:endParaRPr lang="en-US" sz="1600" dirty="0"/>
          </a:p>
        </p:txBody>
      </p:sp>
      <p:sp>
        <p:nvSpPr>
          <p:cNvPr id="20" name="Text 18"/>
          <p:cNvSpPr/>
          <p:nvPr/>
        </p:nvSpPr>
        <p:spPr>
          <a:xfrm>
            <a:off x="777240" y="4993043"/>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Anything that fails is printed as </a:t>
            </a:r>
            <a:pPr algn="l" indent="0" marL="0">
              <a:buNone/>
            </a:pPr>
            <a:r>
              <a:rPr lang="en-US" sz="1500" dirty="0">
                <a:solidFill>
                  <a:srgbClr val="D8FFF0"/>
                </a:solidFill>
                <a:latin typeface="Consolas" pitchFamily="34" charset="0"/>
                <a:ea typeface="Consolas" pitchFamily="34" charset="-122"/>
                <a:cs typeface="Consolas" pitchFamily="34" charset="-120"/>
              </a:rPr>
              <a:t>REJECTED</a:t>
            </a:r>
            <a:pPr algn="l" indent="0" marL="0">
              <a:buNone/>
            </a:pPr>
            <a:r>
              <a:rPr lang="en-US" sz="1700" dirty="0">
                <a:solidFill>
                  <a:srgbClr val="EEF6F3"/>
                </a:solidFill>
                <a:latin typeface="Segoe UI" pitchFamily="34" charset="0"/>
                <a:ea typeface="Segoe UI" pitchFamily="34" charset="-122"/>
                <a:cs typeface="Segoe UI" pitchFamily="34" charset="-120"/>
              </a:rPr>
              <a:t> with the raw reply. It is never used.</a:t>
            </a:r>
            <a:endParaRPr lang="en-US" sz="1700" dirty="0"/>
          </a:p>
        </p:txBody>
      </p:sp>
      <p:sp>
        <p:nvSpPr>
          <p:cNvPr id="21" name="Text 1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22" name="Text 2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27 / 32</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07</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Two kinds of wrong</a:t>
            </a:r>
            <a:endParaRPr lang="en-US" sz="3000" dirty="0"/>
          </a:p>
        </p:txBody>
      </p:sp>
      <p:sp>
        <p:nvSpPr>
          <p:cNvPr id="6" name="Shape 4"/>
          <p:cNvSpPr/>
          <p:nvPr/>
        </p:nvSpPr>
        <p:spPr>
          <a:xfrm>
            <a:off x="777240" y="1577340"/>
            <a:ext cx="10637215" cy="1169822"/>
          </a:xfrm>
          <a:prstGeom prst="roundRect">
            <a:avLst>
              <a:gd name="adj" fmla="val 7817"/>
            </a:avLst>
          </a:prstGeom>
          <a:solidFill>
            <a:srgbClr val="2E2A14"/>
          </a:solidFill>
          <a:ln w="12700">
            <a:solidFill>
              <a:srgbClr val="2E2A14"/>
            </a:solidFill>
            <a:prstDash val="solid"/>
          </a:ln>
        </p:spPr>
      </p:sp>
      <p:sp>
        <p:nvSpPr>
          <p:cNvPr id="7" name="Shape 5"/>
          <p:cNvSpPr/>
          <p:nvPr/>
        </p:nvSpPr>
        <p:spPr>
          <a:xfrm>
            <a:off x="777240" y="1577340"/>
            <a:ext cx="82296" cy="1169822"/>
          </a:xfrm>
          <a:prstGeom prst="rect">
            <a:avLst/>
          </a:prstGeom>
          <a:solidFill>
            <a:srgbClr val="FFC53D"/>
          </a:solidFill>
          <a:ln w="12700">
            <a:solidFill>
              <a:srgbClr val="FFC53D"/>
            </a:solidFill>
            <a:prstDash val="solid"/>
          </a:ln>
        </p:spPr>
      </p:sp>
      <p:sp>
        <p:nvSpPr>
          <p:cNvPr id="8" name="Text 6"/>
          <p:cNvSpPr/>
          <p:nvPr/>
        </p:nvSpPr>
        <p:spPr>
          <a:xfrm>
            <a:off x="1051560" y="1687068"/>
            <a:ext cx="10225735" cy="237744"/>
          </a:xfrm>
          <a:prstGeom prst="rect">
            <a:avLst/>
          </a:prstGeom>
          <a:noFill/>
          <a:ln/>
        </p:spPr>
        <p:txBody>
          <a:bodyPr wrap="square" lIns="0" tIns="0" rIns="0" bIns="0" rtlCol="0" anchor="t"/>
          <a:lstStyle/>
          <a:p>
            <a:pPr indent="0" marL="0">
              <a:buNone/>
            </a:pPr>
            <a:r>
              <a:rPr lang="en-US" sz="1050" b="1" spc="300" kern="0" dirty="0">
                <a:solidFill>
                  <a:srgbClr val="FFC53D"/>
                </a:solidFill>
                <a:latin typeface="Segoe UI" pitchFamily="34" charset="0"/>
                <a:ea typeface="Segoe UI" pitchFamily="34" charset="-122"/>
                <a:cs typeface="Segoe UI" pitchFamily="34" charset="-120"/>
              </a:rPr>
              <a:t>T-1011, RUN ON LLAMA3.2</a:t>
            </a:r>
            <a:endParaRPr lang="en-US" sz="1050" dirty="0"/>
          </a:p>
        </p:txBody>
      </p:sp>
      <p:sp>
        <p:nvSpPr>
          <p:cNvPr id="9" name="Text 7"/>
          <p:cNvSpPr/>
          <p:nvPr/>
        </p:nvSpPr>
        <p:spPr>
          <a:xfrm>
            <a:off x="1051560" y="192481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"I received a Nimbus smart speaker as a birthday gift last week and I already own the same one…" → </a:t>
            </a:r>
            <a:pPr algn="l" indent="0" marL="0">
              <a:buNone/>
            </a:pPr>
            <a:r>
              <a:rPr lang="en-US" sz="1510" dirty="0">
                <a:solidFill>
                  <a:srgbClr val="D8FFF0"/>
                </a:solidFill>
                <a:latin typeface="Consolas" pitchFamily="34" charset="0"/>
                <a:ea typeface="Consolas" pitchFamily="34" charset="-122"/>
                <a:cs typeface="Consolas" pitchFamily="34" charset="-120"/>
              </a:rPr>
              <a:t>OK {'category': 'product_defect', ...}</a:t>
            </a:r>
            <a:endParaRPr lang="en-US" sz="1720" dirty="0"/>
          </a:p>
        </p:txBody>
      </p:sp>
      <p:sp>
        <p:nvSpPr>
          <p:cNvPr id="10" name="Shape 8"/>
          <p:cNvSpPr/>
          <p:nvPr/>
        </p:nvSpPr>
        <p:spPr>
          <a:xfrm>
            <a:off x="777240" y="2875178"/>
            <a:ext cx="5204308" cy="1742961"/>
          </a:xfrm>
          <a:prstGeom prst="roundRect">
            <a:avLst>
              <a:gd name="adj" fmla="val 5246"/>
            </a:avLst>
          </a:prstGeom>
          <a:solidFill>
            <a:srgbClr val="13272B"/>
          </a:solidFill>
          <a:ln w="12700">
            <a:solidFill>
              <a:srgbClr val="13272B"/>
            </a:solidFill>
            <a:prstDash val="solid"/>
          </a:ln>
        </p:spPr>
      </p:sp>
      <p:sp>
        <p:nvSpPr>
          <p:cNvPr id="11" name="Shape 9"/>
          <p:cNvSpPr/>
          <p:nvPr/>
        </p:nvSpPr>
        <p:spPr>
          <a:xfrm>
            <a:off x="777240" y="2875178"/>
            <a:ext cx="5204308" cy="64008"/>
          </a:xfrm>
          <a:prstGeom prst="rect">
            <a:avLst/>
          </a:prstGeom>
          <a:solidFill>
            <a:srgbClr val="FF7A7A"/>
          </a:solidFill>
          <a:ln w="12700">
            <a:solidFill>
              <a:srgbClr val="FF7A7A"/>
            </a:solidFill>
            <a:prstDash val="solid"/>
          </a:ln>
        </p:spPr>
      </p:sp>
      <p:sp>
        <p:nvSpPr>
          <p:cNvPr id="12" name="Text 10"/>
          <p:cNvSpPr/>
          <p:nvPr/>
        </p:nvSpPr>
        <p:spPr>
          <a:xfrm>
            <a:off x="905256" y="3067202"/>
            <a:ext cx="4948276" cy="367703"/>
          </a:xfrm>
          <a:prstGeom prst="rect">
            <a:avLst/>
          </a:prstGeom>
          <a:noFill/>
          <a:ln/>
        </p:spPr>
        <p:txBody>
          <a:bodyPr wrap="square" lIns="0" tIns="0" rIns="0" bIns="0" rtlCol="0" anchor="t"/>
          <a:lstStyle/>
          <a:p>
            <a:pPr algn="l" indent="0" marL="0">
              <a:buNone/>
            </a:pPr>
            <a:r>
              <a:rPr lang="en-US" sz="1785" b="1" dirty="0">
                <a:solidFill>
                  <a:srgbClr val="FF7A7A"/>
                </a:solidFill>
                <a:latin typeface="Segoe UI" pitchFamily="34" charset="0"/>
                <a:ea typeface="Segoe UI" pitchFamily="34" charset="-122"/>
                <a:cs typeface="Segoe UI" pitchFamily="34" charset="-120"/>
              </a:rPr>
              <a:t>Wrong shape</a:t>
            </a:r>
            <a:endParaRPr lang="en-US" sz="1785" dirty="0"/>
          </a:p>
        </p:txBody>
      </p:sp>
      <p:sp>
        <p:nvSpPr>
          <p:cNvPr id="13" name="Text 11"/>
          <p:cNvSpPr/>
          <p:nvPr/>
        </p:nvSpPr>
        <p:spPr>
          <a:xfrm>
            <a:off x="905256" y="3471481"/>
            <a:ext cx="494827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Not JSON, or a value off the list. Code catches it every time.</a:t>
            </a:r>
            <a:endParaRPr lang="en-US" sz="1600" dirty="0"/>
          </a:p>
        </p:txBody>
      </p:sp>
      <p:sp>
        <p:nvSpPr>
          <p:cNvPr id="14" name="Text 12"/>
          <p:cNvSpPr/>
          <p:nvPr/>
        </p:nvSpPr>
        <p:spPr>
          <a:xfrm>
            <a:off x="905256" y="4142041"/>
            <a:ext cx="4948276" cy="293218"/>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Your code can check this.</a:t>
            </a:r>
            <a:endParaRPr lang="en-US" sz="1360" dirty="0"/>
          </a:p>
        </p:txBody>
      </p:sp>
      <p:sp>
        <p:nvSpPr>
          <p:cNvPr id="15" name="Shape 13"/>
          <p:cNvSpPr/>
          <p:nvPr/>
        </p:nvSpPr>
        <p:spPr>
          <a:xfrm>
            <a:off x="6210148" y="2875178"/>
            <a:ext cx="5204308" cy="1742961"/>
          </a:xfrm>
          <a:prstGeom prst="roundRect">
            <a:avLst>
              <a:gd name="adj" fmla="val 5246"/>
            </a:avLst>
          </a:prstGeom>
          <a:solidFill>
            <a:srgbClr val="13272B"/>
          </a:solidFill>
          <a:ln w="12700">
            <a:solidFill>
              <a:srgbClr val="13272B"/>
            </a:solidFill>
            <a:prstDash val="solid"/>
          </a:ln>
        </p:spPr>
      </p:sp>
      <p:sp>
        <p:nvSpPr>
          <p:cNvPr id="16" name="Shape 14"/>
          <p:cNvSpPr/>
          <p:nvPr/>
        </p:nvSpPr>
        <p:spPr>
          <a:xfrm>
            <a:off x="6210148" y="2875178"/>
            <a:ext cx="5204308" cy="64008"/>
          </a:xfrm>
          <a:prstGeom prst="rect">
            <a:avLst/>
          </a:prstGeom>
          <a:solidFill>
            <a:srgbClr val="FF7A7A"/>
          </a:solidFill>
          <a:ln w="12700">
            <a:solidFill>
              <a:srgbClr val="FF7A7A"/>
            </a:solidFill>
            <a:prstDash val="solid"/>
          </a:ln>
        </p:spPr>
      </p:sp>
      <p:sp>
        <p:nvSpPr>
          <p:cNvPr id="17" name="Text 15"/>
          <p:cNvSpPr/>
          <p:nvPr/>
        </p:nvSpPr>
        <p:spPr>
          <a:xfrm>
            <a:off x="6338164" y="3067202"/>
            <a:ext cx="4948276" cy="367703"/>
          </a:xfrm>
          <a:prstGeom prst="rect">
            <a:avLst/>
          </a:prstGeom>
          <a:noFill/>
          <a:ln/>
        </p:spPr>
        <p:txBody>
          <a:bodyPr wrap="square" lIns="0" tIns="0" rIns="0" bIns="0" rtlCol="0" anchor="t"/>
          <a:lstStyle/>
          <a:p>
            <a:pPr algn="l" indent="0" marL="0">
              <a:buNone/>
            </a:pPr>
            <a:r>
              <a:rPr lang="en-US" sz="1785" b="1" dirty="0">
                <a:solidFill>
                  <a:srgbClr val="FF7A7A"/>
                </a:solidFill>
                <a:latin typeface="Segoe UI" pitchFamily="34" charset="0"/>
                <a:ea typeface="Segoe UI" pitchFamily="34" charset="-122"/>
                <a:cs typeface="Segoe UI" pitchFamily="34" charset="-120"/>
              </a:rPr>
              <a:t>Wrong answer</a:t>
            </a:r>
            <a:endParaRPr lang="en-US" sz="1785" dirty="0"/>
          </a:p>
        </p:txBody>
      </p:sp>
      <p:sp>
        <p:nvSpPr>
          <p:cNvPr id="18" name="Text 16"/>
          <p:cNvSpPr/>
          <p:nvPr/>
        </p:nvSpPr>
        <p:spPr>
          <a:xfrm>
            <a:off x="6338164" y="3471481"/>
            <a:ext cx="494827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Perfect JSON, wrong label. The speaker isn't faulty: it's a duplicate gift.</a:t>
            </a:r>
            <a:endParaRPr lang="en-US" sz="1600" dirty="0"/>
          </a:p>
        </p:txBody>
      </p:sp>
      <p:sp>
        <p:nvSpPr>
          <p:cNvPr id="19" name="Text 17"/>
          <p:cNvSpPr/>
          <p:nvPr/>
        </p:nvSpPr>
        <p:spPr>
          <a:xfrm>
            <a:off x="6338164" y="4142041"/>
            <a:ext cx="4948276" cy="293218"/>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No check on one reply can catch this.</a:t>
            </a:r>
            <a:endParaRPr lang="en-US" sz="1360" dirty="0"/>
          </a:p>
        </p:txBody>
      </p:sp>
      <p:sp>
        <p:nvSpPr>
          <p:cNvPr id="20" name="Text 18"/>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21" name="Text 19"/>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28 / 32</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08</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Your course key: bring your own</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2287829"/>
                <a:gridCol w="1486814"/>
                <a:gridCol w="6862572"/>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Provider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Whole course?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Notes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b="1" dirty="0">
                          <a:solidFill>
                            <a:srgbClr val="FFFFFF"/>
                          </a:solidFill>
                          <a:latin typeface="Segoe UI" pitchFamily="34" charset="0"/>
                          <a:ea typeface="Segoe UI" pitchFamily="34" charset="-122"/>
                          <a:cs typeface="Segoe UI" pitchFamily="34" charset="-120"/>
                        </a:rPr>
                        <a:t>OpenAI</a:t>
                      </a:r>
                      <a:pPr indent="0" marL="0">
                        <a:buNone/>
                      </a:pPr>
                      <a:r>
                        <a:rPr lang="en-US" sz="1450" dirty="0">
                          <a:solidFill>
                            <a:srgbClr val="EEF6F3"/>
                          </a:solidFill>
                          <a:latin typeface="Segoe UI" pitchFamily="34" charset="0"/>
                          <a:ea typeface="Segoe UI" pitchFamily="34" charset="-122"/>
                          <a:cs typeface="Segoe UI" pitchFamily="34" charset="-120"/>
                        </a:rPr>
                        <a:t> (recommended)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Yes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One key covers everything, embeddings included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Azure OpenAI</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Yes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If your employer already gives you Azure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Anthropic</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Not alone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Some course code only speaks OpenAI or Azure, so you'd need an OpenAI key as well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Text 4"/>
          <p:cNvSpPr/>
          <p:nvPr/>
        </p:nvSpPr>
        <p:spPr>
          <a:xfrm>
            <a:off x="777240" y="3533775"/>
            <a:ext cx="10637215" cy="1639824"/>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D8FFF0"/>
                </a:solidFill>
                <a:latin typeface="Consolas" pitchFamily="34" charset="0"/>
                <a:ea typeface="Consolas" pitchFamily="34" charset="-122"/>
                <a:cs typeface="Consolas" pitchFamily="34" charset="-120"/>
              </a:rPr>
              <a:t>platform.openai.com</a:t>
            </a:r>
            <a:pPr indent="0" marL="0">
              <a:buNone/>
            </a:pPr>
            <a:r>
              <a:rPr lang="en-US" sz="2000" dirty="0">
                <a:solidFill>
                  <a:srgbClr val="EEF6F3"/>
                </a:solidFill>
                <a:latin typeface="Segoe UI" pitchFamily="34" charset="0"/>
                <a:ea typeface="Segoe UI" pitchFamily="34" charset="-122"/>
                <a:cs typeface="Segoe UI" pitchFamily="34" charset="-120"/>
              </a:rPr>
              <a:t> → Billing: add </a:t>
            </a:r>
            <a:pPr indent="0" marL="0">
              <a:buNone/>
            </a:pPr>
            <a:r>
              <a:rPr lang="en-US" sz="2000" b="1" dirty="0">
                <a:solidFill>
                  <a:srgbClr val="FFFFFF"/>
                </a:solidFill>
                <a:latin typeface="Segoe UI" pitchFamily="34" charset="0"/>
                <a:ea typeface="Segoe UI" pitchFamily="34" charset="-122"/>
                <a:cs typeface="Segoe UI" pitchFamily="34" charset="-120"/>
              </a:rPr>
              <a:t>$10</a:t>
            </a:r>
            <a:pPr indent="0" marL="0">
              <a:buNone/>
            </a:pPr>
            <a:r>
              <a:rPr lang="en-US" sz="2000" dirty="0">
                <a:solidFill>
                  <a:srgbClr val="EEF6F3"/>
                </a:solidFill>
                <a:latin typeface="Segoe UI" pitchFamily="34" charset="0"/>
                <a:ea typeface="Segoe UI" pitchFamily="34" charset="-122"/>
                <a:cs typeface="Segoe UI" pitchFamily="34" charset="-120"/>
              </a:rPr>
              <a:t> prepaid credit.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Limits: set a monthly budget.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API keys: create one called </a:t>
            </a:r>
            <a:pPr indent="0" marL="0">
              <a:buNone/>
            </a:pPr>
            <a:r>
              <a:rPr lang="en-US" sz="2000" dirty="0">
                <a:solidFill>
                  <a:srgbClr val="D8FFF0"/>
                </a:solidFill>
                <a:latin typeface="Consolas" pitchFamily="34" charset="0"/>
                <a:ea typeface="Consolas" pitchFamily="34" charset="-122"/>
                <a:cs typeface="Consolas" pitchFamily="34" charset="-120"/>
              </a:rPr>
              <a:t>resolvo</a:t>
            </a:r>
            <a:pPr indent="0" marL="0">
              <a:buNone/>
            </a:pPr>
            <a:r>
              <a:rPr lang="en-US" sz="2000" dirty="0">
                <a:solidFill>
                  <a:srgbClr val="EEF6F3"/>
                </a:solidFill>
                <a:latin typeface="Segoe UI" pitchFamily="34" charset="0"/>
                <a:ea typeface="Segoe UI" pitchFamily="34" charset="-122"/>
                <a:cs typeface="Segoe UI" pitchFamily="34" charset="-120"/>
              </a:rPr>
              <a:t> (the kit's name for it). You only see it once.</a:t>
            </a:r>
            <a:endParaRPr lang="en-US" sz="2000" dirty="0"/>
          </a:p>
        </p:txBody>
      </p:sp>
      <p:sp>
        <p:nvSpPr>
          <p:cNvPr id="8" name="Text 5"/>
          <p:cNvSpPr/>
          <p:nvPr/>
        </p:nvSpPr>
        <p:spPr>
          <a:xfrm>
            <a:off x="777240" y="5301615"/>
            <a:ext cx="10637215" cy="352806"/>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ChatGPT Plus and Claude Pro don't include API access. They're separate products.</a:t>
            </a:r>
            <a:endParaRPr lang="en-US" sz="1700" dirty="0"/>
          </a:p>
        </p:txBody>
      </p:sp>
      <p:sp>
        <p:nvSpPr>
          <p:cNvPr id="9" name="Text 6"/>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0" name="Text 7"/>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29 / 32</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08</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Get the code, install, fill in, check</a:t>
            </a:r>
            <a:endParaRPr lang="en-US" sz="3000" dirty="0"/>
          </a:p>
        </p:txBody>
      </p:sp>
      <p:sp>
        <p:nvSpPr>
          <p:cNvPr id="6" name="Shape 4"/>
          <p:cNvSpPr/>
          <p:nvPr/>
        </p:nvSpPr>
        <p:spPr>
          <a:xfrm>
            <a:off x="777240" y="1577340"/>
            <a:ext cx="10637215" cy="4078224"/>
          </a:xfrm>
          <a:prstGeom prst="roundRect">
            <a:avLst>
              <a:gd name="adj" fmla="val 2691"/>
            </a:avLst>
          </a:prstGeom>
          <a:solidFill>
            <a:srgbClr val="13272B"/>
          </a:solidFill>
          <a:ln w="9525">
            <a:solidFill>
              <a:srgbClr val="24413F"/>
            </a:solidFill>
            <a:prstDash val="solid"/>
          </a:ln>
        </p:spPr>
      </p:sp>
      <p:sp>
        <p:nvSpPr>
          <p:cNvPr id="7" name="Text 5"/>
          <p:cNvSpPr/>
          <p:nvPr/>
        </p:nvSpPr>
        <p:spPr>
          <a:xfrm>
            <a:off x="960120" y="1687068"/>
            <a:ext cx="10271455" cy="3895344"/>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from the folder that holds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git clone https://github.com/hasankanaan26/deskhand-workshop.git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cd deskhand-workshop</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deactivate                          # only if your prompt starts with (.venv)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-3.12 -m venv .venv; .venv\Scripts\activate   # the course's own 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pip install -r requirements.txt     # the full course list: 10 to 20 minutes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copy .env.example .env              # then set LLM_PROVIDER=openai and OPENAI_API_KEY=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python ..\prep-kit\code\check_setup.py --live      # output trimmed</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Course repo found: C:\...\deskhand-workshop</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The course's virtual environment is active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Course provider: openai (key filled in)</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[warn] Mock order API not running (fine for now)</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Live call to openai (gpt-4o-mini) answered: 'ready'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Ready for Day 1. See you on Monday.</a:t>
            </a:r>
            <a:endParaRPr lang="en-US" sz="1350" dirty="0"/>
          </a:p>
        </p:txBody>
      </p:sp>
      <p:sp>
        <p:nvSpPr>
          <p:cNvPr id="8" name="Text 6"/>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9" name="Text 7"/>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30 / 32</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2075688"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BEFORE MONDAY</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Ready for day one</a:t>
            </a:r>
            <a:endParaRPr lang="en-US" sz="3000" dirty="0"/>
          </a:p>
        </p:txBody>
      </p:sp>
      <p:sp>
        <p:nvSpPr>
          <p:cNvPr id="6" name="Text 4"/>
          <p:cNvSpPr/>
          <p:nvPr/>
        </p:nvSpPr>
        <p:spPr>
          <a:xfrm>
            <a:off x="777240" y="1577340"/>
            <a:ext cx="5090008" cy="1427988"/>
          </a:xfrm>
          <a:prstGeom prst="rect">
            <a:avLst/>
          </a:prstGeom>
          <a:noFill/>
          <a:ln/>
        </p:spPr>
        <p:txBody>
          <a:bodyPr wrap="square" lIns="0" tIns="0" rIns="0" bIns="0" rtlCol="0" anchor="t"/>
          <a:lstStyle/>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1.  </a:t>
            </a:r>
            <a:pPr indent="0" marL="0">
              <a:buNone/>
            </a:pPr>
            <a:r>
              <a:rPr lang="en-US" sz="1450" dirty="0">
                <a:solidFill>
                  <a:srgbClr val="EEF6F3"/>
                </a:solidFill>
                <a:latin typeface="Segoe UI" pitchFamily="34" charset="0"/>
                <a:ea typeface="Segoe UI" pitchFamily="34" charset="-122"/>
                <a:cs typeface="Segoe UI" pitchFamily="34" charset="-120"/>
              </a:rPr>
              <a:t>Python 3.12 and </a:t>
            </a:r>
            <a:pPr indent="0" marL="0">
              <a:buNone/>
            </a:pPr>
            <a:r>
              <a:rPr lang="en-US" sz="1450" dirty="0">
                <a:solidFill>
                  <a:srgbClr val="D8FFF0"/>
                </a:solidFill>
                <a:latin typeface="Consolas" pitchFamily="34" charset="0"/>
                <a:ea typeface="Consolas" pitchFamily="34" charset="-122"/>
                <a:cs typeface="Consolas" pitchFamily="34" charset="-120"/>
              </a:rPr>
              <a:t>.venv</a:t>
            </a:r>
            <a:pPr indent="0" marL="0">
              <a:buNone/>
            </a:pPr>
            <a:r>
              <a:rPr lang="en-US" sz="1450" dirty="0">
                <a:solidFill>
                  <a:srgbClr val="EEF6F3"/>
                </a:solidFill>
                <a:latin typeface="Segoe UI" pitchFamily="34" charset="0"/>
                <a:ea typeface="Segoe UI" pitchFamily="34" charset="-122"/>
                <a:cs typeface="Segoe UI" pitchFamily="34" charset="-120"/>
              </a:rPr>
              <a:t> activated</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2.  </a:t>
            </a:r>
            <a:pPr indent="0" marL="0">
              <a:buNone/>
            </a:pPr>
            <a:r>
              <a:rPr lang="en-US" sz="1450" dirty="0">
                <a:solidFill>
                  <a:srgbClr val="EEF6F3"/>
                </a:solidFill>
                <a:latin typeface="Segoe UI" pitchFamily="34" charset="0"/>
                <a:ea typeface="Segoe UI" pitchFamily="34" charset="-122"/>
                <a:cs typeface="Segoe UI" pitchFamily="34" charset="-120"/>
              </a:rPr>
              <a:t>Saw a 404 and a 500 from </a:t>
            </a:r>
            <a:pPr indent="0" marL="0">
              <a:buNone/>
            </a:pPr>
            <a:r>
              <a:rPr lang="en-US" sz="1450" dirty="0">
                <a:solidFill>
                  <a:srgbClr val="D8FFF0"/>
                </a:solidFill>
                <a:latin typeface="Consolas" pitchFamily="34" charset="0"/>
                <a:ea typeface="Consolas" pitchFamily="34" charset="-122"/>
                <a:cs typeface="Consolas" pitchFamily="34" charset="-120"/>
              </a:rPr>
              <a:t>hello_api.py</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3.  </a:t>
            </a:r>
            <a:pPr indent="0" marL="0">
              <a:buNone/>
            </a:pPr>
            <a:r>
              <a:rPr lang="en-US" sz="1450" dirty="0">
                <a:solidFill>
                  <a:srgbClr val="EEF6F3"/>
                </a:solidFill>
                <a:latin typeface="Segoe UI" pitchFamily="34" charset="0"/>
                <a:ea typeface="Segoe UI" pitchFamily="34" charset="-122"/>
                <a:cs typeface="Segoe UI" pitchFamily="34" charset="-120"/>
              </a:rPr>
              <a:t>One LLM call with </a:t>
            </a:r>
            <a:pPr indent="0" marL="0">
              <a:buNone/>
            </a:pPr>
            <a:r>
              <a:rPr lang="en-US" sz="1450" dirty="0">
                <a:solidFill>
                  <a:srgbClr val="D8FFF0"/>
                </a:solidFill>
                <a:latin typeface="Consolas" pitchFamily="34" charset="0"/>
                <a:ea typeface="Consolas" pitchFamily="34" charset="-122"/>
                <a:cs typeface="Consolas" pitchFamily="34" charset="-120"/>
              </a:rPr>
              <a:t>chat.py</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4.  </a:t>
            </a:r>
            <a:pPr indent="0" marL="0">
              <a:buNone/>
            </a:pPr>
            <a:r>
              <a:rPr lang="en-US" sz="1450" dirty="0">
                <a:solidFill>
                  <a:srgbClr val="EEF6F3"/>
                </a:solidFill>
                <a:latin typeface="Segoe UI" pitchFamily="34" charset="0"/>
                <a:ea typeface="Segoe UI" pitchFamily="34" charset="-122"/>
                <a:cs typeface="Segoe UI" pitchFamily="34" charset="-120"/>
              </a:rPr>
              <a:t>Paid course key with a spending limit</a:t>
            </a:r>
            <a:endParaRPr lang="en-US" sz="1450" dirty="0"/>
          </a:p>
        </p:txBody>
      </p:sp>
      <p:sp>
        <p:nvSpPr>
          <p:cNvPr id="7" name="Text 5"/>
          <p:cNvSpPr/>
          <p:nvPr/>
        </p:nvSpPr>
        <p:spPr>
          <a:xfrm>
            <a:off x="6324448" y="1577340"/>
            <a:ext cx="5090008" cy="1427988"/>
          </a:xfrm>
          <a:prstGeom prst="rect">
            <a:avLst/>
          </a:prstGeom>
          <a:noFill/>
          <a:ln/>
        </p:spPr>
        <p:txBody>
          <a:bodyPr wrap="square" lIns="0" tIns="0" rIns="0" bIns="0" rtlCol="0" anchor="t"/>
          <a:lstStyle/>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5.  </a:t>
            </a:r>
            <a:pPr indent="0" marL="0">
              <a:buNone/>
            </a:pPr>
            <a:r>
              <a:rPr lang="en-US" sz="1450" dirty="0">
                <a:solidFill>
                  <a:srgbClr val="D8FFF0"/>
                </a:solidFill>
                <a:latin typeface="Consolas" pitchFamily="34" charset="0"/>
                <a:ea typeface="Consolas" pitchFamily="34" charset="-122"/>
                <a:cs typeface="Consolas" pitchFamily="34" charset="-120"/>
              </a:rPr>
              <a:t>deskhand-workshop/.env</a:t>
            </a:r>
            <a:pPr indent="0" marL="0">
              <a:buNone/>
            </a:pPr>
            <a:r>
              <a:rPr lang="en-US" sz="1450" dirty="0">
                <a:solidFill>
                  <a:srgbClr val="EEF6F3"/>
                </a:solidFill>
                <a:latin typeface="Segoe UI" pitchFamily="34" charset="0"/>
                <a:ea typeface="Segoe UI" pitchFamily="34" charset="-122"/>
                <a:cs typeface="Segoe UI" pitchFamily="34" charset="-120"/>
              </a:rPr>
              <a:t> filled in</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6.  </a:t>
            </a:r>
            <a:pPr indent="0" marL="0">
              <a:buNone/>
            </a:pPr>
            <a:r>
              <a:rPr lang="en-US" sz="1450" dirty="0">
                <a:solidFill>
                  <a:srgbClr val="EEF6F3"/>
                </a:solidFill>
                <a:latin typeface="Segoe UI" pitchFamily="34" charset="0"/>
                <a:ea typeface="Segoe UI" pitchFamily="34" charset="-122"/>
                <a:cs typeface="Segoe UI" pitchFamily="34" charset="-120"/>
              </a:rPr>
              <a:t>Full course install finished</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7.  </a:t>
            </a:r>
            <a:pPr indent="0" marL="0">
              <a:buNone/>
            </a:pPr>
            <a:r>
              <a:rPr lang="en-US" sz="1450" dirty="0">
                <a:solidFill>
                  <a:srgbClr val="D8FFF0"/>
                </a:solidFill>
                <a:latin typeface="Consolas" pitchFamily="34" charset="0"/>
                <a:ea typeface="Consolas" pitchFamily="34" charset="-122"/>
                <a:cs typeface="Consolas" pitchFamily="34" charset="-120"/>
              </a:rPr>
              <a:t>check_setup.py --live</a:t>
            </a:r>
            <a:pPr indent="0" marL="0">
              <a:buNone/>
            </a:pPr>
            <a:r>
              <a:rPr lang="en-US" sz="1450" dirty="0">
                <a:solidFill>
                  <a:srgbClr val="EEF6F3"/>
                </a:solidFill>
                <a:latin typeface="Segoe UI" pitchFamily="34" charset="0"/>
                <a:ea typeface="Segoe UI" pitchFamily="34" charset="-122"/>
                <a:cs typeface="Segoe UI" pitchFamily="34" charset="-120"/>
              </a:rPr>
              <a:t> says Ready</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8.  </a:t>
            </a:r>
            <a:pPr indent="0" marL="0">
              <a:buNone/>
            </a:pPr>
            <a:r>
              <a:rPr lang="en-US" sz="1450" dirty="0">
                <a:solidFill>
                  <a:srgbClr val="D8FFF0"/>
                </a:solidFill>
                <a:latin typeface="Consolas" pitchFamily="34" charset="0"/>
                <a:ea typeface="Consolas" pitchFamily="34" charset="-122"/>
                <a:cs typeface="Consolas" pitchFamily="34" charset="-120"/>
              </a:rPr>
              <a:t>git pull</a:t>
            </a:r>
            <a:pPr indent="0" marL="0">
              <a:buNone/>
            </a:pPr>
            <a:r>
              <a:rPr lang="en-US" sz="1450" dirty="0">
                <a:solidFill>
                  <a:srgbClr val="EEF6F3"/>
                </a:solidFill>
                <a:latin typeface="Segoe UI" pitchFamily="34" charset="0"/>
                <a:ea typeface="Segoe UI" pitchFamily="34" charset="-122"/>
                <a:cs typeface="Segoe UI" pitchFamily="34" charset="-120"/>
              </a:rPr>
              <a:t> the morning of Session 1</a:t>
            </a:r>
            <a:endParaRPr lang="en-US" sz="1450" dirty="0"/>
          </a:p>
        </p:txBody>
      </p:sp>
      <p:sp>
        <p:nvSpPr>
          <p:cNvPr id="8" name="Text 6"/>
          <p:cNvSpPr/>
          <p:nvPr/>
        </p:nvSpPr>
        <p:spPr>
          <a:xfrm>
            <a:off x="777240" y="3133344"/>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Stuck on the last check? Come 20 minutes early on Monday with its output. We'll fix it together.</a:t>
            </a:r>
            <a:endParaRPr lang="en-US" sz="17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31 / 32</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6705432" y="-2400300"/>
            <a:ext cx="7315017" cy="5486400"/>
          </a:xfrm>
          <a:prstGeom prst="ellipse">
            <a:avLst/>
          </a:prstGeom>
          <a:solidFill>
            <a:srgbClr val="0D3029">
              <a:alpha val="55000"/>
            </a:srgbClr>
          </a:solidFill>
          <a:ln w="12700">
            <a:solidFill>
              <a:srgbClr val="0D3029">
                <a:alpha val="0"/>
              </a:srgbClr>
            </a:solidFill>
            <a:prstDash val="solid"/>
          </a:ln>
        </p:spPr>
      </p:sp>
      <p:sp>
        <p:nvSpPr>
          <p:cNvPr id="3" name="Shape 1"/>
          <p:cNvSpPr/>
          <p:nvPr/>
        </p:nvSpPr>
        <p:spPr>
          <a:xfrm>
            <a:off x="-2438339" y="4114800"/>
            <a:ext cx="6705432" cy="5143500"/>
          </a:xfrm>
          <a:prstGeom prst="ellipse">
            <a:avLst/>
          </a:prstGeom>
          <a:solidFill>
            <a:srgbClr val="112A45">
              <a:alpha val="55000"/>
            </a:srgbClr>
          </a:solidFill>
          <a:ln w="12700">
            <a:solidFill>
              <a:srgbClr val="112A45">
                <a:alpha val="0"/>
              </a:srgbClr>
            </a:solidFill>
            <a:prstDash val="solid"/>
          </a:ln>
        </p:spPr>
      </p:sp>
      <p:sp>
        <p:nvSpPr>
          <p:cNvPr id="4" name="Text 2"/>
          <p:cNvSpPr/>
          <p:nvPr/>
        </p:nvSpPr>
        <p:spPr>
          <a:xfrm>
            <a:off x="1234440" y="1589151"/>
            <a:ext cx="9722815" cy="862584"/>
          </a:xfrm>
          <a:prstGeom prst="rect">
            <a:avLst/>
          </a:prstGeom>
          <a:noFill/>
          <a:ln/>
        </p:spPr>
        <p:txBody>
          <a:bodyPr wrap="square" lIns="0" tIns="0" rIns="0" bIns="0" rtlCol="0" anchor="t"/>
          <a:lstStyle/>
          <a:p>
            <a:pPr algn="ctr" indent="0" marL="0">
              <a:buNone/>
            </a:pPr>
            <a:r>
              <a:rPr lang="en-US" sz="4400" b="1" dirty="0">
                <a:solidFill>
                  <a:srgbClr val="FFFFFF"/>
                </a:solidFill>
                <a:latin typeface="Segoe UI" pitchFamily="34" charset="0"/>
                <a:ea typeface="Segoe UI" pitchFamily="34" charset="-122"/>
                <a:cs typeface="Segoe UI" pitchFamily="34" charset="-120"/>
              </a:rPr>
              <a:t>See you on Monday</a:t>
            </a:r>
            <a:endParaRPr lang="en-US" sz="4400" dirty="0"/>
          </a:p>
        </p:txBody>
      </p:sp>
      <p:sp>
        <p:nvSpPr>
          <p:cNvPr id="5" name="Shape 3"/>
          <p:cNvSpPr/>
          <p:nvPr/>
        </p:nvSpPr>
        <p:spPr>
          <a:xfrm>
            <a:off x="5318608" y="2543175"/>
            <a:ext cx="777240" cy="82296"/>
          </a:xfrm>
          <a:prstGeom prst="rect">
            <a:avLst/>
          </a:prstGeom>
          <a:solidFill>
            <a:srgbClr val="01D294"/>
          </a:solidFill>
          <a:ln w="12700">
            <a:solidFill>
              <a:srgbClr val="01D294"/>
            </a:solidFill>
            <a:prstDash val="solid"/>
          </a:ln>
        </p:spPr>
      </p:sp>
      <p:sp>
        <p:nvSpPr>
          <p:cNvPr id="6" name="Shape 4"/>
          <p:cNvSpPr/>
          <p:nvPr/>
        </p:nvSpPr>
        <p:spPr>
          <a:xfrm>
            <a:off x="6095848" y="2543175"/>
            <a:ext cx="777240" cy="82296"/>
          </a:xfrm>
          <a:prstGeom prst="rect">
            <a:avLst/>
          </a:prstGeom>
          <a:solidFill>
            <a:srgbClr val="11958A"/>
          </a:solidFill>
          <a:ln w="12700">
            <a:solidFill>
              <a:srgbClr val="11958A"/>
            </a:solidFill>
            <a:prstDash val="solid"/>
          </a:ln>
        </p:spPr>
      </p:sp>
      <p:sp>
        <p:nvSpPr>
          <p:cNvPr id="7" name="Text 5"/>
          <p:cNvSpPr/>
          <p:nvPr/>
        </p:nvSpPr>
        <p:spPr>
          <a:xfrm>
            <a:off x="1234440" y="2863215"/>
            <a:ext cx="9722815" cy="862584"/>
          </a:xfrm>
          <a:prstGeom prst="rect">
            <a:avLst/>
          </a:prstGeom>
          <a:noFill/>
          <a:ln/>
        </p:spPr>
        <p:txBody>
          <a:bodyPr wrap="square" lIns="0" tIns="0" rIns="0" bIns="0" rtlCol="0" anchor="t"/>
          <a:lstStyle/>
          <a:p>
            <a:pPr algn="ctr" indent="0" marL="0">
              <a:buNone/>
            </a:pPr>
            <a:r>
              <a:rPr lang="en-US" sz="2200" dirty="0">
                <a:solidFill>
                  <a:srgbClr val="EEF6F3"/>
                </a:solidFill>
                <a:latin typeface="Segoe UI" pitchFamily="34" charset="0"/>
                <a:ea typeface="Segoe UI" pitchFamily="34" charset="-122"/>
                <a:cs typeface="Segoe UI" pitchFamily="34" charset="-120"/>
              </a:rPr>
              <a:t>Session 1: What Changed, and What Didn't. In class you watch; in the evenings you run it yourself.</a:t>
            </a:r>
            <a:endParaRPr lang="en-US" sz="2200" dirty="0"/>
          </a:p>
        </p:txBody>
      </p:sp>
      <p:sp>
        <p:nvSpPr>
          <p:cNvPr id="8" name="Text 6"/>
          <p:cNvSpPr/>
          <p:nvPr/>
        </p:nvSpPr>
        <p:spPr>
          <a:xfrm>
            <a:off x="1234440" y="4548759"/>
            <a:ext cx="9722815" cy="354330"/>
          </a:xfrm>
          <a:prstGeom prst="rect">
            <a:avLst/>
          </a:prstGeom>
          <a:noFill/>
          <a:ln/>
        </p:spPr>
        <p:txBody>
          <a:bodyPr wrap="square" lIns="0" tIns="0" rIns="0" bIns="0" rtlCol="0" anchor="t"/>
          <a:lstStyle/>
          <a:p>
            <a:pPr algn="ctr" indent="0" marL="0">
              <a:buNone/>
            </a:pPr>
            <a:r>
              <a:rPr lang="en-US" sz="1500" spc="200" kern="0" dirty="0">
                <a:solidFill>
                  <a:srgbClr val="01D294"/>
                </a:solidFill>
                <a:latin typeface="Segoe UI" pitchFamily="34" charset="0"/>
                <a:ea typeface="Segoe UI" pitchFamily="34" charset="-122"/>
                <a:cs typeface="Segoe UI" pitchFamily="34" charset="-120"/>
              </a:rPr>
              <a:t>Monday, October 19, 2026 · prep-kit/README.md has everything from today</a:t>
            </a:r>
            <a:endParaRPr lang="en-US" sz="15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Deskhand</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32 / 32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00: Before Day One</dc:title>
  <dc:subject>PptxGenJS Presentation</dc:subject>
  <dc:creator>Applied AI Engineering · SE Factory</dc:creator>
  <cp:lastModifiedBy>Applied AI Engineering · SE Factory</cp:lastModifiedBy>
  <cp:revision>1</cp:revision>
  <dcterms:created xsi:type="dcterms:W3CDTF">2026-10-21T20:06:08Z</dcterms:created>
  <dcterms:modified xsi:type="dcterms:W3CDTF">2026-10-21T20:06:08Z</dcterms:modified>
</cp:coreProperties>
</file>