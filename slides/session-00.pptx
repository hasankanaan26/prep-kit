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Today is optional and nothing is graded. The goal: on Monday, nothing on the screen is completely new.</a:t>
            </a:r>
            <a:endParaRPr lang="en-US" dirty="0"/>
          </a:p>
          <a:p>
            <a:r>
              <a:rPr lang="en-US" b="1" dirty="0"/>
              <a:t>SAY:</a:t>
            </a:r>
            <a:r>
              <a:rPr lang="en-US" dirty="0"/>
              <a:t> "Nobody needs to master this before Monday. We'll walk through the kit and get as many laptops working as we can."</a:t>
            </a:r>
            <a:endParaRPr lang="en-US" dirty="0"/>
          </a:p>
          <a:p>
            <a:r>
              <a:rPr lang="en-US" b="1" dirty="0"/>
              <a:t>IF ASKED:</a:t>
            </a:r>
            <a:r>
              <a:rPr lang="en-US" dirty="0"/>
              <a:t> The kit is a folder called prep-kit: eight short steps, three to four hours alone.</a:t>
            </a:r>
            <a:endParaRPr lang="en-US" dirty="0"/>
          </a:p>
          <a:p>
            <a:endParaRPr lang="en-US" dirty="0"/>
          </a:p>
          <a:p>
            <a:r>
              <a:rPr lang="en-US" dirty="0"/>
              <a:t>──── INSTRUCTOR GUIDE ────</a:t>
            </a:r>
            <a:endParaRPr lang="en-US" dirty="0"/>
          </a:p>
          <a:p>
            <a:r>
              <a:rPr lang="en-US" dirty="0"/>
              <a:t>TIMING (75 MINUTES)</a:t>
            </a:r>
            <a:endParaRPr lang="en-US" dirty="0"/>
          </a:p>
          <a:p>
            <a:r>
              <a:rPr lang="en-US" dirty="0"/>
              <a:t>Block — Slides — Minutes — If you're running late</a:t>
            </a:r>
            <a:endParaRPr lang="en-US" dirty="0"/>
          </a:p>
          <a:p>
            <a:r>
              <a:rPr lang="en-US" dirty="0"/>
              <a:t>Welcome and the route — 1–4 — 8 — Skip slide 3; Session 1 tells the story anyway</a:t>
            </a:r>
            <a:endParaRPr lang="en-US" dirty="0"/>
          </a:p>
          <a:p>
            <a:r>
              <a:rPr lang="en-US" dirty="0"/>
              <a:t>Terminal and venv — 5–8 — 12 — Show slide 6, then point at the step 01 page</a:t>
            </a:r>
            <a:endParaRPr lang="en-US" dirty="0"/>
          </a:p>
          <a:p>
            <a:r>
              <a:rPr lang="en-US" dirty="0"/>
              <a:t>APIs — 9–13 — 13 — Demo the /docs page only, skip hello_api.py</a:t>
            </a:r>
            <a:endParaRPr lang="en-US" dirty="0"/>
          </a:p>
          <a:p>
            <a:r>
              <a:rPr lang="en-US" dirty="0"/>
              <a:t>Secrets — 14–15 — 5 — Read the four habits, move on</a:t>
            </a:r>
            <a:endParaRPr lang="en-US" dirty="0"/>
          </a:p>
          <a:p>
            <a:r>
              <a:rPr lang="en-US" dirty="0"/>
              <a:t>Where LLMs came from, LLM calls, three providers — 16–22 — 17 — Skip 16 (it's in the extra reading); one live call, not three</a:t>
            </a:r>
            <a:endParaRPr lang="en-US" dirty="0"/>
          </a:p>
          <a:p>
            <a:r>
              <a:rPr lang="en-US" dirty="0"/>
              <a:t>Tokens, cost, taste of Resolvo — 23–28 — 10 — Keep 28 (two kinds of wrong); skip 24 and 25</a:t>
            </a:r>
            <a:endParaRPr lang="en-US" dirty="0"/>
          </a:p>
          <a:p>
            <a:r>
              <a:rPr lang="en-US" dirty="0"/>
              <a:t>Course key and setup check — 29–32 — 10 — Never cut this block</a:t>
            </a:r>
            <a:endParaRPr lang="en-US" dirty="0"/>
          </a:p>
          <a:p>
            <a:endParaRPr lang="en-US" dirty="0"/>
          </a:p>
          <a:p>
            <a:r>
              <a:rPr lang="en-US" dirty="0"/>
              <a:t>Leave the call open for 15 minutes afterwards for anyone whose setup check fails.</a:t>
            </a:r>
            <a:endParaRPr lang="en-US" dirty="0"/>
          </a:p>
          <a:p>
            <a:endParaRPr lang="en-US" dirty="0"/>
          </a:p>
          <a:p>
            <a:r>
              <a:rPr lang="en-US" dirty="0"/>
              <a:t>──── INSTRUCTOR GUIDE ────</a:t>
            </a:r>
            <a:endParaRPr lang="en-US" dirty="0"/>
          </a:p>
          <a:p>
            <a:r>
              <a:rPr lang="en-US" dirty="0"/>
              <a:t>BEFORE THE CALL</a:t>
            </a:r>
            <a:endParaRPr lang="en-US" dirty="0"/>
          </a:p>
          <a:p>
            <a:r>
              <a:rPr lang="en-US" dirty="0"/>
              <a:t>• [ ] Run every command in the deck once on your own machine, today. Model names on free tiers change, and a retired model gives a 404.</a:t>
            </a:r>
            <a:endParaRPr lang="en-US" dirty="0"/>
          </a:p>
          <a:p>
            <a:r>
              <a:rPr lang="en-US" dirty="0"/>
              <a:t>• [ ] Have Ollama running with llama3.2 pulled, so you have one demo that needs no network and no key.</a:t>
            </a:r>
            <a:endParaRPr lang="en-US" dirty="0"/>
          </a:p>
          <a:p>
            <a:r>
              <a:rPr lang="en-US" dirty="0"/>
              <a:t>• [ ] Start the mock order API in a terminal you can share.</a:t>
            </a:r>
            <a:endParaRPr lang="en-US" dirty="0"/>
          </a:p>
          <a:p>
            <a:r>
              <a:rPr lang="en-US" dirty="0"/>
              <a:t>• [ ] Have &lt;https://github.com/hasankanaan26/prep-kit&gt; ready to paste into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Only step 08 must be done before Monday: a paid course key and the full install.</a:t>
            </a:r>
            <a:endParaRPr lang="en-US" dirty="0"/>
          </a:p>
          <a:p>
            <a:r>
              <a:rPr lang="en-US" b="1" dirty="0"/>
              <a:t>SAY:</a:t>
            </a:r>
            <a:r>
              <a:rPr lang="en-US" dirty="0"/>
              <a:t> Keep it relaxed. "Already use a terminal and APIs? Go straight to steps 04, 05 and 08."</a:t>
            </a:r>
            <a:endParaRPr lang="en-US" dirty="0"/>
          </a:p>
          <a:p>
            <a:r>
              <a:rPr lang="en-US" b="1" dirty="0"/>
              <a:t>IF ASKED:</a:t>
            </a:r>
            <a:r>
              <a:rPr lang="en-US" dirty="0"/>
              <a:t> The install takes 10 to 20 minutes, and we don't want to spend class time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Every tool today shows up again in the Resolvo story.</a:t>
            </a:r>
            <a:endParaRPr lang="en-US" dirty="0"/>
          </a:p>
          <a:p>
            <a:r>
              <a:rPr lang="en-US" b="1" dirty="0"/>
              <a:t>SAY:</a:t>
            </a:r>
            <a:r>
              <a:rPr lang="en-US" dirty="0"/>
              <a:t> "You'll meet this ticket again on Monday." Keep it short; Session 1 tells the story properly.</a:t>
            </a:r>
            <a:endParaRPr lang="en-US" dirty="0"/>
          </a:p>
          <a:p>
            <a:r>
              <a:rPr lang="en-US" b="1" dirty="0"/>
              <a:t>SAY:</a:t>
            </a:r>
            <a:r>
              <a:rPr lang="en-US" dirty="0"/>
              <a:t> "In class I drive and you steer: you pick the tickets, call the predictions, vote at the approval gate. Every session ends with a one-page 'try this tonight', and that's what today's setup is for."</a:t>
            </a:r>
            <a:endParaRPr lang="en-US" dirty="0"/>
          </a:p>
          <a:p>
            <a:r>
              <a:rPr lang="en-US" b="1" dirty="0"/>
              <a:t>IF ASKED:</a:t>
            </a:r>
            <a:r>
              <a:rPr lang="en-US" dirty="0"/>
              <a:t> The kit's data/tickets.json holds the same 60 tickets they'll use all month, so T-1001 will feel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Step 08 is the must-do. The rest can wait for the weekend.</a:t>
            </a:r>
            <a:endParaRPr lang="en-US" dirty="0"/>
          </a:p>
          <a:p>
            <a:r>
              <a:rPr lang="en-US" b="1" dirty="0"/>
              <a:t>SAY:</a:t>
            </a:r>
            <a:r>
              <a:rPr lang="en-US" dirty="0"/>
              <a:t> "Steps 04 and 05 overlap. Laptop can't run a local model? Skip 05. Can't sign up for Google? Use OpenRouter or Ollama."</a:t>
            </a:r>
            <a:endParaRPr lang="en-US" dirty="0"/>
          </a:p>
          <a:p>
            <a:r>
              <a:rPr lang="en-US" b="1" dirty="0"/>
              <a:t>IF ASKED:</a:t>
            </a:r>
            <a:r>
              <a:rPr lang="en-US" dirty="0"/>
              <a:t> Each step page ends with a "Try this" list and an "If something went wrong"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Check which folder you're in before you run anything.</a:t>
            </a:r>
            <a:endParaRPr lang="en-US" dirty="0"/>
          </a:p>
          <a:p>
            <a:r>
              <a:rPr lang="en-US" b="1" dirty="0"/>
              <a:t>DO:</a:t>
            </a:r>
            <a:r>
              <a:rPr lang="en-US" dirty="0"/>
              <a:t> Demo pwd, ls and cd live. In VS Code, Ctrl+backtick opens a terminal.</a:t>
            </a:r>
            <a:endParaRPr lang="en-US" dirty="0"/>
          </a:p>
          <a:p>
            <a:r>
              <a:rPr lang="en-US" b="1" dirty="0"/>
              <a:t>IF ASKED:</a:t>
            </a:r>
            <a:r>
              <a:rPr lang="en-US" dirty="0"/>
              <a:t> The silent failure is real. Session 1's broken bot finds its policy files by relative path. Run it from the repo root and it answers without any policies, and no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A venv is a private Python with its own packages, one per project.</a:t>
            </a:r>
            <a:endParaRPr lang="en-US" dirty="0"/>
          </a:p>
          <a:p>
            <a:r>
              <a:rPr lang="en-US" b="1" dirty="0"/>
              <a:t>SAY:</a:t>
            </a:r>
            <a:r>
              <a:rPr lang="en-US" dirty="0"/>
              <a:t> "Packages are other people's code, like openai or httpx. In one shared Python, projects fight over versions. A venv is a separate toolbox per job."</a:t>
            </a:r>
            <a:endParaRPr lang="en-US" dirty="0"/>
          </a:p>
          <a:p>
            <a:r>
              <a:rPr lang="en-US" b="1" dirty="0"/>
              <a:t>WATCH OUT:</a:t>
            </a:r>
            <a:r>
              <a:rPr lang="en-US" dirty="0"/>
              <a:t> Venv in a bad state? Delete the .venv folder and make it again. Nothing else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venv makes the folder, activate switches this terminal to it, pip install fills it from a shopping list, requirements.txt.</a:t>
            </a:r>
            <a:endParaRPr lang="en-US" dirty="0"/>
          </a:p>
          <a:p>
            <a:r>
              <a:rPr lang="en-US" b="1" dirty="0"/>
              <a:t>SAY:</a:t>
            </a:r>
            <a:r>
              <a:rPr lang="en-US" dirty="0"/>
              <a:t> "On Windows we use py, the Python launcher, because plain python often isn't on the PATH."</a:t>
            </a:r>
            <a:endParaRPr lang="en-US" dirty="0"/>
          </a:p>
          <a:p>
            <a:r>
              <a:rPr lang="en-US" b="1" dirty="0"/>
              <a:t>IF ASKED:</a:t>
            </a:r>
            <a:r>
              <a:rPr lang="en-US" dirty="0"/>
              <a:t> The course gets its own venv and a much bigger list in step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Same command, different Python. The second run, without activating, is where it clicks.</a:t>
            </a:r>
            <a:endParaRPr lang="en-US" dirty="0"/>
          </a:p>
          <a:p>
            <a:r>
              <a:rPr lang="en-US" b="1" dirty="0"/>
              <a:t>DO:</a:t>
            </a:r>
            <a:r>
              <a:rPr lang="en-US" dirty="0"/>
              <a:t> Give them three minutes if they're following along.</a:t>
            </a:r>
            <a:endParaRPr lang="en-US" dirty="0"/>
          </a:p>
          <a:p>
            <a:r>
              <a:rPr lang="en-US" b="1" dirty="0"/>
              <a:t>WATCH OUT:</a:t>
            </a:r>
            <a:r>
              <a:rPr lang="en-US" dirty="0"/>
              <a:t> pip installed the packages but the script says MISSING? The venv wasn't active when they ran pip. Activate and install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Every API call is a request and a response. A call to a language model has exactly this shape: a POST, JSON in, JSON out.</a:t>
            </a:r>
            <a:endParaRPr lang="en-US" dirty="0"/>
          </a:p>
          <a:p>
            <a:r>
              <a:rPr lang="en-US" b="1" dirty="0"/>
              <a:t>SAY:</a:t>
            </a:r>
            <a:r>
              <a:rPr lang="en-US" dirty="0"/>
              <a:t> "An API is a menu another program offers you." Headers are notes on the envelope, like your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Good code reads the status code and decides what to do.</a:t>
            </a:r>
            <a:endParaRPr lang="en-US" dirty="0"/>
          </a:p>
          <a:p>
            <a:r>
              <a:rPr lang="en-US" b="1" dirty="0"/>
              <a:t>SAY:</a:t>
            </a:r>
            <a:r>
              <a:rPr lang="en-US" dirty="0"/>
              <a:t> "429 on a free tier means wait, don't hammer it. 500 means the other side broke. Real APIs do, and the course makes them fail on purpose so you can practise."</a:t>
            </a:r>
            <a:endParaRPr lang="en-US" dirty="0"/>
          </a:p>
          <a:p>
            <a:r>
              <a:rPr lang="en-US" b="1" dirty="0"/>
              <a:t>IF ASKED:</a:t>
            </a:r>
            <a:r>
              <a:rPr lang="en-US" dirty="0"/>
              <a:t> The mock API fails on demand: an X-Chaos header for one request, or MOCK_CHAOS for all. Session 5 uses MOCK_CHAOS.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They make real API calls to a small fake Nimbus order system, which the course uses every week.</a:t>
            </a:r>
            <a:endParaRPr lang="en-US" dirty="0"/>
          </a:p>
          <a:p>
            <a:r>
              <a:rPr lang="en-US" b="1" dirty="0"/>
              <a:t>DO:</a:t>
            </a:r>
            <a:r>
              <a:rPr lang="en-US" dirty="0"/>
              <a:t> On /docs: GET /orders/{order_id}, Try it out, O-48291, Execute. Then run hello_api.py and read the output aloud.</a:t>
            </a:r>
            <a:endParaRPr lang="en-US" dirty="0"/>
          </a:p>
          <a:p>
            <a:r>
              <a:rPr lang="en-US" b="1" dirty="0"/>
              <a:t>ASK:</a:t>
            </a:r>
            <a:r>
              <a:rPr lang="en-US" dirty="0"/>
              <a:t> "Is the 404 a bug?" Answer: No. The server answered: that order doesn't exist.</a:t>
            </a:r>
            <a:endParaRPr lang="en-US" dirty="0"/>
          </a:p>
          <a:p>
            <a:endParaRPr lang="en-US" dirty="0"/>
          </a:p>
          <a:p>
            <a:r>
              <a:rPr lang="en-US" dirty="0"/>
              <a:t>──── INSTRUCTOR GUIDE ────</a:t>
            </a:r>
            <a:endParaRPr lang="en-US" dirty="0"/>
          </a:p>
          <a:p>
            <a:r>
              <a:rPr lang="en-US" dirty="0"/>
              <a:t>A REAL API, RUNNING ON YOUR LAPTOP</a:t>
            </a:r>
            <a:endParaRPr lang="en-US" dirty="0"/>
          </a:p>
          <a:p>
            <a:r>
              <a:rPr lang="en-US" dirty="0"/>
              <a:t>Open http://localhost:9000/docs first. Clicking "Try it out" on GET /orders/{order_id} is the gentlest possible first API call, and the response panel shows the status code and the JSON together. Then run hello_api.py and read the five blocks aloud. Ask "is the 404 a bug?" before you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The same Idempotency-Key means the customer is refunded once, however many times you retry.</a:t>
            </a:r>
            <a:endParaRPr lang="en-US" dirty="0"/>
          </a:p>
          <a:p>
            <a:r>
              <a:rPr lang="en-US" b="1" dirty="0"/>
              <a:t>SAY:</a:t>
            </a:r>
            <a:r>
              <a:rPr lang="en-US" dirty="0"/>
              <a:t> "A refund times out. Did it happen? You don't know, so you retry. Without a key, that can refund twice. With it, the server returns the first refund."</a:t>
            </a:r>
            <a:endParaRPr lang="en-US" dirty="0"/>
          </a:p>
          <a:p>
            <a:r>
              <a:rPr lang="en-US" b="1" dirty="0"/>
              <a:t>IF ASKED:</a:t>
            </a:r>
            <a:r>
              <a:rPr lang="en-US" dirty="0"/>
              <a:t> Session 5 builds the real refund tool on this. Don't go deeper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dirty="0"/>
              <a:t> Question 1. Answer: No. The server answered correctly: that order doesn't exist. A 404 is information, not a failure.</a:t>
            </a:r>
            <a:endParaRPr lang="en-US" dirty="0"/>
          </a:p>
          <a:p>
            <a:r>
              <a:rPr lang="en-US" b="1" dirty="0"/>
              <a:t>ASK:</a:t>
            </a:r>
            <a:r>
              <a:rPr lang="en-US" dirty="0"/>
              <a:t> Question 2. Answer: The server remembers the key. If the first request went through, it returns that refund; if not, the retry does it. Refunded exactly once.</a:t>
            </a:r>
            <a:endParaRPr lang="en-US" dirty="0"/>
          </a:p>
          <a:p>
            <a:r>
              <a:rPr lang="en-US" b="1" dirty="0"/>
              <a:t>ASK:</a:t>
            </a:r>
            <a:r>
              <a:rPr lang="en-US" dirty="0"/>
              <a:t> Question 3. Answer: Activating the venv in this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A key is your username and password in one string, tied to your credit card. It lives in .env, never in code.</a:t>
            </a:r>
            <a:endParaRPr lang="en-US" dirty="0"/>
          </a:p>
          <a:p>
            <a:r>
              <a:rPr lang="en-US" b="1" dirty="0"/>
              <a:t>SAY:</a:t>
            </a:r>
            <a:r>
              <a:rPr lang="en-US" dirty="0"/>
              <a:t> "Environment variables are named values the operating system hands to each program."</a:t>
            </a:r>
            <a:endParaRPr lang="en-US" dirty="0"/>
          </a:p>
          <a:p>
            <a:r>
              <a:rPr lang="en-US" b="1" dirty="0"/>
              <a:t>DO:</a:t>
            </a:r>
            <a:r>
              <a:rPr lang="en-US" dirty="0"/>
              <a:t> Show show_env.py: which keys are set and how long, never the value. It flags a trailing space and quote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Set a spending limit the day you create a paid key.</a:t>
            </a:r>
            <a:endParaRPr lang="en-US" dirty="0"/>
          </a:p>
          <a:p>
            <a:r>
              <a:rPr lang="en-US" b="1" dirty="0"/>
              <a:t>SAY:</a:t>
            </a:r>
            <a:r>
              <a:rPr lang="en-US" dirty="0"/>
              <a:t> "A loop with a bug can make thousands of calls while you're at lunch. A limit turns that into an annoyance instead of a bill." Leaked keys are common; revoking is fast.</a:t>
            </a:r>
            <a:endParaRPr lang="en-US" dirty="0"/>
          </a:p>
          <a:p>
            <a:r>
              <a:rPr lang="en-US" b="1" dirty="0"/>
              <a:t>IF ASKED:</a:t>
            </a:r>
            <a:r>
              <a:rPr lang="en-US" dirty="0"/>
              <a:t> Two .env files keep practice and course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Behind the API is a text predictor trained to be helpful. Optional: skip it if short on time and point at prep-kit/extra-how-llms-work.md.</a:t>
            </a:r>
            <a:endParaRPr lang="en-US" dirty="0"/>
          </a:p>
          <a:p>
            <a:r>
              <a:rPr lang="en-US" b="1" dirty="0"/>
              <a:t>SAY:</a:t>
            </a:r>
            <a:r>
              <a:rPr lang="en-US" dirty="0"/>
              <a:t> "Ask a raw model 'What is your refund window?' and it may continue 'What is your shipping time?' It thinks it's on an FAQ page. An instruction-tuned model answers."</a:t>
            </a:r>
            <a:endParaRPr lang="en-US" dirty="0"/>
          </a:p>
          <a:p>
            <a:r>
              <a:rPr lang="en-US" b="1" dirty="0"/>
              <a:t>IF ASKED:</a:t>
            </a:r>
            <a:r>
              <a:rPr lang="en-US" dirty="0"/>
              <a:t> ML is machine learning: the computer learns rules from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An LLM call is the same POST as step 02: JSON in, JSON out.</a:t>
            </a:r>
            <a:endParaRPr lang="en-US" dirty="0"/>
          </a:p>
          <a:p>
            <a:r>
              <a:rPr lang="en-US" b="1" dirty="0"/>
              <a:t>SAY:</a:t>
            </a:r>
            <a:r>
              <a:rPr lang="en-US" dirty="0"/>
              <a:t> "System sets the rules, user asks. Temperature near 0 gives the same answer most times; higher gives variety. Usage is the token count, and the bill is based on it."</a:t>
            </a:r>
            <a:endParaRPr lang="en-US" dirty="0"/>
          </a:p>
          <a:p>
            <a:r>
              <a:rPr lang="en-US" b="1" dirty="0"/>
              <a:t>IF ASKED:</a:t>
            </a:r>
            <a:r>
              <a:rPr lang="en-US" dirty="0"/>
              <a:t> What a token is comes in step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A provider is an address plus a key. The openai package talks to all three; only base_url, the key and the model name change.</a:t>
            </a:r>
            <a:endParaRPr lang="en-US" dirty="0"/>
          </a:p>
          <a:p>
            <a:r>
              <a:rPr lang="en-US" b="1" dirty="0"/>
              <a:t>SAY:</a:t>
            </a:r>
            <a:r>
              <a:rPr lang="en-US" dirty="0"/>
              <a:t> "Most providers copy OpenAI's request shape, so one package works for all of them."</a:t>
            </a:r>
            <a:endParaRPr lang="en-US" dirty="0"/>
          </a:p>
          <a:p>
            <a:r>
              <a:rPr lang="en-US" b="1" dirty="0"/>
              <a:t>DO:</a:t>
            </a:r>
            <a:r>
              <a:rPr lang="en-US" dirty="0"/>
              <a:t> Open prep-kit/code/providers.py, a three-row table. Run chat.py with two --provider values: only the bracket line changes.</a:t>
            </a:r>
            <a:endParaRPr lang="en-US" dirty="0"/>
          </a:p>
          <a:p>
            <a:endParaRPr lang="en-US" dirty="0"/>
          </a:p>
          <a:p>
            <a:r>
              <a:rPr lang="en-US" dirty="0"/>
              <a:t>──── INSTRUCTOR GUIDE ────</a:t>
            </a:r>
            <a:endParaRPr lang="en-US" dirty="0"/>
          </a:p>
          <a:p>
            <a:r>
              <a:rPr lang="en-US" dirty="0"/>
              <a:t>ONE SDK, THREE ADDRESSES</a:t>
            </a:r>
            <a:endParaRPr lang="en-US" dirty="0"/>
          </a:p>
          <a:p>
            <a:r>
              <a:rPr lang="en-US" dirty="0"/>
              <a:t>Open prep-kit/code/providers.py next to the slide. The whole provider table is three entries with a URL, a key name and a default model. Then run chat.py twice with two different --provider values and point out that only the bracket line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Everything clever in the next four weeks happens around this call, not inside it.</a:t>
            </a:r>
            <a:endParaRPr lang="en-US" dirty="0"/>
          </a:p>
          <a:p>
            <a:r>
              <a:rPr lang="en-US" b="1" dirty="0"/>
              <a:t>DO:</a:t>
            </a:r>
            <a:r>
              <a:rPr lang="en-US" dirty="0"/>
              <a:t> Read it line by line: a client with an address and a key, a model name and messages, then the reply and two token counts.</a:t>
            </a:r>
            <a:endParaRPr lang="en-US" dirty="0"/>
          </a:p>
          <a:p>
            <a:r>
              <a:rPr lang="en-US" b="1" dirty="0"/>
              <a:t>IF ASKED:</a:t>
            </a:r>
            <a:r>
              <a:rPr lang="en-US" dirty="0"/>
              <a:t> chat.py adds a timer and turns the usual errors (missing key, 401, 429, 404) into a sentence with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Three free ways to practise. None of them is wired into the course code.</a:t>
            </a:r>
            <a:endParaRPr lang="en-US" dirty="0"/>
          </a:p>
          <a:p>
            <a:r>
              <a:rPr lang="en-US" b="1" dirty="0"/>
              <a:t>WATCH OUT:</a:t>
            </a:r>
            <a:r>
              <a:rPr lang="en-US" dirty="0"/>
              <a:t> Gemini's free tier may use what you send. Never send anything personal or from work.</a:t>
            </a:r>
            <a:endParaRPr lang="en-US" dirty="0"/>
          </a:p>
          <a:p>
            <a:r>
              <a:rPr lang="en-US" b="1" dirty="0"/>
              <a:t>SAY:</a:t>
            </a:r>
            <a:r>
              <a:rPr lang="en-US" dirty="0"/>
              <a:t> "OpenRouter shows how many models exist: the model name in the output changes as openrouter/free picks one. Ollama shows that a model is just a file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Everyone gets one working call, and sees temperature change the answers.</a:t>
            </a:r>
            <a:endParaRPr lang="en-US" dirty="0"/>
          </a:p>
          <a:p>
            <a:r>
              <a:rPr lang="en-US" b="1" dirty="0"/>
              <a:t>DO:</a:t>
            </a:r>
            <a:r>
              <a:rPr lang="en-US" dirty="0"/>
              <a:t> Point at the bracket line: model, tokens in, tokens out, milliseconds. Those four numbers come back every session. Theirs will differ from the slide.</a:t>
            </a:r>
            <a:endParaRPr lang="en-US" dirty="0"/>
          </a:p>
          <a:p>
            <a:r>
              <a:rPr lang="en-US" b="1" dirty="0"/>
              <a:t>WATCH OUT:</a:t>
            </a:r>
            <a:r>
              <a:rPr lang="en-US" dirty="0"/>
              <a:t> 429 is the free tier: wait a minute. 401: show_env.py usually spots a stray space or quote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A model can run on your own laptop, even offline.</a:t>
            </a:r>
            <a:endParaRPr lang="en-US" dirty="0"/>
          </a:p>
          <a:p>
            <a:r>
              <a:rPr lang="en-US" b="1" dirty="0"/>
              <a:t>DO:</a:t>
            </a:r>
            <a:r>
              <a:rPr lang="en-US" dirty="0"/>
              <a:t> Warn them the first call takes 10 to 20 seconds while the model loads. Then turn off Wi-Fi and run it again. It still works.</a:t>
            </a:r>
            <a:endParaRPr lang="en-US" dirty="0"/>
          </a:p>
          <a:p>
            <a:r>
              <a:rPr lang="en-US" b="1" dirty="0"/>
              <a:t>WATCH OUT:</a:t>
            </a:r>
            <a:r>
              <a:rPr lang="en-US" dirty="0"/>
              <a:t> The CUDA crash is real; the CPU fix works. No model runs at all? Fine: Gemini and OpenRouter cover the rest.</a:t>
            </a:r>
            <a:endParaRPr lang="en-US" dirty="0"/>
          </a:p>
          <a:p>
            <a:endParaRPr lang="en-US" dirty="0"/>
          </a:p>
          <a:p>
            <a:r>
              <a:rPr lang="en-US" dirty="0"/>
              <a:t>──── INSTRUCTOR GUIDE ────</a:t>
            </a:r>
            <a:endParaRPr lang="en-US" dirty="0"/>
          </a:p>
          <a:p>
            <a:r>
              <a:rPr lang="en-US" dirty="0"/>
              <a:t>A MODEL ON YOUR OWN LAPTOP</a:t>
            </a:r>
            <a:endParaRPr lang="en-US" dirty="0"/>
          </a:p>
          <a:p>
            <a:r>
              <a:rPr lang="en-US" dirty="0"/>
              <a:t>Turn off your Wi-Fi on screen and run the Ollama call. The first call after a restart takes 10 to 20 seconds to load the model; warn them before it happens so the silence doesn't look like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Models read tokens, not words. The order number is two pieces the model never sees as one.</a:t>
            </a:r>
            <a:endParaRPr lang="en-US" dirty="0"/>
          </a:p>
          <a:p>
            <a:r>
              <a:rPr lang="en-US" b="1" dirty="0"/>
              <a:t>SAY:</a:t>
            </a:r>
            <a:r>
              <a:rPr lang="en-US" dirty="0"/>
              <a:t> "A tokenizer cuts text into chunks and turns each into a number." Point at 482 and 91: that's part of why models sometimes garble long numbers when copying them.</a:t>
            </a:r>
            <a:endParaRPr lang="en-US" dirty="0"/>
          </a:p>
          <a:p>
            <a:r>
              <a:rPr lang="en-US" b="1" dirty="0"/>
              <a:t>IF ASKED:</a:t>
            </a:r>
            <a:r>
              <a:rPr lang="en-US" dirty="0"/>
              <a:t> It runs offline; nothing is sent. Session 1 goes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The same request costs more in Arabic, because the tokenizer learned mostly from English.</a:t>
            </a:r>
            <a:endParaRPr lang="en-US" dirty="0"/>
          </a:p>
          <a:p>
            <a:r>
              <a:rPr lang="en-US" b="1" dirty="0"/>
              <a:t>DO:</a:t>
            </a:r>
            <a:r>
              <a:rPr lang="en-US" dirty="0"/>
              <a:t> Ask who has built a product for Arabic-speaking users.</a:t>
            </a:r>
            <a:endParaRPr lang="en-US" dirty="0"/>
          </a:p>
          <a:p>
            <a:r>
              <a:rPr lang="en-US" b="1" dirty="0"/>
              <a:t>SAY:</a:t>
            </a:r>
            <a:r>
              <a:rPr lang="en-US" dirty="0"/>
              <a:t> "More tokens means more cost and a little more time. Estimate costs with your real customers' language, not English test data."</a:t>
            </a:r>
            <a:endParaRPr lang="en-US" dirty="0"/>
          </a:p>
          <a:p>
            <a:r>
              <a:rPr lang="en-US" b="1" dirty="0"/>
              <a:t>IF ASKED:</a:t>
            </a:r>
            <a:r>
              <a:rPr lang="en-US" dirty="0"/>
              <a:t> Counts are from the GPT-4o tokenizer (o200k_base). Other tokenizers differ; the gap has narrowed but not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The choice of model dominates the bill, and the reply usually costs more than the question.</a:t>
            </a:r>
            <a:endParaRPr lang="en-US" dirty="0"/>
          </a:p>
          <a:p>
            <a:r>
              <a:rPr lang="en-US" b="1" dirty="0"/>
              <a:t>SAY:</a:t>
            </a:r>
            <a:r>
              <a:rPr lang="en-US" dirty="0"/>
              <a:t> "Input tokens times input price, plus output tokens times output price, divided by a million." count_tokens.py does it for them.</a:t>
            </a:r>
            <a:endParaRPr lang="en-US" dirty="0"/>
          </a:p>
          <a:p>
            <a:r>
              <a:rPr lang="en-US" b="1" dirty="0"/>
              <a:t>IF ASKED:</a:t>
            </a:r>
            <a:r>
              <a:rPr lang="en-US" dirty="0"/>
              <a:t> compare.py times one ticket on every provider they've set up. Times vary run to run; Session 1 measures over many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dirty="0"/>
              <a:t> Question 1. Answer: The address (base_url), the key and the model name, which is just a string. The request code stays the same.</a:t>
            </a:r>
            <a:endParaRPr lang="en-US" dirty="0"/>
          </a:p>
          <a:p>
            <a:r>
              <a:rPr lang="en-US" b="1" dirty="0"/>
              <a:t>ASK:</a:t>
            </a:r>
            <a:r>
              <a:rPr lang="en-US" dirty="0"/>
              <a:t> Question 2. Answer: Revoke it in the provider's dashboard right away, then make a new one. Deleting the commit isn't enough: the key is already out.</a:t>
            </a:r>
            <a:endParaRPr lang="en-US" dirty="0"/>
          </a:p>
          <a:p>
            <a:r>
              <a:rPr lang="en-US" b="1" dirty="0"/>
              <a:t>ASK:</a:t>
            </a:r>
            <a:r>
              <a:rPr lang="en-US" dirty="0"/>
              <a:t> Question 3. Answer: What the model writes. For gpt-4o-mini, four times the input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The model suggests, your code decides. That rule runs through the whole course, especially for refunds.</a:t>
            </a:r>
            <a:endParaRPr lang="en-US" dirty="0"/>
          </a:p>
          <a:p>
            <a:r>
              <a:rPr lang="en-US" b="1" dirty="0"/>
              <a:t>SAY:</a:t>
            </a:r>
            <a:r>
              <a:rPr lang="en-US" dirty="0"/>
              <a:t> "The prompt says reply with ONLY a JSON object, and models still say 'Sure! Here's the JSON', wrap it in a code fence, or invent a category."</a:t>
            </a:r>
            <a:endParaRPr lang="en-US" dirty="0"/>
          </a:p>
          <a:p>
            <a:r>
              <a:rPr lang="en-US" b="1" dirty="0"/>
              <a:t>IF ASKED:</a:t>
            </a:r>
            <a:r>
              <a:rPr lang="en-US" dirty="0"/>
              <a:t> It's a small version of checkpoint 01, with the same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A reply can pass every check and still be wrong. This is a real run from building the kit.</a:t>
            </a:r>
            <a:endParaRPr lang="en-US" dirty="0"/>
          </a:p>
          <a:p>
            <a:r>
              <a:rPr lang="en-US" b="1" dirty="0"/>
              <a:t>ASK:</a:t>
            </a:r>
            <a:r>
              <a:rPr lang="en-US" dirty="0"/>
              <a:t> "What code could catch this?" Answer: None, by looking at one reply. You run many tickets with known answers: evaluation, Session 10.</a:t>
            </a:r>
            <a:endParaRPr lang="en-US" dirty="0"/>
          </a:p>
          <a:p>
            <a:r>
              <a:rPr lang="en-US" b="1" dirty="0"/>
              <a:t>SAY:</a:t>
            </a:r>
            <a:r>
              <a:rPr lang="en-US" dirty="0"/>
              <a:t> "Nothing is defective. The customer got a duplicate gift and wants to return it."</a:t>
            </a:r>
            <a:endParaRPr lang="en-US" dirty="0"/>
          </a:p>
          <a:p>
            <a:endParaRPr lang="en-US" dirty="0"/>
          </a:p>
          <a:p>
            <a:r>
              <a:rPr lang="en-US" dirty="0"/>
              <a:t>──── INSTRUCTOR GUIDE ────</a:t>
            </a:r>
            <a:endParaRPr lang="en-US" dirty="0"/>
          </a:p>
          <a:p>
            <a:r>
              <a:rPr lang="en-US" dirty="0"/>
              <a:t>TWO KINDS OF WRONG</a:t>
            </a:r>
            <a:endParaRPr lang="en-US" dirty="0"/>
          </a:p>
          <a:p>
            <a:r>
              <a:rPr lang="en-US" dirty="0"/>
              <a:t>This is the most important slide of the second half. The T-1011 result is real: llama3.2 labelled a duplicate gift as product_defect, and the reply passed every check. Ask the room what code could catch that. The honest answer is "none, by looking at one reply", which sets up Session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The must-do: a paid course key with $10 credit and a monthly budget.</a:t>
            </a:r>
            <a:endParaRPr lang="en-US" dirty="0"/>
          </a:p>
          <a:p>
            <a:r>
              <a:rPr lang="en-US" b="1" dirty="0"/>
              <a:t>SAY:</a:t>
            </a:r>
            <a:r>
              <a:rPr lang="en-US" dirty="0"/>
              <a:t> "$10 is plenty. On the default small model an evening's steps cost cents, and the slides warn you before anything costs more."</a:t>
            </a:r>
            <a:endParaRPr lang="en-US" dirty="0"/>
          </a:p>
          <a:p>
            <a:r>
              <a:rPr lang="en-US" b="1" dirty="0"/>
              <a:t>WATCH OUT:</a:t>
            </a:r>
            <a:r>
              <a:rPr lang="en-US" dirty="0"/>
              <a:t> Azure: deployment name, not model name.</a:t>
            </a:r>
            <a:endParaRPr lang="en-US" dirty="0"/>
          </a:p>
          <a:p>
            <a:r>
              <a:rPr lang="en-US" b="1" dirty="0"/>
              <a:t>IF ASKED:</a:t>
            </a:r>
            <a:r>
              <a:rPr lang="en-US" dirty="0"/>
              <a:t> Anthropic alone fails because Session 1's bot only speaks OpenAI or Azure, and Anthropic has no embeddings API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Clone the course repo next to the kit, give it its own venv, and run the check until it says Ready.</a:t>
            </a:r>
            <a:endParaRPr lang="en-US" dirty="0"/>
          </a:p>
          <a:p>
            <a:r>
              <a:rPr lang="en-US" b="1" dirty="0"/>
              <a:t>WATCH OUT:</a:t>
            </a:r>
            <a:r>
              <a:rPr lang="en-US" dirty="0"/>
              <a:t> The template starts with LLM_PROVIDER=azure. Students fill in the OpenAI key and miss that line. The check names it.</a:t>
            </a:r>
            <a:endParaRPr lang="en-US" dirty="0"/>
          </a:p>
          <a:p>
            <a:r>
              <a:rPr lang="en-US" b="1" dirty="0"/>
              <a:t>SAY:</a:t>
            </a:r>
            <a:r>
              <a:rPr lang="en-US" dirty="0"/>
              <a:t> "Warn lines are fine. Only FAIL lines need fixing, and each prints what to do."</a:t>
            </a:r>
            <a:endParaRPr lang="en-US" dirty="0"/>
          </a:p>
          <a:p>
            <a:r>
              <a:rPr lang="en-US" b="1" dirty="0"/>
              <a:t>IF ASKED:</a:t>
            </a:r>
            <a:r>
              <a:rPr lang="en-US" dirty="0"/>
              <a:t> --live makes one tiny real call, a fraction of a cent.</a:t>
            </a:r>
            <a:endParaRPr lang="en-US" dirty="0"/>
          </a:p>
          <a:p>
            <a:endParaRPr lang="en-US" dirty="0"/>
          </a:p>
          <a:p>
            <a:r>
              <a:rPr lang="en-US" dirty="0"/>
              <a:t>──── INSTRUCTOR GUIDE ────</a:t>
            </a:r>
            <a:endParaRPr lang="en-US" dirty="0"/>
          </a:p>
          <a:p>
            <a:r>
              <a:rPr lang="en-US" dirty="0"/>
              <a:t>COMMON PROBLEMS</a:t>
            </a:r>
            <a:endParaRPr lang="en-US" dirty="0"/>
          </a:p>
          <a:p>
            <a:r>
              <a:rPr lang="en-US" dirty="0"/>
              <a:t>Symptom — Cause — Fix</a:t>
            </a:r>
            <a:endParaRPr lang="en-US" dirty="0"/>
          </a:p>
          <a:p>
            <a:r>
              <a:rPr lang="en-US" dirty="0"/>
              <a:t>py not found (Windows) — Python not installed, or installed without the launcher — Reinstall from python.org with the defaults</a:t>
            </a:r>
            <a:endParaRPr lang="en-US" dirty="0"/>
          </a:p>
          <a:p>
            <a:r>
              <a:rPr lang="en-US" dirty="0"/>
              <a:t>running scripts is disabled — PowerShell execution policy — Set-ExecutionPolicy -Scope CurrentUser RemoteSigned</a:t>
            </a:r>
            <a:endParaRPr lang="en-US" dirty="0"/>
          </a:p>
          <a:p>
            <a:r>
              <a:rPr lang="en-US" dirty="0"/>
              <a:t>MISSING packages right after pip install — pip ran outside the venv — Activate, install again</a:t>
            </a:r>
            <a:endParaRPr lang="en-US" dirty="0"/>
          </a:p>
          <a:p>
            <a:r>
              <a:rPr lang="en-US" dirty="0"/>
              <a:t>Gemini or OpenRouter 401 — Key pasted with a space or quotes — show_env.py flags both</a:t>
            </a:r>
            <a:endParaRPr lang="en-US" dirty="0"/>
          </a:p>
          <a:p>
            <a:r>
              <a:rPr lang="en-US" dirty="0"/>
              <a:t>429 on Gemini or OpenRouter — Free-tier rate limit — Wait a minute; OpenRouter allows about 50 free requests a day without credit</a:t>
            </a:r>
            <a:endParaRPr lang="en-US" dirty="0"/>
          </a:p>
          <a:p>
            <a:r>
              <a:rPr lang="en-US" dirty="0"/>
              <a:t>Ollama 500 mentioning CUDA — GPU driver problem — Quit Ollama, then $env:CUDA_VISIBLE_DEVICES="-1"; ollama serve</a:t>
            </a:r>
            <a:endParaRPr lang="en-US" dirty="0"/>
          </a:p>
          <a:p>
            <a:r>
              <a:rPr lang="en-US" dirty="0"/>
              <a:t>check_setup.py: "This is the prep kit's venv" — Ran the check before switching venvs — deactivate, then activate resolvo-workshop/.venv and run it from there</a:t>
            </a:r>
            <a:endParaRPr lang="en-US" dirty="0"/>
          </a:p>
          <a:p>
            <a:r>
              <a:rPr lang="en-US" dirty="0"/>
              <a:t>check_setup.py: "you filled in the openai key" — Template still says LLM_PROVIDER=azure — Change that line to openai</a:t>
            </a:r>
            <a:endParaRPr lang="en-US" dirty="0"/>
          </a:p>
          <a:p>
            <a:r>
              <a:rPr lang="en-US" dirty="0"/>
              <a:t>Azure DeploymentNotFound (404) — Model name used instead of deployment name — Use the name chosen when deploying</a:t>
            </a:r>
            <a:endParaRPr lang="en-US" dirty="0"/>
          </a:p>
          <a:p>
            <a:r>
              <a:rPr lang="en-US" dirty="0"/>
              <a:t>Course install takes forever — It's big: LangChain, LangGraph, RAGAS, DeepEval — Normal. Start it before the call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The last two items matter most: the setup check says Ready, and git pull on the morning of Session 1.</a:t>
            </a:r>
            <a:endParaRPr lang="en-US" dirty="0"/>
          </a:p>
          <a:p>
            <a:r>
              <a:rPr lang="en-US" b="1" dirty="0"/>
              <a:t>DO:</a:t>
            </a:r>
            <a:r>
              <a:rPr lang="en-US" dirty="0"/>
              <a:t> Leave this up at the end of the call.</a:t>
            </a:r>
            <a:endParaRPr lang="en-US" dirty="0"/>
          </a:p>
          <a:p>
            <a:r>
              <a:rPr lang="en-US" b="1" dirty="0"/>
              <a:t>IF ASKED:</a:t>
            </a:r>
            <a:r>
              <a:rPr lang="en-US" dirty="0"/>
              <a:t> No Docker needed. In Session 3 you watch me use an AI coding assistant; you need your own that evening to repeat it. The kit's step 08 says how to install a free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POINT:</a:t>
            </a:r>
            <a:r>
              <a:rPr lang="en-US" dirty="0"/>
              <a:t> Thank them. The kit's README has the checklist and everything from today.</a:t>
            </a:r>
            <a:endParaRPr lang="en-US" dirty="0"/>
          </a:p>
          <a:p>
            <a:r>
              <a:rPr lang="en-US" b="1" dirty="0"/>
              <a:t>DO:</a:t>
            </a:r>
            <a:r>
              <a:rPr lang="en-US" dirty="0"/>
              <a:t> Five minutes of questions, then stay on the call for anyone whose setup check still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SOLVO">
    <p:bg>
      <p:bgPr>
        <a:solidFill>
          <a:srgbClr val="0C1A1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705432" y="-2400300"/>
            <a:ext cx="7315017" cy="5486400"/>
          </a:xfrm>
          <a:prstGeom prst="ellipse">
            <a:avLst/>
          </a:prstGeom>
          <a:solidFill>
            <a:srgbClr val="0D3029">
              <a:alpha val="55000"/>
            </a:srgbClr>
          </a:solidFill>
          <a:ln w="12700">
            <a:solidFill>
              <a:srgbClr val="0D3029">
                <a:alpha val="0"/>
              </a:srgbClr>
            </a:solidFill>
            <a:prstDash val="solid"/>
          </a:ln>
        </p:spPr>
      </p:sp>
      <p:sp>
        <p:nvSpPr>
          <p:cNvPr id="3" name="Shape 1"/>
          <p:cNvSpPr/>
          <p:nvPr/>
        </p:nvSpPr>
        <p:spPr>
          <a:xfrm>
            <a:off x="-2438339" y="4114800"/>
            <a:ext cx="6705432" cy="5143500"/>
          </a:xfrm>
          <a:prstGeom prst="ellipse">
            <a:avLst/>
          </a:prstGeom>
          <a:solidFill>
            <a:srgbClr val="112A45">
              <a:alpha val="55000"/>
            </a:srgbClr>
          </a:solidFill>
          <a:ln w="12700">
            <a:solidFill>
              <a:srgbClr val="112A45">
                <a:alpha val="0"/>
              </a:srgbClr>
            </a:solidFill>
            <a:prstDash val="solid"/>
          </a:ln>
        </p:spPr>
      </p:sp>
      <p:sp>
        <p:nvSpPr>
          <p:cNvPr id="4" name="Text 2"/>
          <p:cNvSpPr/>
          <p:nvPr/>
        </p:nvSpPr>
        <p:spPr>
          <a:xfrm>
            <a:off x="1234440" y="1589151"/>
            <a:ext cx="9722815" cy="862584"/>
          </a:xfrm>
          <a:prstGeom prst="rect">
            <a:avLst/>
          </a:prstGeom>
          <a:noFill/>
          <a:ln/>
        </p:spPr>
        <p:txBody>
          <a:bodyPr wrap="square" lIns="0" tIns="0" rIns="0" bIns="0" rtlCol="0" anchor="t"/>
          <a:lstStyle/>
          <a:p>
            <a:pPr algn="ctr" indent="0" marL="0">
              <a:buNone/>
            </a:pPr>
            <a:r>
              <a:rPr lang="en-US" sz="4400" b="1" dirty="0">
                <a:solidFill>
                  <a:srgbClr val="FFFFFF"/>
                </a:solidFill>
                <a:latin typeface="Segoe UI" pitchFamily="34" charset="0"/>
                <a:ea typeface="Segoe UI" pitchFamily="34" charset="-122"/>
                <a:cs typeface="Segoe UI" pitchFamily="34" charset="-120"/>
              </a:rPr>
              <a:t>Before Day One</a:t>
            </a:r>
            <a:endParaRPr lang="en-US" sz="4400" dirty="0"/>
          </a:p>
        </p:txBody>
      </p:sp>
      <p:sp>
        <p:nvSpPr>
          <p:cNvPr id="5" name="Shape 3"/>
          <p:cNvSpPr/>
          <p:nvPr/>
        </p:nvSpPr>
        <p:spPr>
          <a:xfrm>
            <a:off x="5318608" y="2543175"/>
            <a:ext cx="777240" cy="82296"/>
          </a:xfrm>
          <a:prstGeom prst="rect">
            <a:avLst/>
          </a:prstGeom>
          <a:solidFill>
            <a:srgbClr val="01D294"/>
          </a:solidFill>
          <a:ln w="12700">
            <a:solidFill>
              <a:srgbClr val="01D294"/>
            </a:solidFill>
            <a:prstDash val="solid"/>
          </a:ln>
        </p:spPr>
      </p:sp>
      <p:sp>
        <p:nvSpPr>
          <p:cNvPr id="6" name="Shape 4"/>
          <p:cNvSpPr/>
          <p:nvPr/>
        </p:nvSpPr>
        <p:spPr>
          <a:xfrm>
            <a:off x="6095848" y="2543175"/>
            <a:ext cx="777240" cy="82296"/>
          </a:xfrm>
          <a:prstGeom prst="rect">
            <a:avLst/>
          </a:prstGeom>
          <a:solidFill>
            <a:srgbClr val="11958A"/>
          </a:solidFill>
          <a:ln w="12700">
            <a:solidFill>
              <a:srgbClr val="11958A"/>
            </a:solidFill>
            <a:prstDash val="solid"/>
          </a:ln>
        </p:spPr>
      </p:sp>
      <p:sp>
        <p:nvSpPr>
          <p:cNvPr id="7" name="Text 5"/>
          <p:cNvSpPr/>
          <p:nvPr/>
        </p:nvSpPr>
        <p:spPr>
          <a:xfrm>
            <a:off x="1234440" y="2863215"/>
            <a:ext cx="9722815" cy="862584"/>
          </a:xfrm>
          <a:prstGeom prst="rect">
            <a:avLst/>
          </a:prstGeom>
          <a:noFill/>
          <a:ln/>
        </p:spPr>
        <p:txBody>
          <a:bodyPr wrap="square" lIns="0" tIns="0" rIns="0" bIns="0" rtlCol="0" anchor="t"/>
          <a:lstStyle/>
          <a:p>
            <a:pPr algn="ctr" indent="0" marL="0">
              <a:buNone/>
            </a:pPr>
            <a:r>
              <a:rPr lang="en-US" sz="2200" dirty="0">
                <a:solidFill>
                  <a:srgbClr val="EEF6F3"/>
                </a:solidFill>
                <a:latin typeface="Segoe UI" pitchFamily="34" charset="0"/>
                <a:ea typeface="Segoe UI" pitchFamily="34" charset="-122"/>
                <a:cs typeface="Segoe UI" pitchFamily="34" charset="-120"/>
              </a:rPr>
              <a:t>A gentle first touch of everything you'll use: the terminal, a virtual environment, APIs, keys, and your first calls to a language model</a:t>
            </a:r>
            <a:endParaRPr lang="en-US" sz="2200" dirty="0"/>
          </a:p>
        </p:txBody>
      </p:sp>
      <p:sp>
        <p:nvSpPr>
          <p:cNvPr id="8" name="Text 6"/>
          <p:cNvSpPr/>
          <p:nvPr/>
        </p:nvSpPr>
        <p:spPr>
          <a:xfrm>
            <a:off x="1234440" y="4548759"/>
            <a:ext cx="9722815" cy="354330"/>
          </a:xfrm>
          <a:prstGeom prst="rect">
            <a:avLst/>
          </a:prstGeom>
          <a:noFill/>
          <a:ln/>
        </p:spPr>
        <p:txBody>
          <a:bodyPr wrap="square" lIns="0" tIns="0" rIns="0" bIns="0" rtlCol="0" anchor="t"/>
          <a:lstStyle/>
          <a:p>
            <a:pPr algn="ctr" indent="0" marL="0">
              <a:buNone/>
            </a:pPr>
            <a:r>
              <a:rPr lang="en-US" sz="1500" spc="200" kern="0" dirty="0">
                <a:solidFill>
                  <a:srgbClr val="01D294"/>
                </a:solidFill>
                <a:latin typeface="Segoe UI" pitchFamily="34" charset="0"/>
                <a:ea typeface="Segoe UI" pitchFamily="34" charset="-122"/>
                <a:cs typeface="Segoe UI" pitchFamily="34" charset="-120"/>
              </a:rPr>
              <a:t>Session 0 · Prep kit · Optional kickoff call, the weekend before October 19, 2026</a:t>
            </a:r>
            <a:endParaRPr lang="en-US" sz="1500" dirty="0"/>
          </a:p>
        </p:txBody>
      </p:sp>
      <p:sp>
        <p:nvSpPr>
          <p:cNvPr id="9" name="Text 7"/>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0" name="Text 8"/>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 / 32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051560"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TODAY</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What this is, and what it isn't</a:t>
            </a:r>
            <a:endParaRPr lang="en-US" sz="3000" dirty="0"/>
          </a:p>
        </p:txBody>
      </p:sp>
      <p:sp>
        <p:nvSpPr>
          <p:cNvPr id="6" name="Text 4"/>
          <p:cNvSpPr/>
          <p:nvPr/>
        </p:nvSpPr>
        <p:spPr>
          <a:xfrm>
            <a:off x="777240" y="1577340"/>
            <a:ext cx="10637215" cy="1639824"/>
          </a:xfrm>
          <a:prstGeom prst="rect">
            <a:avLst/>
          </a:prstGeom>
          <a:noFill/>
          <a:ln/>
        </p:spPr>
        <p:txBody>
          <a:bodyPr wrap="square" lIns="0" tIns="0" rIns="0" bIns="0" rtlCol="0" anchor="t"/>
          <a:lstStyle/>
          <a:p>
            <a:pPr marL="279400" indent="-279400">
              <a:spcAft>
                <a:spcPts val="500"/>
              </a:spcAft>
              <a:buSzPct val="100000"/>
              <a:buChar char="•"/>
            </a:pPr>
            <a:r>
              <a:rPr lang="en-US" sz="2000" dirty="0">
                <a:solidFill>
                  <a:srgbClr val="EEF6F3"/>
                </a:solidFill>
                <a:latin typeface="Segoe UI" pitchFamily="34" charset="0"/>
                <a:ea typeface="Segoe UI" pitchFamily="34" charset="-122"/>
                <a:cs typeface="Segoe UI" pitchFamily="34" charset="-120"/>
              </a:rPr>
              <a:t>A </a:t>
            </a:r>
            <a:pPr indent="0" marL="0">
              <a:buNone/>
            </a:pPr>
            <a:r>
              <a:rPr lang="en-US" sz="2000" b="1" dirty="0">
                <a:solidFill>
                  <a:srgbClr val="FFFFFF"/>
                </a:solidFill>
                <a:latin typeface="Segoe UI" pitchFamily="34" charset="0"/>
                <a:ea typeface="Segoe UI" pitchFamily="34" charset="-122"/>
                <a:cs typeface="Segoe UI" pitchFamily="34" charset="-120"/>
              </a:rPr>
              <a:t>first touch</a:t>
            </a:r>
            <a:pPr indent="0" marL="0">
              <a:buNone/>
            </a:pPr>
            <a:r>
              <a:rPr lang="en-US" sz="2000" dirty="0">
                <a:solidFill>
                  <a:srgbClr val="EEF6F3"/>
                </a:solidFill>
                <a:latin typeface="Segoe UI" pitchFamily="34" charset="0"/>
                <a:ea typeface="Segoe UI" pitchFamily="34" charset="-122"/>
                <a:cs typeface="Segoe UI" pitchFamily="34" charset="-120"/>
              </a:rPr>
              <a:t> of the tools the course uses, so Monday doesn't start with a wall of new words.</a:t>
            </a:r>
            <a:endParaRPr lang="en-US" sz="2000" dirty="0"/>
          </a:p>
          <a:p>
            <a:pPr marL="279400" indent="-279400">
              <a:spcAft>
                <a:spcPts val="500"/>
              </a:spcAft>
              <a:buSzPct val="100000"/>
              <a:buChar char="•"/>
            </a:pPr>
            <a:r>
              <a:rPr lang="en-US" sz="2000" dirty="0">
                <a:solidFill>
                  <a:srgbClr val="EEF6F3"/>
                </a:solidFill>
                <a:latin typeface="Segoe UI" pitchFamily="34" charset="0"/>
                <a:ea typeface="Segoe UI" pitchFamily="34" charset="-122"/>
                <a:cs typeface="Segoe UI" pitchFamily="34" charset="-120"/>
              </a:rPr>
              <a:t>A working laptop: Python, the course code, and an </a:t>
            </a:r>
            <a:pPr indent="0" marL="0">
              <a:buNone/>
            </a:pPr>
            <a:r>
              <a:rPr lang="en-US" sz="2000" b="1" dirty="0">
                <a:solidFill>
                  <a:srgbClr val="FFFFFF"/>
                </a:solidFill>
                <a:latin typeface="Segoe UI" pitchFamily="34" charset="0"/>
                <a:ea typeface="Segoe UI" pitchFamily="34" charset="-122"/>
                <a:cs typeface="Segoe UI" pitchFamily="34" charset="-120"/>
              </a:rPr>
              <a:t>API key</a:t>
            </a:r>
            <a:pPr indent="0" marL="0">
              <a:buNone/>
            </a:pPr>
            <a:r>
              <a:rPr lang="en-US" sz="2000" dirty="0">
                <a:solidFill>
                  <a:srgbClr val="EEF6F3"/>
                </a:solidFill>
                <a:latin typeface="Segoe UI" pitchFamily="34" charset="0"/>
                <a:ea typeface="Segoe UI" pitchFamily="34" charset="-122"/>
                <a:cs typeface="Segoe UI" pitchFamily="34" charset="-120"/>
              </a:rPr>
              <a:t> that works.</a:t>
            </a:r>
            <a:endParaRPr lang="en-US" sz="2000" dirty="0"/>
          </a:p>
          <a:p>
            <a:pPr marL="279400" indent="-279400">
              <a:spcAft>
                <a:spcPts val="500"/>
              </a:spcAft>
              <a:buSzPct val="100000"/>
              <a:buChar char="•"/>
            </a:pPr>
            <a:r>
              <a:rPr lang="en-US" sz="2000" dirty="0">
                <a:solidFill>
                  <a:srgbClr val="EEF6F3"/>
                </a:solidFill>
                <a:latin typeface="Segoe UI" pitchFamily="34" charset="0"/>
                <a:ea typeface="Segoe UI" pitchFamily="34" charset="-122"/>
                <a:cs typeface="Segoe UI" pitchFamily="34" charset="-120"/>
              </a:rPr>
              <a:t>Not a test. If a step doesn't work, write down what you saw and move on.</a:t>
            </a:r>
            <a:endParaRPr lang="en-US" sz="2000" dirty="0"/>
          </a:p>
        </p:txBody>
      </p:sp>
      <p:sp>
        <p:nvSpPr>
          <p:cNvPr id="7" name="Shape 5"/>
          <p:cNvSpPr/>
          <p:nvPr/>
        </p:nvSpPr>
        <p:spPr>
          <a:xfrm>
            <a:off x="777240" y="3345180"/>
            <a:ext cx="10637215" cy="1169822"/>
          </a:xfrm>
          <a:prstGeom prst="roundRect">
            <a:avLst>
              <a:gd name="adj" fmla="val 7817"/>
            </a:avLst>
          </a:prstGeom>
          <a:solidFill>
            <a:srgbClr val="0D3029"/>
          </a:solidFill>
          <a:ln w="12700">
            <a:solidFill>
              <a:srgbClr val="0D3029"/>
            </a:solidFill>
            <a:prstDash val="solid"/>
          </a:ln>
        </p:spPr>
      </p:sp>
      <p:sp>
        <p:nvSpPr>
          <p:cNvPr id="8" name="Shape 6"/>
          <p:cNvSpPr/>
          <p:nvPr/>
        </p:nvSpPr>
        <p:spPr>
          <a:xfrm>
            <a:off x="777240" y="3345180"/>
            <a:ext cx="82296" cy="1169822"/>
          </a:xfrm>
          <a:prstGeom prst="rect">
            <a:avLst/>
          </a:prstGeom>
          <a:solidFill>
            <a:srgbClr val="01D294"/>
          </a:solidFill>
          <a:ln w="12700">
            <a:solidFill>
              <a:srgbClr val="01D294"/>
            </a:solidFill>
            <a:prstDash val="solid"/>
          </a:ln>
        </p:spPr>
      </p:sp>
      <p:sp>
        <p:nvSpPr>
          <p:cNvPr id="9" name="Text 7"/>
          <p:cNvSpPr/>
          <p:nvPr/>
        </p:nvSpPr>
        <p:spPr>
          <a:xfrm>
            <a:off x="1051560" y="3454908"/>
            <a:ext cx="10225735" cy="237744"/>
          </a:xfrm>
          <a:prstGeom prst="rect">
            <a:avLst/>
          </a:prstGeom>
          <a:noFill/>
          <a:ln/>
        </p:spPr>
        <p:txBody>
          <a:bodyPr wrap="square" lIns="0" tIns="0" rIns="0" bIns="0" rtlCol="0" anchor="t"/>
          <a:lstStyle/>
          <a:p>
            <a:pPr indent="0" marL="0">
              <a:buNone/>
            </a:pPr>
            <a:r>
              <a:rPr lang="en-US" sz="1050" b="1" spc="300" kern="0" dirty="0">
                <a:solidFill>
                  <a:srgbClr val="01D294"/>
                </a:solidFill>
                <a:latin typeface="Segoe UI" pitchFamily="34" charset="0"/>
                <a:ea typeface="Segoe UI" pitchFamily="34" charset="-122"/>
                <a:cs typeface="Segoe UI" pitchFamily="34" charset="-120"/>
              </a:rPr>
              <a:t>IN PLAIN WORDS</a:t>
            </a:r>
            <a:endParaRPr lang="en-US" sz="1050" dirty="0"/>
          </a:p>
        </p:txBody>
      </p:sp>
      <p:sp>
        <p:nvSpPr>
          <p:cNvPr id="10" name="Text 8"/>
          <p:cNvSpPr/>
          <p:nvPr/>
        </p:nvSpPr>
        <p:spPr>
          <a:xfrm>
            <a:off x="1051560" y="3692652"/>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An </a:t>
            </a:r>
            <a:pPr algn="l" indent="0" marL="0">
              <a:buNone/>
            </a:pPr>
            <a:r>
              <a:rPr lang="en-US" sz="1720" b="1" dirty="0">
                <a:solidFill>
                  <a:srgbClr val="FFFFFF"/>
                </a:solidFill>
                <a:latin typeface="Segoe UI" pitchFamily="34" charset="0"/>
                <a:ea typeface="Segoe UI" pitchFamily="34" charset="-122"/>
                <a:cs typeface="Segoe UI" pitchFamily="34" charset="-120"/>
              </a:rPr>
              <a:t>API key</a:t>
            </a:r>
            <a:pPr algn="l" indent="0" marL="0">
              <a:buNone/>
            </a:pPr>
            <a:r>
              <a:rPr lang="en-US" sz="1720" dirty="0">
                <a:solidFill>
                  <a:srgbClr val="EEF6F3"/>
                </a:solidFill>
                <a:latin typeface="Segoe UI" pitchFamily="34" charset="0"/>
                <a:ea typeface="Segoe UI" pitchFamily="34" charset="-122"/>
                <a:cs typeface="Segoe UI" pitchFamily="34" charset="-120"/>
              </a:rPr>
              <a:t> is a long password that lets your code use a paid service. We'll see where it goes in a few minutes.</a:t>
            </a:r>
            <a:endParaRPr lang="en-US" sz="1720" dirty="0"/>
          </a:p>
        </p:txBody>
      </p:sp>
      <p:sp>
        <p:nvSpPr>
          <p:cNvPr id="11" name="Text 9"/>
          <p:cNvSpPr/>
          <p:nvPr/>
        </p:nvSpPr>
        <p:spPr>
          <a:xfrm>
            <a:off x="777240" y="4643018"/>
            <a:ext cx="10637215" cy="650748"/>
          </a:xfrm>
          <a:prstGeom prst="rect">
            <a:avLst/>
          </a:prstGeom>
          <a:noFill/>
          <a:ln/>
        </p:spPr>
        <p:txBody>
          <a:bodyPr wrap="square" lIns="0" tIns="0" rIns="0" bIns="0" rtlCol="0" anchor="t"/>
          <a:lstStyle/>
          <a:p>
            <a:pPr algn="l" indent="0" marL="0">
              <a:buNone/>
            </a:pPr>
            <a:r>
              <a:rPr lang="en-US" sz="1700" dirty="0">
                <a:solidFill>
                  <a:srgbClr val="9DB5B1"/>
                </a:solidFill>
                <a:latin typeface="Segoe UI" pitchFamily="34" charset="0"/>
                <a:ea typeface="Segoe UI" pitchFamily="34" charset="-122"/>
                <a:cs typeface="Segoe UI" pitchFamily="34" charset="-120"/>
              </a:rPr>
              <a:t>Everything here is in the kit, </a:t>
            </a:r>
            <a:pPr algn="l" indent="0" marL="0">
              <a:buNone/>
            </a:pPr>
            <a:r>
              <a:rPr lang="en-US" sz="1500" dirty="0">
                <a:solidFill>
                  <a:srgbClr val="D8FFF0"/>
                </a:solidFill>
                <a:latin typeface="Consolas" pitchFamily="34" charset="0"/>
                <a:ea typeface="Consolas" pitchFamily="34" charset="-122"/>
                <a:cs typeface="Consolas" pitchFamily="34" charset="-120"/>
              </a:rPr>
              <a:t>github.com/hasankanaan26/prep-kit</a:t>
            </a:r>
            <a:pPr algn="l" indent="0" marL="0">
              <a:buNone/>
            </a:pPr>
            <a:r>
              <a:rPr lang="en-US" sz="1700" dirty="0">
                <a:solidFill>
                  <a:srgbClr val="9DB5B1"/>
                </a:solidFill>
                <a:latin typeface="Segoe UI" pitchFamily="34" charset="0"/>
                <a:ea typeface="Segoe UI" pitchFamily="34" charset="-122"/>
                <a:cs typeface="Segoe UI" pitchFamily="34" charset="-120"/>
              </a:rPr>
              <a:t>, one short Markdown page per step.</a:t>
            </a:r>
            <a:endParaRPr lang="en-US" sz="1700" dirty="0"/>
          </a:p>
        </p:txBody>
      </p:sp>
      <p:sp>
        <p:nvSpPr>
          <p:cNvPr id="12" name="Text 10"/>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3" name="Text 11"/>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 / 32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563624"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THE STORY</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What the four weeks look like</a:t>
            </a:r>
            <a:endParaRPr lang="en-US" sz="3000" dirty="0"/>
          </a:p>
        </p:txBody>
      </p:sp>
      <p:sp>
        <p:nvSpPr>
          <p:cNvPr id="6" name="Text 4"/>
          <p:cNvSpPr/>
          <p:nvPr/>
        </p:nvSpPr>
        <p:spPr>
          <a:xfrm>
            <a:off x="777240" y="1577340"/>
            <a:ext cx="10637215" cy="2755392"/>
          </a:xfrm>
          <a:prstGeom prst="rect">
            <a:avLst/>
          </a:prstGeom>
          <a:noFill/>
          <a:ln/>
        </p:spPr>
        <p:txBody>
          <a:bodyPr wrap="square" lIns="0" tIns="0" rIns="0" bIns="0" rtlCol="0" anchor="t"/>
          <a:lstStyle/>
          <a:p>
            <a:pPr marL="279400" indent="-279400">
              <a:spcAft>
                <a:spcPts val="500"/>
              </a:spcAft>
              <a:buSzPct val="100000"/>
              <a:buChar char="•"/>
            </a:pPr>
            <a:r>
              <a:rPr lang="en-US" sz="2000" b="1" dirty="0">
                <a:solidFill>
                  <a:srgbClr val="FFFFFF"/>
                </a:solidFill>
                <a:latin typeface="Segoe UI" pitchFamily="34" charset="0"/>
                <a:ea typeface="Segoe UI" pitchFamily="34" charset="-122"/>
                <a:cs typeface="Segoe UI" pitchFamily="34" charset="-120"/>
              </a:rPr>
              <a:t>Nimbus Electronics</a:t>
            </a:r>
            <a:pPr indent="0" marL="0">
              <a:buNone/>
            </a:pPr>
            <a:r>
              <a:rPr lang="en-US" sz="2000" dirty="0">
                <a:solidFill>
                  <a:srgbClr val="EEF6F3"/>
                </a:solidFill>
                <a:latin typeface="Segoe UI" pitchFamily="34" charset="0"/>
                <a:ea typeface="Segoe UI" pitchFamily="34" charset="-122"/>
                <a:cs typeface="Segoe UI" pitchFamily="34" charset="-120"/>
              </a:rPr>
              <a:t> is a small online store. Customers send support tickets.</a:t>
            </a:r>
            <a:endParaRPr lang="en-US" sz="2000" dirty="0"/>
          </a:p>
          <a:p>
            <a:pPr marL="279400" indent="-279400">
              <a:spcAft>
                <a:spcPts val="500"/>
              </a:spcAft>
              <a:buSzPct val="100000"/>
              <a:buChar char="•"/>
            </a:pPr>
            <a:r>
              <a:rPr lang="en-US" sz="2000" b="1" dirty="0">
                <a:solidFill>
                  <a:srgbClr val="FFFFFF"/>
                </a:solidFill>
                <a:latin typeface="Segoe UI" pitchFamily="34" charset="0"/>
                <a:ea typeface="Segoe UI" pitchFamily="34" charset="-122"/>
                <a:cs typeface="Segoe UI" pitchFamily="34" charset="-120"/>
              </a:rPr>
              <a:t>Resolvo</a:t>
            </a:r>
            <a:pPr indent="0" marL="0">
              <a:buNone/>
            </a:pPr>
            <a:r>
              <a:rPr lang="en-US" sz="2000" dirty="0">
                <a:solidFill>
                  <a:srgbClr val="EEF6F3"/>
                </a:solidFill>
                <a:latin typeface="Segoe UI" pitchFamily="34" charset="0"/>
                <a:ea typeface="Segoe UI" pitchFamily="34" charset="-122"/>
                <a:cs typeface="Segoe UI" pitchFamily="34" charset="-120"/>
              </a:rPr>
              <a:t> reads each ticket, checks the order and the store's policies, and drafts the fix.</a:t>
            </a:r>
            <a:endParaRPr lang="en-US" sz="2000" dirty="0"/>
          </a:p>
          <a:p>
            <a:pPr marL="279400" indent="-279400">
              <a:spcAft>
                <a:spcPts val="500"/>
              </a:spcAft>
              <a:buSzPct val="100000"/>
              <a:buChar char="•"/>
            </a:pPr>
            <a:r>
              <a:rPr lang="en-US" sz="2000" dirty="0">
                <a:solidFill>
                  <a:srgbClr val="EEF6F3"/>
                </a:solidFill>
                <a:latin typeface="Segoe UI" pitchFamily="34" charset="0"/>
                <a:ea typeface="Segoe UI" pitchFamily="34" charset="-122"/>
                <a:cs typeface="Segoe UI" pitchFamily="34" charset="-120"/>
              </a:rPr>
              <a:t>The first version is broken in 10 ways. Each session fixes one or two, live on the screen.</a:t>
            </a:r>
            <a:endParaRPr lang="en-US" sz="2000" dirty="0"/>
          </a:p>
          <a:p>
            <a:pPr marL="279400" indent="-279400">
              <a:spcAft>
                <a:spcPts val="500"/>
              </a:spcAft>
              <a:buSzPct val="100000"/>
              <a:buChar char="•"/>
            </a:pPr>
            <a:r>
              <a:rPr lang="en-US" sz="2000" dirty="0">
                <a:solidFill>
                  <a:srgbClr val="EEF6F3"/>
                </a:solidFill>
                <a:latin typeface="Segoe UI" pitchFamily="34" charset="0"/>
                <a:ea typeface="Segoe UI" pitchFamily="34" charset="-122"/>
                <a:cs typeface="Segoe UI" pitchFamily="34" charset="-120"/>
              </a:rPr>
              <a:t>No coding in class: you predict and vote before every run. Each evening you run the same thing yourself.</a:t>
            </a:r>
            <a:endParaRPr lang="en-US" sz="2000" dirty="0"/>
          </a:p>
        </p:txBody>
      </p:sp>
      <p:sp>
        <p:nvSpPr>
          <p:cNvPr id="7" name="Shape 5"/>
          <p:cNvSpPr/>
          <p:nvPr/>
        </p:nvSpPr>
        <p:spPr>
          <a:xfrm>
            <a:off x="777240" y="4460748"/>
            <a:ext cx="10637215" cy="1169822"/>
          </a:xfrm>
          <a:prstGeom prst="roundRect">
            <a:avLst>
              <a:gd name="adj" fmla="val 7817"/>
            </a:avLst>
          </a:prstGeom>
          <a:solidFill>
            <a:srgbClr val="2E2A14"/>
          </a:solidFill>
          <a:ln w="12700">
            <a:solidFill>
              <a:srgbClr val="2E2A14"/>
            </a:solidFill>
            <a:prstDash val="solid"/>
          </a:ln>
        </p:spPr>
      </p:sp>
      <p:sp>
        <p:nvSpPr>
          <p:cNvPr id="8" name="Shape 6"/>
          <p:cNvSpPr/>
          <p:nvPr/>
        </p:nvSpPr>
        <p:spPr>
          <a:xfrm>
            <a:off x="777240" y="4460748"/>
            <a:ext cx="82296" cy="1169822"/>
          </a:xfrm>
          <a:prstGeom prst="rect">
            <a:avLst/>
          </a:prstGeom>
          <a:solidFill>
            <a:srgbClr val="FFC53D"/>
          </a:solidFill>
          <a:ln w="12700">
            <a:solidFill>
              <a:srgbClr val="FFC53D"/>
            </a:solidFill>
            <a:prstDash val="solid"/>
          </a:ln>
        </p:spPr>
      </p:sp>
      <p:sp>
        <p:nvSpPr>
          <p:cNvPr id="9" name="Text 7"/>
          <p:cNvSpPr/>
          <p:nvPr/>
        </p:nvSpPr>
        <p:spPr>
          <a:xfrm>
            <a:off x="1051560" y="4570476"/>
            <a:ext cx="10225735" cy="237744"/>
          </a:xfrm>
          <a:prstGeom prst="rect">
            <a:avLst/>
          </a:prstGeom>
          <a:noFill/>
          <a:ln/>
        </p:spPr>
        <p:txBody>
          <a:bodyPr wrap="square" lIns="0" tIns="0" rIns="0" bIns="0" rtlCol="0" anchor="t"/>
          <a:lstStyle/>
          <a:p>
            <a:pPr indent="0" marL="0">
              <a:buNone/>
            </a:pPr>
            <a:r>
              <a:rPr lang="en-US" sz="1050" b="1" spc="300" kern="0" dirty="0">
                <a:solidFill>
                  <a:srgbClr val="FFC53D"/>
                </a:solidFill>
                <a:latin typeface="Segoe UI" pitchFamily="34" charset="0"/>
                <a:ea typeface="Segoe UI" pitchFamily="34" charset="-122"/>
                <a:cs typeface="Segoe UI" pitchFamily="34" charset="-120"/>
              </a:rPr>
              <a:t>A REAL TICKET: T-1001</a:t>
            </a:r>
            <a:endParaRPr lang="en-US" sz="1050" dirty="0"/>
          </a:p>
        </p:txBody>
      </p:sp>
      <p:sp>
        <p:nvSpPr>
          <p:cNvPr id="10" name="Text 8"/>
          <p:cNvSpPr/>
          <p:nvPr/>
        </p:nvSpPr>
        <p:spPr>
          <a:xfrm>
            <a:off x="1051560" y="4808220"/>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"I ordered the wireless headphones two weeks ago, order #48291. They arrived with a cracked case. I want a refund or a replacement…"</a:t>
            </a:r>
            <a:endParaRPr lang="en-US" sz="1720" dirty="0"/>
          </a:p>
        </p:txBody>
      </p:sp>
      <p:sp>
        <p:nvSpPr>
          <p:cNvPr id="11" name="Text 9"/>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2" name="Text 10"/>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3 / 32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563624"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THE ROUTE</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Eight steps, just under four hours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577340"/>
          <a:ext cx="10637215" cy="914400"/>
        </p:xfrm>
        <a:graphic>
          <a:graphicData uri="http://schemas.openxmlformats.org/drawingml/2006/table">
            <a:tbl>
              <a:tblPr/>
              <a:tblGrid>
                <a:gridCol w="3323844"/>
                <a:gridCol w="6515100"/>
                <a:gridCol w="797357"/>
              </a:tblGrid>
              <a:tr h="0">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Step</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What you do</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Time</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01 Terminal, Python, venv</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Install Python, make a private Python for the kit</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35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02 APIs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Talk to a small order API on your laptop</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30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03 Secrets and .env</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Keep keys out of your code</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15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04 First LLM call</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Free keys from Gemini and OpenRouter</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30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05 Local models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Run a model on your own laptop with Ollama</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30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06 Tokens and cost</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What a model reads, and what it costs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20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07 A taste of Resolvo</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Ask a model to sort real tickets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20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b="1" dirty="0">
                          <a:solidFill>
                            <a:srgbClr val="FFFFFF"/>
                          </a:solidFill>
                          <a:latin typeface="Segoe UI" pitchFamily="34" charset="0"/>
                          <a:ea typeface="Segoe UI" pitchFamily="34" charset="-122"/>
                          <a:cs typeface="Segoe UI" pitchFamily="34" charset="-120"/>
                        </a:rPr>
                        <a:t>08 Get ready</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b="1" dirty="0">
                          <a:solidFill>
                            <a:srgbClr val="FFFFFF"/>
                          </a:solidFill>
                          <a:latin typeface="Segoe UI" pitchFamily="34" charset="0"/>
                          <a:ea typeface="Segoe UI" pitchFamily="34" charset="-122"/>
                          <a:cs typeface="Segoe UI" pitchFamily="34" charset="-120"/>
                        </a:rPr>
                        <a:t>Course key, course code, install, setup check</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50 min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bl>
          </a:graphicData>
        </a:graphic>
      </p:graphicFrame>
      <p:sp>
        <p:nvSpPr>
          <p:cNvPr id="7" name="Text 4"/>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8" name="Text 5"/>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4 / 32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01</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The terminal: five commands are enough</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577340"/>
          <a:ext cx="10637215" cy="914400"/>
        </p:xfrm>
        <a:graphic>
          <a:graphicData uri="http://schemas.openxmlformats.org/drawingml/2006/table">
            <a:tbl>
              <a:tblPr/>
              <a:tblGrid>
                <a:gridCol w="4254703"/>
                <a:gridCol w="3867912"/>
                <a:gridCol w="2514600"/>
              </a:tblGrid>
              <a:tr h="0">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What you want</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Windows (PowerShell)</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macOS / Linux</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Where am I?</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pwd</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pwd</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What's in this folder?</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ls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ls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Go into a folder</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cd prep-kit</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cd prep-kit</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Go up one level</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cd ..</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cd ..</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Clear the screen</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cls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clear</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bl>
          </a:graphicData>
        </a:graphic>
      </p:graphicFrame>
      <p:sp>
        <p:nvSpPr>
          <p:cNvPr id="7" name="Shape 4"/>
          <p:cNvSpPr/>
          <p:nvPr/>
        </p:nvSpPr>
        <p:spPr>
          <a:xfrm>
            <a:off x="777240" y="4043934"/>
            <a:ext cx="10637215" cy="1169822"/>
          </a:xfrm>
          <a:prstGeom prst="roundRect">
            <a:avLst>
              <a:gd name="adj" fmla="val 7817"/>
            </a:avLst>
          </a:prstGeom>
          <a:solidFill>
            <a:srgbClr val="3A1C1F"/>
          </a:solidFill>
          <a:ln w="12700">
            <a:solidFill>
              <a:srgbClr val="3A1C1F"/>
            </a:solidFill>
            <a:prstDash val="solid"/>
          </a:ln>
        </p:spPr>
      </p:sp>
      <p:sp>
        <p:nvSpPr>
          <p:cNvPr id="8" name="Shape 5"/>
          <p:cNvSpPr/>
          <p:nvPr/>
        </p:nvSpPr>
        <p:spPr>
          <a:xfrm>
            <a:off x="777240" y="4043934"/>
            <a:ext cx="82296" cy="1169822"/>
          </a:xfrm>
          <a:prstGeom prst="rect">
            <a:avLst/>
          </a:prstGeom>
          <a:solidFill>
            <a:srgbClr val="FF7A7A"/>
          </a:solidFill>
          <a:ln w="12700">
            <a:solidFill>
              <a:srgbClr val="FF7A7A"/>
            </a:solidFill>
            <a:prstDash val="solid"/>
          </a:ln>
        </p:spPr>
      </p:sp>
      <p:sp>
        <p:nvSpPr>
          <p:cNvPr id="9" name="Text 6"/>
          <p:cNvSpPr/>
          <p:nvPr/>
        </p:nvSpPr>
        <p:spPr>
          <a:xfrm>
            <a:off x="1051560" y="4153662"/>
            <a:ext cx="10225735" cy="237744"/>
          </a:xfrm>
          <a:prstGeom prst="rect">
            <a:avLst/>
          </a:prstGeom>
          <a:noFill/>
          <a:ln/>
        </p:spPr>
        <p:txBody>
          <a:bodyPr wrap="square" lIns="0" tIns="0" rIns="0" bIns="0" rtlCol="0" anchor="t"/>
          <a:lstStyle/>
          <a:p>
            <a:pPr indent="0" marL="0">
              <a:buNone/>
            </a:pPr>
            <a:r>
              <a:rPr lang="en-US" sz="1050" b="1" spc="300" kern="0" dirty="0">
                <a:solidFill>
                  <a:srgbClr val="FF7A7A"/>
                </a:solidFill>
                <a:latin typeface="Segoe UI" pitchFamily="34" charset="0"/>
                <a:ea typeface="Segoe UI" pitchFamily="34" charset="-122"/>
                <a:cs typeface="Segoe UI" pitchFamily="34" charset="-120"/>
              </a:rPr>
              <a:t>WATCH OUT</a:t>
            </a:r>
            <a:endParaRPr lang="en-US" sz="1050" dirty="0"/>
          </a:p>
        </p:txBody>
      </p:sp>
      <p:sp>
        <p:nvSpPr>
          <p:cNvPr id="10" name="Text 7"/>
          <p:cNvSpPr/>
          <p:nvPr/>
        </p:nvSpPr>
        <p:spPr>
          <a:xfrm>
            <a:off x="1051560" y="4391406"/>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The folder you're in matters. Running a script from the wrong folder is the most common first-week mistake, and some scripts fail </a:t>
            </a:r>
            <a:pPr algn="l" indent="0" marL="0">
              <a:buNone/>
            </a:pPr>
            <a:r>
              <a:rPr lang="en-US" sz="1720" dirty="0">
                <a:solidFill>
                  <a:srgbClr val="01D294"/>
                </a:solidFill>
                <a:latin typeface="Segoe UI" pitchFamily="34" charset="0"/>
                <a:ea typeface="Segoe UI" pitchFamily="34" charset="-122"/>
                <a:cs typeface="Segoe UI" pitchFamily="34" charset="-120"/>
              </a:rPr>
              <a:t>silently</a:t>
            </a:r>
            <a:pPr algn="l" indent="0" marL="0">
              <a:buNone/>
            </a:pPr>
            <a:r>
              <a:rPr lang="en-US" sz="1720" dirty="0">
                <a:solidFill>
                  <a:srgbClr val="EEF6F3"/>
                </a:solidFill>
                <a:latin typeface="Segoe UI" pitchFamily="34" charset="0"/>
                <a:ea typeface="Segoe UI" pitchFamily="34" charset="-122"/>
                <a:cs typeface="Segoe UI" pitchFamily="34" charset="-120"/>
              </a:rPr>
              <a:t> when you do it.</a:t>
            </a:r>
            <a:endParaRPr lang="en-US" sz="1720" dirty="0"/>
          </a:p>
        </p:txBody>
      </p:sp>
      <p:sp>
        <p:nvSpPr>
          <p:cNvPr id="11" name="Text 8"/>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2" name="Text 9"/>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5 / 32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01</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 virtual environment is a toolbox per project</a:t>
            </a:r>
            <a:endParaRPr lang="en-US" sz="30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5952" y="1577340"/>
            <a:ext cx="10139791" cy="2764528"/>
          </a:xfrm>
          <a:prstGeom prst="rect">
            <a:avLst/>
          </a:prstGeom>
        </p:spPr>
      </p:pic>
      <p:sp>
        <p:nvSpPr>
          <p:cNvPr id="7" name="Text 4"/>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8" name="Text 5"/>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6 / 32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01</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Make it, switch it on, fill it</a:t>
            </a:r>
            <a:endParaRPr lang="en-US" sz="3000" dirty="0"/>
          </a:p>
        </p:txBody>
      </p:sp>
      <p:sp>
        <p:nvSpPr>
          <p:cNvPr id="6" name="Text 4"/>
          <p:cNvSpPr/>
          <p:nvPr/>
        </p:nvSpPr>
        <p:spPr>
          <a:xfrm>
            <a:off x="777240" y="1577340"/>
            <a:ext cx="5135728" cy="422910"/>
          </a:xfrm>
          <a:prstGeom prst="rect">
            <a:avLst/>
          </a:prstGeom>
          <a:noFill/>
          <a:ln/>
        </p:spPr>
        <p:txBody>
          <a:bodyPr wrap="square" lIns="0" tIns="0" rIns="0" bIns="0" rtlCol="0" anchor="t"/>
          <a:lstStyle/>
          <a:p>
            <a:pPr algn="l" indent="0" marL="0">
              <a:buNone/>
            </a:pPr>
            <a:r>
              <a:rPr lang="en-US" sz="2100" dirty="0">
                <a:solidFill>
                  <a:srgbClr val="01D294"/>
                </a:solidFill>
                <a:latin typeface="Segoe UI" pitchFamily="34" charset="0"/>
                <a:ea typeface="Segoe UI" pitchFamily="34" charset="-122"/>
                <a:cs typeface="Segoe UI" pitchFamily="34" charset="-120"/>
              </a:rPr>
              <a:t>Windows</a:t>
            </a:r>
            <a:endParaRPr lang="en-US" sz="2100" dirty="0"/>
          </a:p>
        </p:txBody>
      </p:sp>
      <p:sp>
        <p:nvSpPr>
          <p:cNvPr id="7" name="Shape 5"/>
          <p:cNvSpPr/>
          <p:nvPr/>
        </p:nvSpPr>
        <p:spPr>
          <a:xfrm>
            <a:off x="777240" y="2091690"/>
            <a:ext cx="5135728" cy="1239012"/>
          </a:xfrm>
          <a:prstGeom prst="roundRect">
            <a:avLst>
              <a:gd name="adj" fmla="val 8856"/>
            </a:avLst>
          </a:prstGeom>
          <a:solidFill>
            <a:srgbClr val="13272B"/>
          </a:solidFill>
          <a:ln w="9525">
            <a:solidFill>
              <a:srgbClr val="24413F"/>
            </a:solidFill>
            <a:prstDash val="solid"/>
          </a:ln>
        </p:spPr>
      </p:sp>
      <p:sp>
        <p:nvSpPr>
          <p:cNvPr id="8" name="Text 6"/>
          <p:cNvSpPr/>
          <p:nvPr/>
        </p:nvSpPr>
        <p:spPr>
          <a:xfrm>
            <a:off x="960120" y="2201418"/>
            <a:ext cx="4769968" cy="1056132"/>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from prep-kit/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-3.12 -m venv .venv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.venv\Scripts\activate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pip install -r requirements.txt</a:t>
            </a:r>
            <a:endParaRPr lang="en-US" sz="1350" dirty="0"/>
          </a:p>
        </p:txBody>
      </p:sp>
      <p:sp>
        <p:nvSpPr>
          <p:cNvPr id="9" name="Text 7"/>
          <p:cNvSpPr/>
          <p:nvPr/>
        </p:nvSpPr>
        <p:spPr>
          <a:xfrm>
            <a:off x="6278728" y="1577340"/>
            <a:ext cx="5135728" cy="422910"/>
          </a:xfrm>
          <a:prstGeom prst="rect">
            <a:avLst/>
          </a:prstGeom>
          <a:noFill/>
          <a:ln/>
        </p:spPr>
        <p:txBody>
          <a:bodyPr wrap="square" lIns="0" tIns="0" rIns="0" bIns="0" rtlCol="0" anchor="t"/>
          <a:lstStyle/>
          <a:p>
            <a:pPr algn="l" indent="0" marL="0">
              <a:buNone/>
            </a:pPr>
            <a:r>
              <a:rPr lang="en-US" sz="2100" dirty="0">
                <a:solidFill>
                  <a:srgbClr val="01D294"/>
                </a:solidFill>
                <a:latin typeface="Segoe UI" pitchFamily="34" charset="0"/>
                <a:ea typeface="Segoe UI" pitchFamily="34" charset="-122"/>
                <a:cs typeface="Segoe UI" pitchFamily="34" charset="-120"/>
              </a:rPr>
              <a:t>macOS / Linux</a:t>
            </a:r>
            <a:endParaRPr lang="en-US" sz="2100" dirty="0"/>
          </a:p>
        </p:txBody>
      </p:sp>
      <p:sp>
        <p:nvSpPr>
          <p:cNvPr id="10" name="Shape 8"/>
          <p:cNvSpPr/>
          <p:nvPr/>
        </p:nvSpPr>
        <p:spPr>
          <a:xfrm>
            <a:off x="6278728" y="2091690"/>
            <a:ext cx="5135728" cy="1239012"/>
          </a:xfrm>
          <a:prstGeom prst="roundRect">
            <a:avLst>
              <a:gd name="adj" fmla="val 8856"/>
            </a:avLst>
          </a:prstGeom>
          <a:solidFill>
            <a:srgbClr val="13272B"/>
          </a:solidFill>
          <a:ln w="9525">
            <a:solidFill>
              <a:srgbClr val="24413F"/>
            </a:solidFill>
            <a:prstDash val="solid"/>
          </a:ln>
        </p:spPr>
      </p:sp>
      <p:sp>
        <p:nvSpPr>
          <p:cNvPr id="11" name="Text 9"/>
          <p:cNvSpPr/>
          <p:nvPr/>
        </p:nvSpPr>
        <p:spPr>
          <a:xfrm>
            <a:off x="6461608" y="2201418"/>
            <a:ext cx="4769968" cy="1056132"/>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from prep-kit/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python3.12 -m venv .venv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source .venv/bin/activate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pip install -r requirements.txt</a:t>
            </a:r>
            <a:endParaRPr lang="en-US" sz="1350" dirty="0"/>
          </a:p>
        </p:txBody>
      </p:sp>
      <p:sp>
        <p:nvSpPr>
          <p:cNvPr id="12" name="Text 10"/>
          <p:cNvSpPr/>
          <p:nvPr/>
        </p:nvSpPr>
        <p:spPr>
          <a:xfrm>
            <a:off x="777240" y="3550158"/>
            <a:ext cx="10637215" cy="405384"/>
          </a:xfrm>
          <a:prstGeom prst="rect">
            <a:avLst/>
          </a:prstGeom>
          <a:noFill/>
          <a:ln/>
        </p:spPr>
        <p:txBody>
          <a:bodyPr wrap="square" lIns="0" tIns="0" rIns="0" bIns="0" rtlCol="0" anchor="t"/>
          <a:lstStyle/>
          <a:p>
            <a:pPr algn="l" indent="0" marL="0">
              <a:buNone/>
            </a:pPr>
            <a:r>
              <a:rPr lang="en-US" sz="2000" dirty="0">
                <a:solidFill>
                  <a:srgbClr val="EEF6F3"/>
                </a:solidFill>
                <a:latin typeface="Segoe UI" pitchFamily="34" charset="0"/>
                <a:ea typeface="Segoe UI" pitchFamily="34" charset="-122"/>
                <a:cs typeface="Segoe UI" pitchFamily="34" charset="-120"/>
              </a:rPr>
              <a:t>Your prompt now starts with </a:t>
            </a:r>
            <a:pPr algn="l" indent="0" marL="0">
              <a:buNone/>
            </a:pPr>
            <a:r>
              <a:rPr lang="en-US" sz="1760" dirty="0">
                <a:solidFill>
                  <a:srgbClr val="D8FFF0"/>
                </a:solidFill>
                <a:latin typeface="Consolas" pitchFamily="34" charset="0"/>
                <a:ea typeface="Consolas" pitchFamily="34" charset="-122"/>
                <a:cs typeface="Consolas" pitchFamily="34" charset="-120"/>
              </a:rPr>
              <a:t>(.venv)</a:t>
            </a:r>
            <a:pPr algn="l" indent="0" marL="0">
              <a:buNone/>
            </a:pPr>
            <a:r>
              <a:rPr lang="en-US" sz="2000" dirty="0">
                <a:solidFill>
                  <a:srgbClr val="EEF6F3"/>
                </a:solidFill>
                <a:latin typeface="Segoe UI" pitchFamily="34" charset="0"/>
                <a:ea typeface="Segoe UI" pitchFamily="34" charset="-122"/>
                <a:cs typeface="Segoe UI" pitchFamily="34" charset="-120"/>
              </a:rPr>
              <a:t>. Activate again in every new terminal.</a:t>
            </a:r>
            <a:endParaRPr lang="en-US" sz="2000" dirty="0"/>
          </a:p>
        </p:txBody>
      </p:sp>
      <p:sp>
        <p:nvSpPr>
          <p:cNvPr id="13" name="Shape 11"/>
          <p:cNvSpPr/>
          <p:nvPr/>
        </p:nvSpPr>
        <p:spPr>
          <a:xfrm>
            <a:off x="777240" y="4083558"/>
            <a:ext cx="10637215" cy="1169822"/>
          </a:xfrm>
          <a:prstGeom prst="roundRect">
            <a:avLst>
              <a:gd name="adj" fmla="val 7817"/>
            </a:avLst>
          </a:prstGeom>
          <a:solidFill>
            <a:srgbClr val="112A45"/>
          </a:solidFill>
          <a:ln w="12700">
            <a:solidFill>
              <a:srgbClr val="112A45"/>
            </a:solidFill>
            <a:prstDash val="solid"/>
          </a:ln>
        </p:spPr>
      </p:sp>
      <p:sp>
        <p:nvSpPr>
          <p:cNvPr id="14" name="Shape 12"/>
          <p:cNvSpPr/>
          <p:nvPr/>
        </p:nvSpPr>
        <p:spPr>
          <a:xfrm>
            <a:off x="777240" y="4083558"/>
            <a:ext cx="82296" cy="1169822"/>
          </a:xfrm>
          <a:prstGeom prst="rect">
            <a:avLst/>
          </a:prstGeom>
          <a:solidFill>
            <a:srgbClr val="5AA2FF"/>
          </a:solidFill>
          <a:ln w="12700">
            <a:solidFill>
              <a:srgbClr val="5AA2FF"/>
            </a:solidFill>
            <a:prstDash val="solid"/>
          </a:ln>
        </p:spPr>
      </p:sp>
      <p:sp>
        <p:nvSpPr>
          <p:cNvPr id="15" name="Text 13"/>
          <p:cNvSpPr/>
          <p:nvPr/>
        </p:nvSpPr>
        <p:spPr>
          <a:xfrm>
            <a:off x="1051560" y="4193286"/>
            <a:ext cx="10225735" cy="237744"/>
          </a:xfrm>
          <a:prstGeom prst="rect">
            <a:avLst/>
          </a:prstGeom>
          <a:noFill/>
          <a:ln/>
        </p:spPr>
        <p:txBody>
          <a:bodyPr wrap="square" lIns="0" tIns="0" rIns="0" bIns="0" rtlCol="0" anchor="t"/>
          <a:lstStyle/>
          <a:p>
            <a:pPr indent="0" marL="0">
              <a:buNone/>
            </a:pPr>
            <a:r>
              <a:rPr lang="en-US" sz="1050" b="1" spc="300" kern="0" dirty="0">
                <a:solidFill>
                  <a:srgbClr val="5AA2FF"/>
                </a:solidFill>
                <a:latin typeface="Segoe UI" pitchFamily="34" charset="0"/>
                <a:ea typeface="Segoe UI" pitchFamily="34" charset="-122"/>
                <a:cs typeface="Segoe UI" pitchFamily="34" charset="-120"/>
              </a:rPr>
              <a:t>GOOD TO KNOW</a:t>
            </a:r>
            <a:endParaRPr lang="en-US" sz="1050" dirty="0"/>
          </a:p>
        </p:txBody>
      </p:sp>
      <p:sp>
        <p:nvSpPr>
          <p:cNvPr id="16" name="Text 14"/>
          <p:cNvSpPr/>
          <p:nvPr/>
        </p:nvSpPr>
        <p:spPr>
          <a:xfrm>
            <a:off x="1051560" y="4431030"/>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PowerShell says "running scripts is disabled"? Run this once: </a:t>
            </a:r>
            <a:pPr algn="l" indent="0" marL="0">
              <a:buNone/>
            </a:pPr>
            <a:r>
              <a:rPr lang="en-US" sz="1510" dirty="0">
                <a:solidFill>
                  <a:srgbClr val="D8FFF0"/>
                </a:solidFill>
                <a:latin typeface="Consolas" pitchFamily="34" charset="0"/>
                <a:ea typeface="Consolas" pitchFamily="34" charset="-122"/>
                <a:cs typeface="Consolas" pitchFamily="34" charset="-120"/>
              </a:rPr>
              <a:t>Set-ExecutionPolicy -Scope CurrentUser RemoteSigned</a:t>
            </a:r>
            <a:endParaRPr lang="en-US" sz="1720" dirty="0"/>
          </a:p>
        </p:txBody>
      </p:sp>
      <p:sp>
        <p:nvSpPr>
          <p:cNvPr id="17" name="Text 15"/>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8" name="Text 16"/>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7 / 32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Shape 2"/>
          <p:cNvSpPr/>
          <p:nvPr/>
        </p:nvSpPr>
        <p:spPr>
          <a:xfrm>
            <a:off x="0" y="0"/>
            <a:ext cx="118872" cy="6858000"/>
          </a:xfrm>
          <a:prstGeom prst="rect">
            <a:avLst/>
          </a:prstGeom>
          <a:solidFill>
            <a:srgbClr val="FFC53D"/>
          </a:solidFill>
          <a:ln w="12700">
            <a:solidFill>
              <a:srgbClr val="FFC53D"/>
            </a:solidFill>
            <a:prstDash val="solid"/>
          </a:ln>
        </p:spPr>
      </p:sp>
      <p:sp>
        <p:nvSpPr>
          <p:cNvPr id="5" name="Text 3"/>
          <p:cNvSpPr/>
          <p:nvPr/>
        </p:nvSpPr>
        <p:spPr>
          <a:xfrm>
            <a:off x="10408615" y="411480"/>
            <a:ext cx="1005840" cy="329184"/>
          </a:xfrm>
          <a:prstGeom prst="roundRect">
            <a:avLst>
              <a:gd name="adj" fmla="val 22222"/>
            </a:avLst>
          </a:prstGeom>
          <a:solidFill>
            <a:srgbClr val="FFC53D"/>
          </a:solidFill>
          <a:ln/>
        </p:spPr>
        <p:txBody>
          <a:bodyPr wrap="square" lIns="0" tIns="0" rIns="0" bIns="0" rtlCol="0" anchor="ctr"/>
          <a:lstStyle/>
          <a:p>
            <a:pPr algn="ctr" indent="0" marL="0">
              <a:buNone/>
            </a:pPr>
            <a:r>
              <a:rPr lang="en-US" sz="1200" b="1" spc="400" kern="0" dirty="0">
                <a:solidFill>
                  <a:srgbClr val="0C1A1D"/>
                </a:solidFill>
                <a:latin typeface="Segoe UI" pitchFamily="34" charset="0"/>
                <a:ea typeface="Segoe UI" pitchFamily="34" charset="-122"/>
                <a:cs typeface="Segoe UI" pitchFamily="34" charset="-120"/>
              </a:rPr>
              <a:t>LAB</a:t>
            </a:r>
            <a:endParaRPr lang="en-US" sz="1200" dirty="0"/>
          </a:p>
        </p:txBody>
      </p:sp>
      <p:sp>
        <p:nvSpPr>
          <p:cNvPr id="6" name="Text 4"/>
          <p:cNvSpPr/>
          <p:nvPr/>
        </p:nvSpPr>
        <p:spPr>
          <a:xfrm>
            <a:off x="777240" y="457200"/>
            <a:ext cx="1179576" cy="274320"/>
          </a:xfrm>
          <a:prstGeom prst="roundRect">
            <a:avLst>
              <a:gd name="adj" fmla="val 50000"/>
            </a:avLst>
          </a:prstGeom>
          <a:solidFill>
            <a:srgbClr val="FFC53D"/>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TRY IT</a:t>
            </a:r>
            <a:endParaRPr lang="en-US" sz="1100" dirty="0"/>
          </a:p>
        </p:txBody>
      </p:sp>
      <p:sp>
        <p:nvSpPr>
          <p:cNvPr id="7" name="Text 5"/>
          <p:cNvSpPr/>
          <p:nvPr/>
        </p:nvSpPr>
        <p:spPr>
          <a:xfrm>
            <a:off x="777240" y="841248"/>
            <a:ext cx="944849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Which Python is running?</a:t>
            </a:r>
            <a:endParaRPr lang="en-US" sz="3000" dirty="0"/>
          </a:p>
        </p:txBody>
      </p:sp>
      <p:sp>
        <p:nvSpPr>
          <p:cNvPr id="8" name="Shape 6"/>
          <p:cNvSpPr/>
          <p:nvPr/>
        </p:nvSpPr>
        <p:spPr>
          <a:xfrm>
            <a:off x="777240" y="1577340"/>
            <a:ext cx="10637215" cy="2895219"/>
          </a:xfrm>
          <a:prstGeom prst="roundRect">
            <a:avLst>
              <a:gd name="adj" fmla="val 3790"/>
            </a:avLst>
          </a:prstGeom>
          <a:solidFill>
            <a:srgbClr val="13272B"/>
          </a:solidFill>
          <a:ln w="9525">
            <a:solidFill>
              <a:srgbClr val="24413F"/>
            </a:solidFill>
            <a:prstDash val="solid"/>
          </a:ln>
        </p:spPr>
      </p:sp>
      <p:sp>
        <p:nvSpPr>
          <p:cNvPr id="9" name="Text 7"/>
          <p:cNvSpPr/>
          <p:nvPr/>
        </p:nvSpPr>
        <p:spPr>
          <a:xfrm>
            <a:off x="960120" y="1687068"/>
            <a:ext cx="10271455" cy="2712339"/>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code\where_am_i.py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Python version : 3.12.7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Running from   : C:\...\prep-kit\.venv\Scripts\python.exe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Virtual env    : YES  (C:\...\prep-kit\.venv)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Packages the prep kit needs: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openai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httpx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dotenv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tiktoken</a:t>
            </a:r>
            <a:endParaRPr lang="en-US" sz="1350" dirty="0"/>
          </a:p>
        </p:txBody>
      </p:sp>
      <p:sp>
        <p:nvSpPr>
          <p:cNvPr id="10" name="Text 8"/>
          <p:cNvSpPr/>
          <p:nvPr/>
        </p:nvSpPr>
        <p:spPr>
          <a:xfrm>
            <a:off x="777240" y="4600575"/>
            <a:ext cx="10637215" cy="755904"/>
          </a:xfrm>
          <a:prstGeom prst="rect">
            <a:avLst/>
          </a:prstGeom>
          <a:noFill/>
          <a:ln/>
        </p:spPr>
        <p:txBody>
          <a:bodyPr wrap="square" lIns="0" tIns="0" rIns="0" bIns="0" rtlCol="0" anchor="t"/>
          <a:lstStyle/>
          <a:p>
            <a:pPr algn="l" indent="0" marL="0">
              <a:buNone/>
            </a:pPr>
            <a:r>
              <a:rPr lang="en-US" sz="2000" dirty="0">
                <a:solidFill>
                  <a:srgbClr val="EEF6F3"/>
                </a:solidFill>
                <a:latin typeface="Segoe UI" pitchFamily="34" charset="0"/>
                <a:ea typeface="Segoe UI" pitchFamily="34" charset="-122"/>
                <a:cs typeface="Segoe UI" pitchFamily="34" charset="-120"/>
              </a:rPr>
              <a:t>Now open a second terminal, </a:t>
            </a:r>
            <a:pPr algn="l" indent="0" marL="0">
              <a:buNone/>
            </a:pPr>
            <a:r>
              <a:rPr lang="en-US" sz="2000" b="1" dirty="0">
                <a:solidFill>
                  <a:srgbClr val="FFFFFF"/>
                </a:solidFill>
                <a:latin typeface="Segoe UI" pitchFamily="34" charset="0"/>
                <a:ea typeface="Segoe UI" pitchFamily="34" charset="-122"/>
                <a:cs typeface="Segoe UI" pitchFamily="34" charset="-120"/>
              </a:rPr>
              <a:t>don't</a:t>
            </a:r>
            <a:pPr algn="l" indent="0" marL="0">
              <a:buNone/>
            </a:pPr>
            <a:r>
              <a:rPr lang="en-US" sz="2000" dirty="0">
                <a:solidFill>
                  <a:srgbClr val="EEF6F3"/>
                </a:solidFill>
                <a:latin typeface="Segoe UI" pitchFamily="34" charset="0"/>
                <a:ea typeface="Segoe UI" pitchFamily="34" charset="-122"/>
                <a:cs typeface="Segoe UI" pitchFamily="34" charset="-120"/>
              </a:rPr>
              <a:t> activate, and run it again. Different Python, missing packages. That difference is the whole point.</a:t>
            </a:r>
            <a:endParaRPr lang="en-US" sz="2000" dirty="0"/>
          </a:p>
        </p:txBody>
      </p:sp>
      <p:sp>
        <p:nvSpPr>
          <p:cNvPr id="11" name="Text 9"/>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2" name="Text 10"/>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8 / 32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02</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An API call is a request and a response</a:t>
            </a:r>
            <a:endParaRPr lang="en-US" sz="30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5952" y="1577340"/>
            <a:ext cx="10139791" cy="2764528"/>
          </a:xfrm>
          <a:prstGeom prst="rect">
            <a:avLst/>
          </a:prstGeom>
        </p:spPr>
      </p:pic>
      <p:sp>
        <p:nvSpPr>
          <p:cNvPr id="7" name="Text 4"/>
          <p:cNvSpPr/>
          <p:nvPr/>
        </p:nvSpPr>
        <p:spPr>
          <a:xfrm>
            <a:off x="777240" y="4561324"/>
            <a:ext cx="10637215" cy="650748"/>
          </a:xfrm>
          <a:prstGeom prst="rect">
            <a:avLst/>
          </a:prstGeom>
          <a:noFill/>
          <a:ln/>
        </p:spPr>
        <p:txBody>
          <a:bodyPr wrap="square" lIns="0" tIns="0" rIns="0" bIns="0" rtlCol="0" anchor="t"/>
          <a:lstStyle/>
          <a:p>
            <a:pPr algn="l" indent="0" marL="0">
              <a:buNone/>
            </a:pPr>
            <a:r>
              <a:rPr lang="en-US" sz="1500" dirty="0">
                <a:solidFill>
                  <a:srgbClr val="D8FFF0"/>
                </a:solidFill>
                <a:latin typeface="Consolas" pitchFamily="34" charset="0"/>
                <a:ea typeface="Consolas" pitchFamily="34" charset="-122"/>
                <a:cs typeface="Consolas" pitchFamily="34" charset="-120"/>
              </a:rPr>
              <a:t>GET</a:t>
            </a:r>
            <a:pPr algn="l" indent="0" marL="0">
              <a:buNone/>
            </a:pPr>
            <a:r>
              <a:rPr lang="en-US" sz="1700" dirty="0">
                <a:solidFill>
                  <a:srgbClr val="EEF6F3"/>
                </a:solidFill>
                <a:latin typeface="Segoe UI" pitchFamily="34" charset="0"/>
                <a:ea typeface="Segoe UI" pitchFamily="34" charset="-122"/>
                <a:cs typeface="Segoe UI" pitchFamily="34" charset="-120"/>
              </a:rPr>
              <a:t> reads something. </a:t>
            </a:r>
            <a:pPr algn="l" indent="0" marL="0">
              <a:buNone/>
            </a:pPr>
            <a:r>
              <a:rPr lang="en-US" sz="1500" dirty="0">
                <a:solidFill>
                  <a:srgbClr val="D8FFF0"/>
                </a:solidFill>
                <a:latin typeface="Consolas" pitchFamily="34" charset="0"/>
                <a:ea typeface="Consolas" pitchFamily="34" charset="-122"/>
                <a:cs typeface="Consolas" pitchFamily="34" charset="-120"/>
              </a:rPr>
              <a:t>POST</a:t>
            </a:r>
            <a:pPr algn="l" indent="0" marL="0">
              <a:buNone/>
            </a:pPr>
            <a:r>
              <a:rPr lang="en-US" sz="1700" dirty="0">
                <a:solidFill>
                  <a:srgbClr val="EEF6F3"/>
                </a:solidFill>
                <a:latin typeface="Segoe UI" pitchFamily="34" charset="0"/>
                <a:ea typeface="Segoe UI" pitchFamily="34" charset="-122"/>
                <a:cs typeface="Segoe UI" pitchFamily="34" charset="-120"/>
              </a:rPr>
              <a:t> creates or changes something. </a:t>
            </a:r>
            <a:pPr algn="l" indent="0" marL="0">
              <a:buNone/>
            </a:pPr>
            <a:r>
              <a:rPr lang="en-US" sz="1700" b="1" dirty="0">
                <a:solidFill>
                  <a:srgbClr val="FFFFFF"/>
                </a:solidFill>
                <a:latin typeface="Segoe UI" pitchFamily="34" charset="0"/>
                <a:ea typeface="Segoe UI" pitchFamily="34" charset="-122"/>
                <a:cs typeface="Segoe UI" pitchFamily="34" charset="-120"/>
              </a:rPr>
              <a:t>JSON</a:t>
            </a:r>
            <a:pPr algn="l" indent="0" marL="0">
              <a:buNone/>
            </a:pPr>
            <a:r>
              <a:rPr lang="en-US" sz="1700" dirty="0">
                <a:solidFill>
                  <a:srgbClr val="EEF6F3"/>
                </a:solidFill>
                <a:latin typeface="Segoe UI" pitchFamily="34" charset="0"/>
                <a:ea typeface="Segoe UI" pitchFamily="34" charset="-122"/>
                <a:cs typeface="Segoe UI" pitchFamily="34" charset="-120"/>
              </a:rPr>
              <a:t> is text that looks like a Python dict.</a:t>
            </a:r>
            <a:endParaRPr lang="en-US" sz="1700" dirty="0"/>
          </a:p>
        </p:txBody>
      </p:sp>
      <p:sp>
        <p:nvSpPr>
          <p:cNvPr id="8" name="Text 5"/>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9" name="Text 6"/>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9 / 32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02</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Four status codes you'll actually see</a:t>
            </a:r>
            <a:endParaRPr lang="en-US" sz="3000" dirty="0"/>
          </a:p>
        </p:txBody>
      </p:sp>
      <p:sp>
        <p:nvSpPr>
          <p:cNvPr id="6" name="Shape 4"/>
          <p:cNvSpPr/>
          <p:nvPr/>
        </p:nvSpPr>
        <p:spPr>
          <a:xfrm>
            <a:off x="777240" y="1577340"/>
            <a:ext cx="2487854" cy="1675295"/>
          </a:xfrm>
          <a:prstGeom prst="roundRect">
            <a:avLst>
              <a:gd name="adj" fmla="val 5458"/>
            </a:avLst>
          </a:prstGeom>
          <a:solidFill>
            <a:srgbClr val="13272B"/>
          </a:solidFill>
          <a:ln w="12700">
            <a:solidFill>
              <a:srgbClr val="13272B"/>
            </a:solidFill>
            <a:prstDash val="solid"/>
          </a:ln>
        </p:spPr>
      </p:sp>
      <p:sp>
        <p:nvSpPr>
          <p:cNvPr id="7" name="Shape 5"/>
          <p:cNvSpPr/>
          <p:nvPr/>
        </p:nvSpPr>
        <p:spPr>
          <a:xfrm>
            <a:off x="777240" y="1577340"/>
            <a:ext cx="2487854" cy="64008"/>
          </a:xfrm>
          <a:prstGeom prst="rect">
            <a:avLst/>
          </a:prstGeom>
          <a:solidFill>
            <a:srgbClr val="B4F05A"/>
          </a:solidFill>
          <a:ln w="12700">
            <a:solidFill>
              <a:srgbClr val="B4F05A"/>
            </a:solidFill>
            <a:prstDash val="solid"/>
          </a:ln>
        </p:spPr>
      </p:sp>
      <p:sp>
        <p:nvSpPr>
          <p:cNvPr id="8" name="Text 6"/>
          <p:cNvSpPr/>
          <p:nvPr/>
        </p:nvSpPr>
        <p:spPr>
          <a:xfrm>
            <a:off x="905256" y="1769364"/>
            <a:ext cx="2231822" cy="367703"/>
          </a:xfrm>
          <a:prstGeom prst="rect">
            <a:avLst/>
          </a:prstGeom>
          <a:noFill/>
          <a:ln/>
        </p:spPr>
        <p:txBody>
          <a:bodyPr wrap="square" lIns="0" tIns="0" rIns="0" bIns="0" rtlCol="0" anchor="t"/>
          <a:lstStyle/>
          <a:p>
            <a:pPr algn="l" indent="0" marL="0">
              <a:buNone/>
            </a:pPr>
            <a:r>
              <a:rPr lang="en-US" sz="1785" b="1" dirty="0">
                <a:solidFill>
                  <a:srgbClr val="B4F05A"/>
                </a:solidFill>
                <a:latin typeface="Segoe UI" pitchFamily="34" charset="0"/>
                <a:ea typeface="Segoe UI" pitchFamily="34" charset="-122"/>
                <a:cs typeface="Segoe UI" pitchFamily="34" charset="-120"/>
              </a:rPr>
              <a:t>200 OK</a:t>
            </a:r>
            <a:endParaRPr lang="en-US" sz="1785" dirty="0"/>
          </a:p>
        </p:txBody>
      </p:sp>
      <p:sp>
        <p:nvSpPr>
          <p:cNvPr id="9" name="Text 7"/>
          <p:cNvSpPr/>
          <p:nvPr/>
        </p:nvSpPr>
        <p:spPr>
          <a:xfrm>
            <a:off x="905256" y="2173643"/>
            <a:ext cx="2231822" cy="615696"/>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Here's what you asked for.</a:t>
            </a:r>
            <a:endParaRPr lang="en-US" sz="1600" dirty="0"/>
          </a:p>
        </p:txBody>
      </p:sp>
      <p:sp>
        <p:nvSpPr>
          <p:cNvPr id="10" name="Shape 8"/>
          <p:cNvSpPr/>
          <p:nvPr/>
        </p:nvSpPr>
        <p:spPr>
          <a:xfrm>
            <a:off x="3493694" y="1577340"/>
            <a:ext cx="2487854" cy="1675295"/>
          </a:xfrm>
          <a:prstGeom prst="roundRect">
            <a:avLst>
              <a:gd name="adj" fmla="val 5458"/>
            </a:avLst>
          </a:prstGeom>
          <a:solidFill>
            <a:srgbClr val="13272B"/>
          </a:solidFill>
          <a:ln w="12700">
            <a:solidFill>
              <a:srgbClr val="13272B"/>
            </a:solidFill>
            <a:prstDash val="solid"/>
          </a:ln>
        </p:spPr>
      </p:sp>
      <p:sp>
        <p:nvSpPr>
          <p:cNvPr id="11" name="Shape 9"/>
          <p:cNvSpPr/>
          <p:nvPr/>
        </p:nvSpPr>
        <p:spPr>
          <a:xfrm>
            <a:off x="3493694" y="1577340"/>
            <a:ext cx="2487854" cy="64008"/>
          </a:xfrm>
          <a:prstGeom prst="rect">
            <a:avLst/>
          </a:prstGeom>
          <a:solidFill>
            <a:srgbClr val="5AA2FF"/>
          </a:solidFill>
          <a:ln w="12700">
            <a:solidFill>
              <a:srgbClr val="5AA2FF"/>
            </a:solidFill>
            <a:prstDash val="solid"/>
          </a:ln>
        </p:spPr>
      </p:sp>
      <p:sp>
        <p:nvSpPr>
          <p:cNvPr id="12" name="Text 10"/>
          <p:cNvSpPr/>
          <p:nvPr/>
        </p:nvSpPr>
        <p:spPr>
          <a:xfrm>
            <a:off x="3621710" y="1769364"/>
            <a:ext cx="2231822" cy="367703"/>
          </a:xfrm>
          <a:prstGeom prst="rect">
            <a:avLst/>
          </a:prstGeom>
          <a:noFill/>
          <a:ln/>
        </p:spPr>
        <p:txBody>
          <a:bodyPr wrap="square" lIns="0" tIns="0" rIns="0" bIns="0" rtlCol="0" anchor="t"/>
          <a:lstStyle/>
          <a:p>
            <a:pPr algn="l" indent="0" marL="0">
              <a:buNone/>
            </a:pPr>
            <a:r>
              <a:rPr lang="en-US" sz="1785" b="1" dirty="0">
                <a:solidFill>
                  <a:srgbClr val="5AA2FF"/>
                </a:solidFill>
                <a:latin typeface="Segoe UI" pitchFamily="34" charset="0"/>
                <a:ea typeface="Segoe UI" pitchFamily="34" charset="-122"/>
                <a:cs typeface="Segoe UI" pitchFamily="34" charset="-120"/>
              </a:rPr>
              <a:t>404 Not found</a:t>
            </a:r>
            <a:endParaRPr lang="en-US" sz="1785" dirty="0"/>
          </a:p>
        </p:txBody>
      </p:sp>
      <p:sp>
        <p:nvSpPr>
          <p:cNvPr id="13" name="Text 11"/>
          <p:cNvSpPr/>
          <p:nvPr/>
        </p:nvSpPr>
        <p:spPr>
          <a:xfrm>
            <a:off x="3621710" y="2173643"/>
            <a:ext cx="2231822" cy="896112"/>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I understood you, but that thing doesn't exist.</a:t>
            </a:r>
            <a:endParaRPr lang="en-US" sz="1600" dirty="0"/>
          </a:p>
        </p:txBody>
      </p:sp>
      <p:sp>
        <p:nvSpPr>
          <p:cNvPr id="14" name="Shape 12"/>
          <p:cNvSpPr/>
          <p:nvPr/>
        </p:nvSpPr>
        <p:spPr>
          <a:xfrm>
            <a:off x="6210148" y="1577340"/>
            <a:ext cx="2487854" cy="1675295"/>
          </a:xfrm>
          <a:prstGeom prst="roundRect">
            <a:avLst>
              <a:gd name="adj" fmla="val 5458"/>
            </a:avLst>
          </a:prstGeom>
          <a:solidFill>
            <a:srgbClr val="13272B"/>
          </a:solidFill>
          <a:ln w="12700">
            <a:solidFill>
              <a:srgbClr val="13272B"/>
            </a:solidFill>
            <a:prstDash val="solid"/>
          </a:ln>
        </p:spPr>
      </p:sp>
      <p:sp>
        <p:nvSpPr>
          <p:cNvPr id="15" name="Shape 13"/>
          <p:cNvSpPr/>
          <p:nvPr/>
        </p:nvSpPr>
        <p:spPr>
          <a:xfrm>
            <a:off x="6210148" y="1577340"/>
            <a:ext cx="2487854" cy="64008"/>
          </a:xfrm>
          <a:prstGeom prst="rect">
            <a:avLst/>
          </a:prstGeom>
          <a:solidFill>
            <a:srgbClr val="FFC53D"/>
          </a:solidFill>
          <a:ln w="12700">
            <a:solidFill>
              <a:srgbClr val="FFC53D"/>
            </a:solidFill>
            <a:prstDash val="solid"/>
          </a:ln>
        </p:spPr>
      </p:sp>
      <p:sp>
        <p:nvSpPr>
          <p:cNvPr id="16" name="Text 14"/>
          <p:cNvSpPr/>
          <p:nvPr/>
        </p:nvSpPr>
        <p:spPr>
          <a:xfrm>
            <a:off x="6338164" y="1769364"/>
            <a:ext cx="2231822" cy="367703"/>
          </a:xfrm>
          <a:prstGeom prst="rect">
            <a:avLst/>
          </a:prstGeom>
          <a:noFill/>
          <a:ln/>
        </p:spPr>
        <p:txBody>
          <a:bodyPr wrap="square" lIns="0" tIns="0" rIns="0" bIns="0" rtlCol="0" anchor="t"/>
          <a:lstStyle/>
          <a:p>
            <a:pPr algn="l" indent="0" marL="0">
              <a:buNone/>
            </a:pPr>
            <a:r>
              <a:rPr lang="en-US" sz="1785" b="1" dirty="0">
                <a:solidFill>
                  <a:srgbClr val="FFC53D"/>
                </a:solidFill>
                <a:latin typeface="Segoe UI" pitchFamily="34" charset="0"/>
                <a:ea typeface="Segoe UI" pitchFamily="34" charset="-122"/>
                <a:cs typeface="Segoe UI" pitchFamily="34" charset="-120"/>
              </a:rPr>
              <a:t>429 Too many</a:t>
            </a:r>
            <a:endParaRPr lang="en-US" sz="1785" dirty="0"/>
          </a:p>
        </p:txBody>
      </p:sp>
      <p:sp>
        <p:nvSpPr>
          <p:cNvPr id="17" name="Text 15"/>
          <p:cNvSpPr/>
          <p:nvPr/>
        </p:nvSpPr>
        <p:spPr>
          <a:xfrm>
            <a:off x="6338164" y="2173643"/>
            <a:ext cx="2231822" cy="896112"/>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Slow down. You'll meet this on free LLM tiers.</a:t>
            </a:r>
            <a:endParaRPr lang="en-US" sz="1600" dirty="0"/>
          </a:p>
        </p:txBody>
      </p:sp>
      <p:sp>
        <p:nvSpPr>
          <p:cNvPr id="18" name="Shape 16"/>
          <p:cNvSpPr/>
          <p:nvPr/>
        </p:nvSpPr>
        <p:spPr>
          <a:xfrm>
            <a:off x="8926601" y="1577340"/>
            <a:ext cx="2487854" cy="1675295"/>
          </a:xfrm>
          <a:prstGeom prst="roundRect">
            <a:avLst>
              <a:gd name="adj" fmla="val 5458"/>
            </a:avLst>
          </a:prstGeom>
          <a:solidFill>
            <a:srgbClr val="13272B"/>
          </a:solidFill>
          <a:ln w="12700">
            <a:solidFill>
              <a:srgbClr val="13272B"/>
            </a:solidFill>
            <a:prstDash val="solid"/>
          </a:ln>
        </p:spPr>
      </p:sp>
      <p:sp>
        <p:nvSpPr>
          <p:cNvPr id="19" name="Shape 17"/>
          <p:cNvSpPr/>
          <p:nvPr/>
        </p:nvSpPr>
        <p:spPr>
          <a:xfrm>
            <a:off x="8926601" y="1577340"/>
            <a:ext cx="2487854" cy="64008"/>
          </a:xfrm>
          <a:prstGeom prst="rect">
            <a:avLst/>
          </a:prstGeom>
          <a:solidFill>
            <a:srgbClr val="FF7A7A"/>
          </a:solidFill>
          <a:ln w="12700">
            <a:solidFill>
              <a:srgbClr val="FF7A7A"/>
            </a:solidFill>
            <a:prstDash val="solid"/>
          </a:ln>
        </p:spPr>
      </p:sp>
      <p:sp>
        <p:nvSpPr>
          <p:cNvPr id="20" name="Text 18"/>
          <p:cNvSpPr/>
          <p:nvPr/>
        </p:nvSpPr>
        <p:spPr>
          <a:xfrm>
            <a:off x="9054617" y="1769364"/>
            <a:ext cx="2231822" cy="367703"/>
          </a:xfrm>
          <a:prstGeom prst="rect">
            <a:avLst/>
          </a:prstGeom>
          <a:noFill/>
          <a:ln/>
        </p:spPr>
        <p:txBody>
          <a:bodyPr wrap="square" lIns="0" tIns="0" rIns="0" bIns="0" rtlCol="0" anchor="t"/>
          <a:lstStyle/>
          <a:p>
            <a:pPr algn="l" indent="0" marL="0">
              <a:buNone/>
            </a:pPr>
            <a:r>
              <a:rPr lang="en-US" sz="1785" b="1" dirty="0">
                <a:solidFill>
                  <a:srgbClr val="FF7A7A"/>
                </a:solidFill>
                <a:latin typeface="Segoe UI" pitchFamily="34" charset="0"/>
                <a:ea typeface="Segoe UI" pitchFamily="34" charset="-122"/>
                <a:cs typeface="Segoe UI" pitchFamily="34" charset="-120"/>
              </a:rPr>
              <a:t>500 Server error</a:t>
            </a:r>
            <a:endParaRPr lang="en-US" sz="1785" dirty="0"/>
          </a:p>
        </p:txBody>
      </p:sp>
      <p:sp>
        <p:nvSpPr>
          <p:cNvPr id="21" name="Text 19"/>
          <p:cNvSpPr/>
          <p:nvPr/>
        </p:nvSpPr>
        <p:spPr>
          <a:xfrm>
            <a:off x="9054617" y="2173643"/>
            <a:ext cx="2231822" cy="615696"/>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Something broke on my side, not yours.</a:t>
            </a:r>
            <a:endParaRPr lang="en-US" sz="1600" dirty="0"/>
          </a:p>
        </p:txBody>
      </p:sp>
      <p:sp>
        <p:nvSpPr>
          <p:cNvPr id="22" name="Shape 20"/>
          <p:cNvSpPr/>
          <p:nvPr/>
        </p:nvSpPr>
        <p:spPr>
          <a:xfrm>
            <a:off x="777240" y="3380651"/>
            <a:ext cx="10637215" cy="1169822"/>
          </a:xfrm>
          <a:prstGeom prst="roundRect">
            <a:avLst>
              <a:gd name="adj" fmla="val 7817"/>
            </a:avLst>
          </a:prstGeom>
          <a:solidFill>
            <a:srgbClr val="0D3029"/>
          </a:solidFill>
          <a:ln w="12700">
            <a:solidFill>
              <a:srgbClr val="0D3029"/>
            </a:solidFill>
            <a:prstDash val="solid"/>
          </a:ln>
        </p:spPr>
      </p:sp>
      <p:sp>
        <p:nvSpPr>
          <p:cNvPr id="23" name="Shape 21"/>
          <p:cNvSpPr/>
          <p:nvPr/>
        </p:nvSpPr>
        <p:spPr>
          <a:xfrm>
            <a:off x="777240" y="3380651"/>
            <a:ext cx="82296" cy="1169822"/>
          </a:xfrm>
          <a:prstGeom prst="rect">
            <a:avLst/>
          </a:prstGeom>
          <a:solidFill>
            <a:srgbClr val="01D294"/>
          </a:solidFill>
          <a:ln w="12700">
            <a:solidFill>
              <a:srgbClr val="01D294"/>
            </a:solidFill>
            <a:prstDash val="solid"/>
          </a:ln>
        </p:spPr>
      </p:sp>
      <p:sp>
        <p:nvSpPr>
          <p:cNvPr id="24" name="Text 22"/>
          <p:cNvSpPr/>
          <p:nvPr/>
        </p:nvSpPr>
        <p:spPr>
          <a:xfrm>
            <a:off x="1051560" y="3490379"/>
            <a:ext cx="10225735" cy="237744"/>
          </a:xfrm>
          <a:prstGeom prst="rect">
            <a:avLst/>
          </a:prstGeom>
          <a:noFill/>
          <a:ln/>
        </p:spPr>
        <p:txBody>
          <a:bodyPr wrap="square" lIns="0" tIns="0" rIns="0" bIns="0" rtlCol="0" anchor="t"/>
          <a:lstStyle/>
          <a:p>
            <a:pPr indent="0" marL="0">
              <a:buNone/>
            </a:pPr>
            <a:r>
              <a:rPr lang="en-US" sz="1050" b="1" spc="300" kern="0" dirty="0">
                <a:solidFill>
                  <a:srgbClr val="01D294"/>
                </a:solidFill>
                <a:latin typeface="Segoe UI" pitchFamily="34" charset="0"/>
                <a:ea typeface="Segoe UI" pitchFamily="34" charset="-122"/>
                <a:cs typeface="Segoe UI" pitchFamily="34" charset="-120"/>
              </a:rPr>
              <a:t>IN PLAIN WORDS</a:t>
            </a:r>
            <a:endParaRPr lang="en-US" sz="1050" dirty="0"/>
          </a:p>
        </p:txBody>
      </p:sp>
      <p:sp>
        <p:nvSpPr>
          <p:cNvPr id="25" name="Text 23"/>
          <p:cNvSpPr/>
          <p:nvPr/>
        </p:nvSpPr>
        <p:spPr>
          <a:xfrm>
            <a:off x="1051560" y="3728123"/>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A 404 is not a crash. The server answered fine; it's telling you something. Good code reads the status and decides what to do.</a:t>
            </a:r>
            <a:endParaRPr lang="en-US" sz="1720" dirty="0"/>
          </a:p>
        </p:txBody>
      </p:sp>
      <p:sp>
        <p:nvSpPr>
          <p:cNvPr id="26" name="Text 24"/>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27" name="Text 25"/>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10 / 32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Shape 2"/>
          <p:cNvSpPr/>
          <p:nvPr/>
        </p:nvSpPr>
        <p:spPr>
          <a:xfrm>
            <a:off x="0" y="0"/>
            <a:ext cx="118872" cy="6858000"/>
          </a:xfrm>
          <a:prstGeom prst="rect">
            <a:avLst/>
          </a:prstGeom>
          <a:solidFill>
            <a:srgbClr val="FFC53D"/>
          </a:solidFill>
          <a:ln w="12700">
            <a:solidFill>
              <a:srgbClr val="FFC53D"/>
            </a:solidFill>
            <a:prstDash val="solid"/>
          </a:ln>
        </p:spPr>
      </p:sp>
      <p:sp>
        <p:nvSpPr>
          <p:cNvPr id="5" name="Text 3"/>
          <p:cNvSpPr/>
          <p:nvPr/>
        </p:nvSpPr>
        <p:spPr>
          <a:xfrm>
            <a:off x="10408615" y="411480"/>
            <a:ext cx="1005840" cy="329184"/>
          </a:xfrm>
          <a:prstGeom prst="roundRect">
            <a:avLst>
              <a:gd name="adj" fmla="val 22222"/>
            </a:avLst>
          </a:prstGeom>
          <a:solidFill>
            <a:srgbClr val="FFC53D"/>
          </a:solidFill>
          <a:ln/>
        </p:spPr>
        <p:txBody>
          <a:bodyPr wrap="square" lIns="0" tIns="0" rIns="0" bIns="0" rtlCol="0" anchor="ctr"/>
          <a:lstStyle/>
          <a:p>
            <a:pPr algn="ctr" indent="0" marL="0">
              <a:buNone/>
            </a:pPr>
            <a:r>
              <a:rPr lang="en-US" sz="1200" b="1" spc="400" kern="0" dirty="0">
                <a:solidFill>
                  <a:srgbClr val="0C1A1D"/>
                </a:solidFill>
                <a:latin typeface="Segoe UI" pitchFamily="34" charset="0"/>
                <a:ea typeface="Segoe UI" pitchFamily="34" charset="-122"/>
                <a:cs typeface="Segoe UI" pitchFamily="34" charset="-120"/>
              </a:rPr>
              <a:t>LAB</a:t>
            </a:r>
            <a:endParaRPr lang="en-US" sz="1200" dirty="0"/>
          </a:p>
        </p:txBody>
      </p:sp>
      <p:sp>
        <p:nvSpPr>
          <p:cNvPr id="6" name="Text 4"/>
          <p:cNvSpPr/>
          <p:nvPr/>
        </p:nvSpPr>
        <p:spPr>
          <a:xfrm>
            <a:off x="777240" y="457200"/>
            <a:ext cx="1179576" cy="274320"/>
          </a:xfrm>
          <a:prstGeom prst="roundRect">
            <a:avLst>
              <a:gd name="adj" fmla="val 50000"/>
            </a:avLst>
          </a:prstGeom>
          <a:solidFill>
            <a:srgbClr val="FFC53D"/>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TRY IT</a:t>
            </a:r>
            <a:endParaRPr lang="en-US" sz="1100" dirty="0"/>
          </a:p>
        </p:txBody>
      </p:sp>
      <p:sp>
        <p:nvSpPr>
          <p:cNvPr id="7" name="Text 5"/>
          <p:cNvSpPr/>
          <p:nvPr/>
        </p:nvSpPr>
        <p:spPr>
          <a:xfrm>
            <a:off x="777240" y="841248"/>
            <a:ext cx="944849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 real API, running on your laptop</a:t>
            </a:r>
            <a:endParaRPr lang="en-US" sz="3000" dirty="0"/>
          </a:p>
        </p:txBody>
      </p:sp>
      <p:sp>
        <p:nvSpPr>
          <p:cNvPr id="8" name="Shape 6"/>
          <p:cNvSpPr/>
          <p:nvPr/>
        </p:nvSpPr>
        <p:spPr>
          <a:xfrm>
            <a:off x="777240" y="1577340"/>
            <a:ext cx="10637215" cy="1475613"/>
          </a:xfrm>
          <a:prstGeom prst="roundRect">
            <a:avLst>
              <a:gd name="adj" fmla="val 7436"/>
            </a:avLst>
          </a:prstGeom>
          <a:solidFill>
            <a:srgbClr val="13272B"/>
          </a:solidFill>
          <a:ln w="9525">
            <a:solidFill>
              <a:srgbClr val="24413F"/>
            </a:solidFill>
            <a:prstDash val="solid"/>
          </a:ln>
        </p:spPr>
      </p:sp>
      <p:sp>
        <p:nvSpPr>
          <p:cNvPr id="9" name="Text 7"/>
          <p:cNvSpPr/>
          <p:nvPr/>
        </p:nvSpPr>
        <p:spPr>
          <a:xfrm>
            <a:off x="960120" y="1687068"/>
            <a:ext cx="10271455" cy="1292733"/>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terminal 1, from prep-kit/ (leave it running)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uvicorn app:app --app-dir mock_api --port 9000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terminal 2, from prep-kit/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code\hello_api.py</a:t>
            </a:r>
            <a:endParaRPr lang="en-US" sz="1350" dirty="0"/>
          </a:p>
        </p:txBody>
      </p:sp>
      <p:sp>
        <p:nvSpPr>
          <p:cNvPr id="10" name="Text 8"/>
          <p:cNvSpPr/>
          <p:nvPr/>
        </p:nvSpPr>
        <p:spPr>
          <a:xfrm>
            <a:off x="777240" y="3180969"/>
            <a:ext cx="10637215" cy="1225296"/>
          </a:xfrm>
          <a:prstGeom prst="rect">
            <a:avLst/>
          </a:prstGeom>
          <a:noFill/>
          <a:ln/>
        </p:spPr>
        <p:txBody>
          <a:bodyPr wrap="square" lIns="0" tIns="0" rIns="0" bIns="0" rtlCol="0" anchor="t"/>
          <a:lstStyle/>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Open </a:t>
            </a:r>
            <a:pPr indent="0" marL="0">
              <a:buNone/>
            </a:pPr>
            <a:r>
              <a:rPr lang="en-US" sz="2000" dirty="0">
                <a:solidFill>
                  <a:srgbClr val="D8FFF0"/>
                </a:solidFill>
                <a:latin typeface="Consolas" pitchFamily="34" charset="0"/>
                <a:ea typeface="Consolas" pitchFamily="34" charset="-122"/>
                <a:cs typeface="Consolas" pitchFamily="34" charset="-120"/>
              </a:rPr>
              <a:t>http://localhost:9000/docs</a:t>
            </a:r>
            <a:pPr indent="0" marL="0">
              <a:buNone/>
            </a:pPr>
            <a:r>
              <a:rPr lang="en-US" sz="2000" dirty="0">
                <a:solidFill>
                  <a:srgbClr val="EEF6F3"/>
                </a:solidFill>
                <a:latin typeface="Segoe UI" pitchFamily="34" charset="0"/>
                <a:ea typeface="Segoe UI" pitchFamily="34" charset="-122"/>
                <a:cs typeface="Segoe UI" pitchFamily="34" charset="-120"/>
              </a:rPr>
              <a:t>: every endpoint, with a "Try it out" button.</a:t>
            </a:r>
            <a:endParaRPr lang="en-US" sz="2000" dirty="0"/>
          </a:p>
          <a:p>
            <a:pPr marL="279400" indent="-279400">
              <a:spcAft>
                <a:spcPts val="500"/>
              </a:spcAft>
              <a:buSzPct val="100000"/>
              <a:buFont typeface="+mj-lt"/>
              <a:buAutoNum type="arabicPeriod" startAt="1"/>
            </a:pPr>
            <a:r>
              <a:rPr lang="en-US" sz="2000" dirty="0">
                <a:solidFill>
                  <a:srgbClr val="D8FFF0"/>
                </a:solidFill>
                <a:latin typeface="Consolas" pitchFamily="34" charset="0"/>
                <a:ea typeface="Consolas" pitchFamily="34" charset="-122"/>
                <a:cs typeface="Consolas" pitchFamily="34" charset="-120"/>
              </a:rPr>
              <a:t>hello_api.py</a:t>
            </a:r>
            <a:pPr indent="0" marL="0">
              <a:buNone/>
            </a:pPr>
            <a:r>
              <a:rPr lang="en-US" sz="2000" dirty="0">
                <a:solidFill>
                  <a:srgbClr val="EEF6F3"/>
                </a:solidFill>
                <a:latin typeface="Segoe UI" pitchFamily="34" charset="0"/>
                <a:ea typeface="Segoe UI" pitchFamily="34" charset="-122"/>
                <a:cs typeface="Segoe UI" pitchFamily="34" charset="-120"/>
              </a:rPr>
              <a:t> sends five requests: an order, a missing order (404), a refund, the same refund again, and a forced failure (500).</a:t>
            </a:r>
            <a:endParaRPr lang="en-US" sz="2000" dirty="0"/>
          </a:p>
        </p:txBody>
      </p:sp>
      <p:sp>
        <p:nvSpPr>
          <p:cNvPr id="11" name="Text 9"/>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2" name="Text 10"/>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11 / 32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02</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Same key, same refund</a:t>
            </a:r>
            <a:endParaRPr lang="en-US" sz="3000" dirty="0"/>
          </a:p>
        </p:txBody>
      </p:sp>
      <p:sp>
        <p:nvSpPr>
          <p:cNvPr id="6" name="Shape 4"/>
          <p:cNvSpPr/>
          <p:nvPr/>
        </p:nvSpPr>
        <p:spPr>
          <a:xfrm>
            <a:off x="777240" y="1577340"/>
            <a:ext cx="10637215" cy="1948815"/>
          </a:xfrm>
          <a:prstGeom prst="roundRect">
            <a:avLst>
              <a:gd name="adj" fmla="val 5630"/>
            </a:avLst>
          </a:prstGeom>
          <a:solidFill>
            <a:srgbClr val="13272B"/>
          </a:solidFill>
          <a:ln w="9525">
            <a:solidFill>
              <a:srgbClr val="24413F"/>
            </a:solidFill>
            <a:prstDash val="solid"/>
          </a:ln>
        </p:spPr>
      </p:sp>
      <p:sp>
        <p:nvSpPr>
          <p:cNvPr id="7" name="Text 5"/>
          <p:cNvSpPr/>
          <p:nvPr/>
        </p:nvSpPr>
        <p:spPr>
          <a:xfrm>
            <a:off x="960120" y="1687068"/>
            <a:ext cx="10271455" cy="1765935"/>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3. Issue a refund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POST http://localhost:9000/refunds        Idempotency-Key: prep-kit-1f2a9c3e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-&gt; status 200 OK      {"refund_id": "R-26762c6f", "amount_usd": 79.99}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4. Retry with the SAME key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POST http://localhost:9000/refunds        Idempotency-Key: prep-kit-1f2a9c3e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-&gt; status 200 OK      {"refund_id": "R-26762c6f", "amount_usd": 79.99}</a:t>
            </a:r>
            <a:endParaRPr lang="en-US" sz="1350" dirty="0"/>
          </a:p>
        </p:txBody>
      </p:sp>
      <p:sp>
        <p:nvSpPr>
          <p:cNvPr id="8" name="Shape 6"/>
          <p:cNvSpPr/>
          <p:nvPr/>
        </p:nvSpPr>
        <p:spPr>
          <a:xfrm>
            <a:off x="777240" y="3654171"/>
            <a:ext cx="10637215" cy="868375"/>
          </a:xfrm>
          <a:prstGeom prst="roundRect">
            <a:avLst>
              <a:gd name="adj" fmla="val 10530"/>
            </a:avLst>
          </a:prstGeom>
          <a:solidFill>
            <a:srgbClr val="251F3D"/>
          </a:solidFill>
          <a:ln w="12700">
            <a:solidFill>
              <a:srgbClr val="251F3D"/>
            </a:solidFill>
            <a:prstDash val="solid"/>
          </a:ln>
        </p:spPr>
      </p:sp>
      <p:sp>
        <p:nvSpPr>
          <p:cNvPr id="9" name="Shape 7"/>
          <p:cNvSpPr/>
          <p:nvPr/>
        </p:nvSpPr>
        <p:spPr>
          <a:xfrm>
            <a:off x="777240" y="3654171"/>
            <a:ext cx="82296" cy="868375"/>
          </a:xfrm>
          <a:prstGeom prst="rect">
            <a:avLst/>
          </a:prstGeom>
          <a:solidFill>
            <a:srgbClr val="B99CFF"/>
          </a:solidFill>
          <a:ln w="12700">
            <a:solidFill>
              <a:srgbClr val="B99CFF"/>
            </a:solidFill>
            <a:prstDash val="solid"/>
          </a:ln>
        </p:spPr>
      </p:sp>
      <p:sp>
        <p:nvSpPr>
          <p:cNvPr id="10" name="Text 8"/>
          <p:cNvSpPr/>
          <p:nvPr/>
        </p:nvSpPr>
        <p:spPr>
          <a:xfrm>
            <a:off x="1051560" y="3763899"/>
            <a:ext cx="10225735" cy="237744"/>
          </a:xfrm>
          <a:prstGeom prst="rect">
            <a:avLst/>
          </a:prstGeom>
          <a:noFill/>
          <a:ln/>
        </p:spPr>
        <p:txBody>
          <a:bodyPr wrap="square" lIns="0" tIns="0" rIns="0" bIns="0" rtlCol="0" anchor="t"/>
          <a:lstStyle/>
          <a:p>
            <a:pPr indent="0" marL="0">
              <a:buNone/>
            </a:pPr>
            <a:r>
              <a:rPr lang="en-US" sz="1050" b="1" spc="300" kern="0" dirty="0">
                <a:solidFill>
                  <a:srgbClr val="B99CFF"/>
                </a:solidFill>
                <a:latin typeface="Segoe UI" pitchFamily="34" charset="0"/>
                <a:ea typeface="Segoe UI" pitchFamily="34" charset="-122"/>
                <a:cs typeface="Segoe UI" pitchFamily="34" charset="-120"/>
              </a:rPr>
              <a:t>THINK OF IT LIKE</a:t>
            </a:r>
            <a:endParaRPr lang="en-US" sz="1050" dirty="0"/>
          </a:p>
        </p:txBody>
      </p:sp>
      <p:sp>
        <p:nvSpPr>
          <p:cNvPr id="11" name="Text 9"/>
          <p:cNvSpPr/>
          <p:nvPr/>
        </p:nvSpPr>
        <p:spPr>
          <a:xfrm>
            <a:off x="1051560" y="4001643"/>
            <a:ext cx="10225735" cy="356311"/>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A receipt number on a bank transfer: hand the clerk the same slip twice and you pay once.</a:t>
            </a:r>
            <a:endParaRPr lang="en-US" sz="1720" dirty="0"/>
          </a:p>
        </p:txBody>
      </p:sp>
      <p:sp>
        <p:nvSpPr>
          <p:cNvPr id="12" name="Text 10"/>
          <p:cNvSpPr/>
          <p:nvPr/>
        </p:nvSpPr>
        <p:spPr>
          <a:xfrm>
            <a:off x="777240" y="4650562"/>
            <a:ext cx="10637215" cy="650748"/>
          </a:xfrm>
          <a:prstGeom prst="rect">
            <a:avLst/>
          </a:prstGeom>
          <a:noFill/>
          <a:ln/>
        </p:spPr>
        <p:txBody>
          <a:bodyPr wrap="square" lIns="0" tIns="0" rIns="0" bIns="0" rtlCol="0" anchor="t"/>
          <a:lstStyle/>
          <a:p>
            <a:pPr algn="l" indent="0" marL="0">
              <a:buNone/>
            </a:pPr>
            <a:r>
              <a:rPr lang="en-US" sz="1700" dirty="0">
                <a:solidFill>
                  <a:srgbClr val="EEF6F3"/>
                </a:solidFill>
                <a:latin typeface="Segoe UI" pitchFamily="34" charset="0"/>
                <a:ea typeface="Segoe UI" pitchFamily="34" charset="-122"/>
                <a:cs typeface="Segoe UI" pitchFamily="34" charset="-120"/>
              </a:rPr>
              <a:t>The caller picks one key for "this refund". A retry after a timeout reuses it, so the customer is refunded </a:t>
            </a:r>
            <a:pPr algn="l" indent="0" marL="0">
              <a:buNone/>
            </a:pPr>
            <a:r>
              <a:rPr lang="en-US" sz="1700" b="1" dirty="0">
                <a:solidFill>
                  <a:srgbClr val="FFFFFF"/>
                </a:solidFill>
                <a:latin typeface="Segoe UI" pitchFamily="34" charset="0"/>
                <a:ea typeface="Segoe UI" pitchFamily="34" charset="-122"/>
                <a:cs typeface="Segoe UI" pitchFamily="34" charset="-120"/>
              </a:rPr>
              <a:t>once</a:t>
            </a:r>
            <a:pPr algn="l" indent="0" marL="0">
              <a:buNone/>
            </a:pPr>
            <a:r>
              <a:rPr lang="en-US" sz="1700" dirty="0">
                <a:solidFill>
                  <a:srgbClr val="EEF6F3"/>
                </a:solidFill>
                <a:latin typeface="Segoe UI" pitchFamily="34" charset="0"/>
                <a:ea typeface="Segoe UI" pitchFamily="34" charset="-122"/>
                <a:cs typeface="Segoe UI" pitchFamily="34" charset="-120"/>
              </a:rPr>
              <a:t>. That's called </a:t>
            </a:r>
            <a:pPr algn="l" indent="0" marL="0">
              <a:buNone/>
            </a:pPr>
            <a:r>
              <a:rPr lang="en-US" sz="1700" b="1" dirty="0">
                <a:solidFill>
                  <a:srgbClr val="FFFFFF"/>
                </a:solidFill>
                <a:latin typeface="Segoe UI" pitchFamily="34" charset="0"/>
                <a:ea typeface="Segoe UI" pitchFamily="34" charset="-122"/>
                <a:cs typeface="Segoe UI" pitchFamily="34" charset="-120"/>
              </a:rPr>
              <a:t>idempotency</a:t>
            </a:r>
            <a:pPr algn="l" indent="0" marL="0">
              <a:buNone/>
            </a:pPr>
            <a:r>
              <a:rPr lang="en-US" sz="1700" dirty="0">
                <a:solidFill>
                  <a:srgbClr val="EEF6F3"/>
                </a:solidFill>
                <a:latin typeface="Segoe UI" pitchFamily="34" charset="0"/>
                <a:ea typeface="Segoe UI" pitchFamily="34" charset="-122"/>
                <a:cs typeface="Segoe UI" pitchFamily="34" charset="-120"/>
              </a:rPr>
              <a:t>.</a:t>
            </a:r>
            <a:endParaRPr lang="en-US" sz="1700" dirty="0"/>
          </a:p>
        </p:txBody>
      </p:sp>
      <p:sp>
        <p:nvSpPr>
          <p:cNvPr id="13" name="Text 11"/>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4" name="Text 12"/>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12 / 32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Shape 2"/>
          <p:cNvSpPr/>
          <p:nvPr/>
        </p:nvSpPr>
        <p:spPr>
          <a:xfrm>
            <a:off x="0" y="0"/>
            <a:ext cx="118872" cy="6858000"/>
          </a:xfrm>
          <a:prstGeom prst="rect">
            <a:avLst/>
          </a:prstGeom>
          <a:solidFill>
            <a:srgbClr val="5AA2FF"/>
          </a:solidFill>
          <a:ln w="12700">
            <a:solidFill>
              <a:srgbClr val="5AA2FF"/>
            </a:solidFill>
            <a:prstDash val="solid"/>
          </a:ln>
        </p:spPr>
      </p:sp>
      <p:sp>
        <p:nvSpPr>
          <p:cNvPr id="5" name="Text 3"/>
          <p:cNvSpPr/>
          <p:nvPr/>
        </p:nvSpPr>
        <p:spPr>
          <a:xfrm>
            <a:off x="9585655" y="411480"/>
            <a:ext cx="1828800" cy="329184"/>
          </a:xfrm>
          <a:prstGeom prst="roundRect">
            <a:avLst>
              <a:gd name="adj" fmla="val 22222"/>
            </a:avLst>
          </a:prstGeom>
          <a:solidFill>
            <a:srgbClr val="5AA2FF"/>
          </a:solidFill>
          <a:ln/>
        </p:spPr>
        <p:txBody>
          <a:bodyPr wrap="square" lIns="0" tIns="0" rIns="0" bIns="0" rtlCol="0" anchor="ctr"/>
          <a:lstStyle/>
          <a:p>
            <a:pPr algn="ctr" indent="0" marL="0">
              <a:buNone/>
            </a:pPr>
            <a:r>
              <a:rPr lang="en-US" sz="1200" b="1" spc="400" kern="0" dirty="0">
                <a:solidFill>
                  <a:srgbClr val="0C1A1D"/>
                </a:solidFill>
                <a:latin typeface="Segoe UI" pitchFamily="34" charset="0"/>
                <a:ea typeface="Segoe UI" pitchFamily="34" charset="-122"/>
                <a:cs typeface="Segoe UI" pitchFamily="34" charset="-120"/>
              </a:rPr>
              <a:t>QUICK CHECK</a:t>
            </a:r>
            <a:endParaRPr lang="en-US" sz="1200" dirty="0"/>
          </a:p>
        </p:txBody>
      </p:sp>
      <p:sp>
        <p:nvSpPr>
          <p:cNvPr id="6" name="Text 4"/>
          <p:cNvSpPr/>
          <p:nvPr/>
        </p:nvSpPr>
        <p:spPr>
          <a:xfrm>
            <a:off x="777240" y="457200"/>
            <a:ext cx="1819656" cy="274320"/>
          </a:xfrm>
          <a:prstGeom prst="roundRect">
            <a:avLst>
              <a:gd name="adj" fmla="val 50000"/>
            </a:avLst>
          </a:prstGeom>
          <a:solidFill>
            <a:srgbClr val="5AA2FF"/>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QUICK CHECK</a:t>
            </a:r>
            <a:endParaRPr lang="en-US" sz="1100" dirty="0"/>
          </a:p>
        </p:txBody>
      </p:sp>
      <p:sp>
        <p:nvSpPr>
          <p:cNvPr id="7" name="Text 5"/>
          <p:cNvSpPr/>
          <p:nvPr/>
        </p:nvSpPr>
        <p:spPr>
          <a:xfrm>
            <a:off x="777240" y="841248"/>
            <a:ext cx="862553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APIs</a:t>
            </a:r>
            <a:endParaRPr lang="en-US" sz="3000" dirty="0"/>
          </a:p>
        </p:txBody>
      </p:sp>
      <p:sp>
        <p:nvSpPr>
          <p:cNvPr id="8" name="Text 6"/>
          <p:cNvSpPr/>
          <p:nvPr/>
        </p:nvSpPr>
        <p:spPr>
          <a:xfrm>
            <a:off x="777240" y="1577340"/>
            <a:ext cx="10637215" cy="1639824"/>
          </a:xfrm>
          <a:prstGeom prst="rect">
            <a:avLst/>
          </a:prstGeom>
          <a:noFill/>
          <a:ln/>
        </p:spPr>
        <p:txBody>
          <a:bodyPr wrap="square" lIns="0" tIns="0" rIns="0" bIns="0" rtlCol="0" anchor="t"/>
          <a:lstStyle/>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You ask for order O-00000 and get a </a:t>
            </a:r>
            <a:pPr indent="0" marL="0">
              <a:buNone/>
            </a:pPr>
            <a:r>
              <a:rPr lang="en-US" sz="2000" b="1" dirty="0">
                <a:solidFill>
                  <a:srgbClr val="FFFFFF"/>
                </a:solidFill>
                <a:latin typeface="Segoe UI" pitchFamily="34" charset="0"/>
                <a:ea typeface="Segoe UI" pitchFamily="34" charset="-122"/>
                <a:cs typeface="Segoe UI" pitchFamily="34" charset="-120"/>
              </a:rPr>
              <a:t>404</a:t>
            </a:r>
            <a:pPr indent="0" marL="0">
              <a:buNone/>
            </a:pPr>
            <a:r>
              <a:rPr lang="en-US" sz="2000" dirty="0">
                <a:solidFill>
                  <a:srgbClr val="EEF6F3"/>
                </a:solidFill>
                <a:latin typeface="Segoe UI" pitchFamily="34" charset="0"/>
                <a:ea typeface="Segoe UI" pitchFamily="34" charset="-122"/>
                <a:cs typeface="Segoe UI" pitchFamily="34" charset="-120"/>
              </a:rPr>
              <a:t>. Is the API broken?</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A refund request times out. Why is it safe to retry with the same </a:t>
            </a:r>
            <a:pPr indent="0" marL="0">
              <a:buNone/>
            </a:pPr>
            <a:r>
              <a:rPr lang="en-US" sz="2000" dirty="0">
                <a:solidFill>
                  <a:srgbClr val="D8FFF0"/>
                </a:solidFill>
                <a:latin typeface="Consolas" pitchFamily="34" charset="0"/>
                <a:ea typeface="Consolas" pitchFamily="34" charset="-122"/>
                <a:cs typeface="Consolas" pitchFamily="34" charset="-120"/>
              </a:rPr>
              <a:t>Idempotency-Key</a:t>
            </a:r>
            <a:pPr indent="0" marL="0">
              <a:buNone/>
            </a:pPr>
            <a:r>
              <a:rPr lang="en-US" sz="2000" dirty="0">
                <a:solidFill>
                  <a:srgbClr val="EEF6F3"/>
                </a:solidFill>
                <a:latin typeface="Segoe UI" pitchFamily="34" charset="0"/>
                <a:ea typeface="Segoe UI" pitchFamily="34" charset="-122"/>
                <a:cs typeface="Segoe UI" pitchFamily="34" charset="-120"/>
              </a:rPr>
              <a:t>?</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Your script prints </a:t>
            </a:r>
            <a:pPr indent="0" marL="0">
              <a:buNone/>
            </a:pPr>
            <a:r>
              <a:rPr lang="en-US" sz="2000" dirty="0">
                <a:solidFill>
                  <a:srgbClr val="D8FFF0"/>
                </a:solidFill>
                <a:latin typeface="Consolas" pitchFamily="34" charset="0"/>
                <a:ea typeface="Consolas" pitchFamily="34" charset="-122"/>
                <a:cs typeface="Consolas" pitchFamily="34" charset="-120"/>
              </a:rPr>
              <a:t>Virtual env : NO</a:t>
            </a:r>
            <a:pPr indent="0" marL="0">
              <a:buNone/>
            </a:pPr>
            <a:r>
              <a:rPr lang="en-US" sz="2000" dirty="0">
                <a:solidFill>
                  <a:srgbClr val="EEF6F3"/>
                </a:solidFill>
                <a:latin typeface="Segoe UI" pitchFamily="34" charset="0"/>
                <a:ea typeface="Segoe UI" pitchFamily="34" charset="-122"/>
                <a:cs typeface="Segoe UI" pitchFamily="34" charset="-120"/>
              </a:rPr>
              <a:t>. What did you forget?</a:t>
            </a:r>
            <a:endParaRPr lang="en-US" sz="2000" dirty="0"/>
          </a:p>
        </p:txBody>
      </p:sp>
      <p:sp>
        <p:nvSpPr>
          <p:cNvPr id="9" name="Text 7"/>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0" name="Text 8"/>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13 / 32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03</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Keys never go in your code</a:t>
            </a:r>
            <a:endParaRPr lang="en-US" sz="3000" dirty="0"/>
          </a:p>
        </p:txBody>
      </p:sp>
      <p:sp>
        <p:nvSpPr>
          <p:cNvPr id="6" name="Text 4"/>
          <p:cNvSpPr/>
          <p:nvPr/>
        </p:nvSpPr>
        <p:spPr>
          <a:xfrm>
            <a:off x="777240" y="1577340"/>
            <a:ext cx="5135728" cy="422910"/>
          </a:xfrm>
          <a:prstGeom prst="rect">
            <a:avLst/>
          </a:prstGeom>
          <a:noFill/>
          <a:ln/>
        </p:spPr>
        <p:txBody>
          <a:bodyPr wrap="square" lIns="0" tIns="0" rIns="0" bIns="0" rtlCol="0" anchor="t"/>
          <a:lstStyle/>
          <a:p>
            <a:pPr algn="l" indent="0" marL="0">
              <a:buNone/>
            </a:pPr>
            <a:r>
              <a:rPr lang="en-US" sz="2100" dirty="0">
                <a:solidFill>
                  <a:srgbClr val="01D294"/>
                </a:solidFill>
                <a:latin typeface="Segoe UI" pitchFamily="34" charset="0"/>
                <a:ea typeface="Segoe UI" pitchFamily="34" charset="-122"/>
                <a:cs typeface="Segoe UI" pitchFamily="34" charset="-120"/>
              </a:rPr>
              <a:t>The </a:t>
            </a:r>
            <a:pPr algn="l" indent="0" marL="0">
              <a:buNone/>
            </a:pPr>
            <a:r>
              <a:rPr lang="en-US" sz="1850" dirty="0">
                <a:solidFill>
                  <a:srgbClr val="D8FFF0"/>
                </a:solidFill>
                <a:latin typeface="Consolas" pitchFamily="34" charset="0"/>
                <a:ea typeface="Consolas" pitchFamily="34" charset="-122"/>
                <a:cs typeface="Consolas" pitchFamily="34" charset="-120"/>
              </a:rPr>
              <a:t>.env</a:t>
            </a:r>
            <a:pPr algn="l" indent="0" marL="0">
              <a:buNone/>
            </a:pPr>
            <a:r>
              <a:rPr lang="en-US" sz="2100" dirty="0">
                <a:solidFill>
                  <a:srgbClr val="01D294"/>
                </a:solidFill>
                <a:latin typeface="Segoe UI" pitchFamily="34" charset="0"/>
                <a:ea typeface="Segoe UI" pitchFamily="34" charset="-122"/>
                <a:cs typeface="Segoe UI" pitchFamily="34" charset="-120"/>
              </a:rPr>
              <a:t> file</a:t>
            </a:r>
            <a:endParaRPr lang="en-US" sz="2100" dirty="0"/>
          </a:p>
        </p:txBody>
      </p:sp>
      <p:sp>
        <p:nvSpPr>
          <p:cNvPr id="7" name="Shape 5"/>
          <p:cNvSpPr/>
          <p:nvPr/>
        </p:nvSpPr>
        <p:spPr>
          <a:xfrm>
            <a:off x="777240" y="2091690"/>
            <a:ext cx="5135728" cy="765810"/>
          </a:xfrm>
          <a:prstGeom prst="roundRect">
            <a:avLst>
              <a:gd name="adj" fmla="val 14328"/>
            </a:avLst>
          </a:prstGeom>
          <a:solidFill>
            <a:srgbClr val="13272B"/>
          </a:solidFill>
          <a:ln w="9525">
            <a:solidFill>
              <a:srgbClr val="24413F"/>
            </a:solidFill>
            <a:prstDash val="solid"/>
          </a:ln>
        </p:spPr>
      </p:sp>
      <p:sp>
        <p:nvSpPr>
          <p:cNvPr id="8" name="Text 6"/>
          <p:cNvSpPr/>
          <p:nvPr/>
        </p:nvSpPr>
        <p:spPr>
          <a:xfrm>
            <a:off x="960120" y="2201418"/>
            <a:ext cx="4769968" cy="582930"/>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GEMINI_API_KEY=AIza...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GEMINI_MODEL=gemini-3.5-flash-lite</a:t>
            </a:r>
            <a:endParaRPr lang="en-US" sz="1350" dirty="0"/>
          </a:p>
        </p:txBody>
      </p:sp>
      <p:sp>
        <p:nvSpPr>
          <p:cNvPr id="9" name="Text 7"/>
          <p:cNvSpPr/>
          <p:nvPr/>
        </p:nvSpPr>
        <p:spPr>
          <a:xfrm>
            <a:off x="777240" y="2948940"/>
            <a:ext cx="5135728" cy="650748"/>
          </a:xfrm>
          <a:prstGeom prst="rect">
            <a:avLst/>
          </a:prstGeom>
          <a:noFill/>
          <a:ln/>
        </p:spPr>
        <p:txBody>
          <a:bodyPr wrap="square" lIns="0" tIns="0" rIns="0" bIns="0" rtlCol="0" anchor="t"/>
          <a:lstStyle/>
          <a:p>
            <a:pPr algn="l" indent="0" marL="0">
              <a:buNone/>
            </a:pPr>
            <a:r>
              <a:rPr lang="en-US" sz="1500" dirty="0">
                <a:solidFill>
                  <a:srgbClr val="D8FFF0"/>
                </a:solidFill>
                <a:latin typeface="Consolas" pitchFamily="34" charset="0"/>
                <a:ea typeface="Consolas" pitchFamily="34" charset="-122"/>
                <a:cs typeface="Consolas" pitchFamily="34" charset="-120"/>
              </a:rPr>
              <a:t>python-dotenv</a:t>
            </a:r>
            <a:pPr algn="l" indent="0" marL="0">
              <a:buNone/>
            </a:pPr>
            <a:r>
              <a:rPr lang="en-US" sz="1700" dirty="0">
                <a:solidFill>
                  <a:srgbClr val="EEF6F3"/>
                </a:solidFill>
                <a:latin typeface="Segoe UI" pitchFamily="34" charset="0"/>
                <a:ea typeface="Segoe UI" pitchFamily="34" charset="-122"/>
                <a:cs typeface="Segoe UI" pitchFamily="34" charset="-120"/>
              </a:rPr>
              <a:t> reads it at startup and Python sees each line as an environment variable.</a:t>
            </a:r>
            <a:endParaRPr lang="en-US" sz="1700" dirty="0"/>
          </a:p>
        </p:txBody>
      </p:sp>
      <p:sp>
        <p:nvSpPr>
          <p:cNvPr id="10" name="Text 8"/>
          <p:cNvSpPr/>
          <p:nvPr/>
        </p:nvSpPr>
        <p:spPr>
          <a:xfrm>
            <a:off x="6278728" y="1577340"/>
            <a:ext cx="5135728" cy="422910"/>
          </a:xfrm>
          <a:prstGeom prst="rect">
            <a:avLst/>
          </a:prstGeom>
          <a:noFill/>
          <a:ln/>
        </p:spPr>
        <p:txBody>
          <a:bodyPr wrap="square" lIns="0" tIns="0" rIns="0" bIns="0" rtlCol="0" anchor="t"/>
          <a:lstStyle/>
          <a:p>
            <a:pPr algn="l" indent="0" marL="0">
              <a:buNone/>
            </a:pPr>
            <a:r>
              <a:rPr lang="en-US" sz="2100" dirty="0">
                <a:solidFill>
                  <a:srgbClr val="01D294"/>
                </a:solidFill>
                <a:latin typeface="Segoe UI" pitchFamily="34" charset="0"/>
                <a:ea typeface="Segoe UI" pitchFamily="34" charset="-122"/>
                <a:cs typeface="Segoe UI" pitchFamily="34" charset="-120"/>
              </a:rPr>
              <a:t>The </a:t>
            </a:r>
            <a:pPr algn="l" indent="0" marL="0">
              <a:buNone/>
            </a:pPr>
            <a:r>
              <a:rPr lang="en-US" sz="1850" dirty="0">
                <a:solidFill>
                  <a:srgbClr val="D8FFF0"/>
                </a:solidFill>
                <a:latin typeface="Consolas" pitchFamily="34" charset="0"/>
                <a:ea typeface="Consolas" pitchFamily="34" charset="-122"/>
                <a:cs typeface="Consolas" pitchFamily="34" charset="-120"/>
              </a:rPr>
              <a:t>.gitignore</a:t>
            </a:r>
            <a:pPr algn="l" indent="0" marL="0">
              <a:buNone/>
            </a:pPr>
            <a:r>
              <a:rPr lang="en-US" sz="2100" dirty="0">
                <a:solidFill>
                  <a:srgbClr val="01D294"/>
                </a:solidFill>
                <a:latin typeface="Segoe UI" pitchFamily="34" charset="0"/>
                <a:ea typeface="Segoe UI" pitchFamily="34" charset="-122"/>
                <a:cs typeface="Segoe UI" pitchFamily="34" charset="-120"/>
              </a:rPr>
              <a:t> file</a:t>
            </a:r>
            <a:endParaRPr lang="en-US" sz="2100" dirty="0"/>
          </a:p>
        </p:txBody>
      </p:sp>
      <p:sp>
        <p:nvSpPr>
          <p:cNvPr id="11" name="Shape 9"/>
          <p:cNvSpPr/>
          <p:nvPr/>
        </p:nvSpPr>
        <p:spPr>
          <a:xfrm>
            <a:off x="6278728" y="2091690"/>
            <a:ext cx="5135728" cy="765810"/>
          </a:xfrm>
          <a:prstGeom prst="roundRect">
            <a:avLst>
              <a:gd name="adj" fmla="val 14328"/>
            </a:avLst>
          </a:prstGeom>
          <a:solidFill>
            <a:srgbClr val="13272B"/>
          </a:solidFill>
          <a:ln w="9525">
            <a:solidFill>
              <a:srgbClr val="24413F"/>
            </a:solidFill>
            <a:prstDash val="solid"/>
          </a:ln>
        </p:spPr>
      </p:sp>
      <p:sp>
        <p:nvSpPr>
          <p:cNvPr id="12" name="Text 10"/>
          <p:cNvSpPr/>
          <p:nvPr/>
        </p:nvSpPr>
        <p:spPr>
          <a:xfrm>
            <a:off x="6461608" y="2201418"/>
            <a:ext cx="4769968" cy="582930"/>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Secrets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.env</a:t>
            </a:r>
            <a:endParaRPr lang="en-US" sz="1350" dirty="0"/>
          </a:p>
        </p:txBody>
      </p:sp>
      <p:sp>
        <p:nvSpPr>
          <p:cNvPr id="13" name="Text 11"/>
          <p:cNvSpPr/>
          <p:nvPr/>
        </p:nvSpPr>
        <p:spPr>
          <a:xfrm>
            <a:off x="6278728" y="2948940"/>
            <a:ext cx="5135728" cy="948690"/>
          </a:xfrm>
          <a:prstGeom prst="rect">
            <a:avLst/>
          </a:prstGeom>
          <a:noFill/>
          <a:ln/>
        </p:spPr>
        <p:txBody>
          <a:bodyPr wrap="square" lIns="0" tIns="0" rIns="0" bIns="0" rtlCol="0" anchor="t"/>
          <a:lstStyle/>
          <a:p>
            <a:pPr algn="l" indent="0" marL="0">
              <a:buNone/>
            </a:pPr>
            <a:r>
              <a:rPr lang="en-US" sz="1700" dirty="0">
                <a:solidFill>
                  <a:srgbClr val="EEF6F3"/>
                </a:solidFill>
                <a:latin typeface="Segoe UI" pitchFamily="34" charset="0"/>
                <a:ea typeface="Segoe UI" pitchFamily="34" charset="-122"/>
                <a:cs typeface="Segoe UI" pitchFamily="34" charset="-120"/>
              </a:rPr>
              <a:t>Git never sees </a:t>
            </a:r>
            <a:pPr algn="l" indent="0" marL="0">
              <a:buNone/>
            </a:pPr>
            <a:r>
              <a:rPr lang="en-US" sz="1500" dirty="0">
                <a:solidFill>
                  <a:srgbClr val="D8FFF0"/>
                </a:solidFill>
                <a:latin typeface="Consolas" pitchFamily="34" charset="0"/>
                <a:ea typeface="Consolas" pitchFamily="34" charset="-122"/>
                <a:cs typeface="Consolas" pitchFamily="34" charset="-120"/>
              </a:rPr>
              <a:t>.env</a:t>
            </a:r>
            <a:pPr algn="l" indent="0" marL="0">
              <a:buNone/>
            </a:pPr>
            <a:r>
              <a:rPr lang="en-US" sz="1700" dirty="0">
                <a:solidFill>
                  <a:srgbClr val="EEF6F3"/>
                </a:solidFill>
                <a:latin typeface="Segoe UI" pitchFamily="34" charset="0"/>
                <a:ea typeface="Segoe UI" pitchFamily="34" charset="-122"/>
                <a:cs typeface="Segoe UI" pitchFamily="34" charset="-120"/>
              </a:rPr>
              <a:t>, so you can't commit it by accident. The repo ships </a:t>
            </a:r>
            <a:pPr algn="l" indent="0" marL="0">
              <a:buNone/>
            </a:pPr>
            <a:r>
              <a:rPr lang="en-US" sz="1500" dirty="0">
                <a:solidFill>
                  <a:srgbClr val="D8FFF0"/>
                </a:solidFill>
                <a:latin typeface="Consolas" pitchFamily="34" charset="0"/>
                <a:ea typeface="Consolas" pitchFamily="34" charset="-122"/>
                <a:cs typeface="Consolas" pitchFamily="34" charset="-120"/>
              </a:rPr>
              <a:t>.env.example</a:t>
            </a:r>
            <a:pPr algn="l" indent="0" marL="0">
              <a:buNone/>
            </a:pPr>
            <a:r>
              <a:rPr lang="en-US" sz="1700" dirty="0">
                <a:solidFill>
                  <a:srgbClr val="EEF6F3"/>
                </a:solidFill>
                <a:latin typeface="Segoe UI" pitchFamily="34" charset="0"/>
                <a:ea typeface="Segoe UI" pitchFamily="34" charset="-122"/>
                <a:cs typeface="Segoe UI" pitchFamily="34" charset="-120"/>
              </a:rPr>
              <a:t> with the values empty.</a:t>
            </a:r>
            <a:endParaRPr lang="en-US" sz="1700" dirty="0"/>
          </a:p>
        </p:txBody>
      </p:sp>
      <p:sp>
        <p:nvSpPr>
          <p:cNvPr id="14" name="Shape 12"/>
          <p:cNvSpPr/>
          <p:nvPr/>
        </p:nvSpPr>
        <p:spPr>
          <a:xfrm>
            <a:off x="777240" y="4117086"/>
            <a:ext cx="10637215" cy="1169822"/>
          </a:xfrm>
          <a:prstGeom prst="roundRect">
            <a:avLst>
              <a:gd name="adj" fmla="val 7817"/>
            </a:avLst>
          </a:prstGeom>
          <a:solidFill>
            <a:srgbClr val="3A1C1F"/>
          </a:solidFill>
          <a:ln w="12700">
            <a:solidFill>
              <a:srgbClr val="3A1C1F"/>
            </a:solidFill>
            <a:prstDash val="solid"/>
          </a:ln>
        </p:spPr>
      </p:sp>
      <p:sp>
        <p:nvSpPr>
          <p:cNvPr id="15" name="Shape 13"/>
          <p:cNvSpPr/>
          <p:nvPr/>
        </p:nvSpPr>
        <p:spPr>
          <a:xfrm>
            <a:off x="777240" y="4117086"/>
            <a:ext cx="82296" cy="1169822"/>
          </a:xfrm>
          <a:prstGeom prst="rect">
            <a:avLst/>
          </a:prstGeom>
          <a:solidFill>
            <a:srgbClr val="FF7A7A"/>
          </a:solidFill>
          <a:ln w="12700">
            <a:solidFill>
              <a:srgbClr val="FF7A7A"/>
            </a:solidFill>
            <a:prstDash val="solid"/>
          </a:ln>
        </p:spPr>
      </p:sp>
      <p:sp>
        <p:nvSpPr>
          <p:cNvPr id="16" name="Text 14"/>
          <p:cNvSpPr/>
          <p:nvPr/>
        </p:nvSpPr>
        <p:spPr>
          <a:xfrm>
            <a:off x="1051560" y="4226814"/>
            <a:ext cx="10225735" cy="237744"/>
          </a:xfrm>
          <a:prstGeom prst="rect">
            <a:avLst/>
          </a:prstGeom>
          <a:noFill/>
          <a:ln/>
        </p:spPr>
        <p:txBody>
          <a:bodyPr wrap="square" lIns="0" tIns="0" rIns="0" bIns="0" rtlCol="0" anchor="t"/>
          <a:lstStyle/>
          <a:p>
            <a:pPr indent="0" marL="0">
              <a:buNone/>
            </a:pPr>
            <a:r>
              <a:rPr lang="en-US" sz="1050" b="1" spc="300" kern="0" dirty="0">
                <a:solidFill>
                  <a:srgbClr val="FF7A7A"/>
                </a:solidFill>
                <a:latin typeface="Segoe UI" pitchFamily="34" charset="0"/>
                <a:ea typeface="Segoe UI" pitchFamily="34" charset="-122"/>
                <a:cs typeface="Segoe UI" pitchFamily="34" charset="-120"/>
              </a:rPr>
              <a:t>WATCH OUT</a:t>
            </a:r>
            <a:endParaRPr lang="en-US" sz="1050" dirty="0"/>
          </a:p>
        </p:txBody>
      </p:sp>
      <p:sp>
        <p:nvSpPr>
          <p:cNvPr id="17" name="Text 15"/>
          <p:cNvSpPr/>
          <p:nvPr/>
        </p:nvSpPr>
        <p:spPr>
          <a:xfrm>
            <a:off x="1051560" y="4464558"/>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Bots scan public GitHub for leaked keys within minutes. A key in your code is a key on the internet.</a:t>
            </a:r>
            <a:endParaRPr lang="en-US" sz="1720" dirty="0"/>
          </a:p>
        </p:txBody>
      </p:sp>
      <p:sp>
        <p:nvSpPr>
          <p:cNvPr id="18" name="Text 16"/>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9" name="Text 17"/>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14 / 32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03</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Four habits that save you money</a:t>
            </a:r>
            <a:endParaRPr lang="en-US" sz="3000" dirty="0"/>
          </a:p>
        </p:txBody>
      </p:sp>
      <p:sp>
        <p:nvSpPr>
          <p:cNvPr id="6" name="Text 4"/>
          <p:cNvSpPr/>
          <p:nvPr/>
        </p:nvSpPr>
        <p:spPr>
          <a:xfrm>
            <a:off x="777240" y="1577340"/>
            <a:ext cx="10637215" cy="2404872"/>
          </a:xfrm>
          <a:prstGeom prst="rect">
            <a:avLst/>
          </a:prstGeom>
          <a:noFill/>
          <a:ln/>
        </p:spPr>
        <p:txBody>
          <a:bodyPr wrap="square" lIns="0" tIns="0" rIns="0" bIns="0" rtlCol="0" anchor="t"/>
          <a:lstStyle/>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Never paste a key into code, a chat (AI assistants included), a screenshot or a slide.</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Set a </a:t>
            </a:r>
            <a:pPr indent="0" marL="0">
              <a:buNone/>
            </a:pPr>
            <a:r>
              <a:rPr lang="en-US" sz="2000" b="1" dirty="0">
                <a:solidFill>
                  <a:srgbClr val="FFFFFF"/>
                </a:solidFill>
                <a:latin typeface="Segoe UI" pitchFamily="34" charset="0"/>
                <a:ea typeface="Segoe UI" pitchFamily="34" charset="-122"/>
                <a:cs typeface="Segoe UI" pitchFamily="34" charset="-120"/>
              </a:rPr>
              <a:t>monthly spending limit</a:t>
            </a:r>
            <a:pPr indent="0" marL="0">
              <a:buNone/>
            </a:pPr>
            <a:r>
              <a:rPr lang="en-US" sz="2000" dirty="0">
                <a:solidFill>
                  <a:srgbClr val="EEF6F3"/>
                </a:solidFill>
                <a:latin typeface="Segoe UI" pitchFamily="34" charset="0"/>
                <a:ea typeface="Segoe UI" pitchFamily="34" charset="-122"/>
                <a:cs typeface="Segoe UI" pitchFamily="34" charset="-120"/>
              </a:rPr>
              <a:t> the day you create a paid key.</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Leaked a key? Revoke it in the provider's dashboard and make a new one. It takes a minute.</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One key per project, so you can revoke one without breaking the others.</a:t>
            </a:r>
            <a:endParaRPr lang="en-US" sz="2000" dirty="0"/>
          </a:p>
        </p:txBody>
      </p:sp>
      <p:sp>
        <p:nvSpPr>
          <p:cNvPr id="7" name="Shape 5"/>
          <p:cNvSpPr/>
          <p:nvPr/>
        </p:nvSpPr>
        <p:spPr>
          <a:xfrm>
            <a:off x="777240" y="4110228"/>
            <a:ext cx="10637215" cy="1169822"/>
          </a:xfrm>
          <a:prstGeom prst="roundRect">
            <a:avLst>
              <a:gd name="adj" fmla="val 7817"/>
            </a:avLst>
          </a:prstGeom>
          <a:solidFill>
            <a:srgbClr val="112A45"/>
          </a:solidFill>
          <a:ln w="12700">
            <a:solidFill>
              <a:srgbClr val="112A45"/>
            </a:solidFill>
            <a:prstDash val="solid"/>
          </a:ln>
        </p:spPr>
      </p:sp>
      <p:sp>
        <p:nvSpPr>
          <p:cNvPr id="8" name="Shape 6"/>
          <p:cNvSpPr/>
          <p:nvPr/>
        </p:nvSpPr>
        <p:spPr>
          <a:xfrm>
            <a:off x="777240" y="4110228"/>
            <a:ext cx="82296" cy="1169822"/>
          </a:xfrm>
          <a:prstGeom prst="rect">
            <a:avLst/>
          </a:prstGeom>
          <a:solidFill>
            <a:srgbClr val="5AA2FF"/>
          </a:solidFill>
          <a:ln w="12700">
            <a:solidFill>
              <a:srgbClr val="5AA2FF"/>
            </a:solidFill>
            <a:prstDash val="solid"/>
          </a:ln>
        </p:spPr>
      </p:sp>
      <p:sp>
        <p:nvSpPr>
          <p:cNvPr id="9" name="Text 7"/>
          <p:cNvSpPr/>
          <p:nvPr/>
        </p:nvSpPr>
        <p:spPr>
          <a:xfrm>
            <a:off x="1051560" y="4219956"/>
            <a:ext cx="10225735" cy="237744"/>
          </a:xfrm>
          <a:prstGeom prst="rect">
            <a:avLst/>
          </a:prstGeom>
          <a:noFill/>
          <a:ln/>
        </p:spPr>
        <p:txBody>
          <a:bodyPr wrap="square" lIns="0" tIns="0" rIns="0" bIns="0" rtlCol="0" anchor="t"/>
          <a:lstStyle/>
          <a:p>
            <a:pPr indent="0" marL="0">
              <a:buNone/>
            </a:pPr>
            <a:r>
              <a:rPr lang="en-US" sz="1050" b="1" spc="300" kern="0" dirty="0">
                <a:solidFill>
                  <a:srgbClr val="5AA2FF"/>
                </a:solidFill>
                <a:latin typeface="Segoe UI" pitchFamily="34" charset="0"/>
                <a:ea typeface="Segoe UI" pitchFamily="34" charset="-122"/>
                <a:cs typeface="Segoe UI" pitchFamily="34" charset="-120"/>
              </a:rPr>
              <a:t>GOOD TO KNOW</a:t>
            </a:r>
            <a:endParaRPr lang="en-US" sz="1050" dirty="0"/>
          </a:p>
        </p:txBody>
      </p:sp>
      <p:sp>
        <p:nvSpPr>
          <p:cNvPr id="10" name="Text 8"/>
          <p:cNvSpPr/>
          <p:nvPr/>
        </p:nvSpPr>
        <p:spPr>
          <a:xfrm>
            <a:off x="1051560" y="4457700"/>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Two </a:t>
            </a:r>
            <a:pPr algn="l" indent="0" marL="0">
              <a:buNone/>
            </a:pPr>
            <a:r>
              <a:rPr lang="en-US" sz="1510" dirty="0">
                <a:solidFill>
                  <a:srgbClr val="D8FFF0"/>
                </a:solidFill>
                <a:latin typeface="Consolas" pitchFamily="34" charset="0"/>
                <a:ea typeface="Consolas" pitchFamily="34" charset="-122"/>
                <a:cs typeface="Consolas" pitchFamily="34" charset="-120"/>
              </a:rPr>
              <a:t>.env</a:t>
            </a:r>
            <a:pPr algn="l" indent="0" marL="0">
              <a:buNone/>
            </a:pPr>
            <a:r>
              <a:rPr lang="en-US" sz="1720" dirty="0">
                <a:solidFill>
                  <a:srgbClr val="EEF6F3"/>
                </a:solidFill>
                <a:latin typeface="Segoe UI" pitchFamily="34" charset="0"/>
                <a:ea typeface="Segoe UI" pitchFamily="34" charset="-122"/>
                <a:cs typeface="Segoe UI" pitchFamily="34" charset="-120"/>
              </a:rPr>
              <a:t> files, on purpose: </a:t>
            </a:r>
            <a:pPr algn="l" indent="0" marL="0">
              <a:buNone/>
            </a:pPr>
            <a:r>
              <a:rPr lang="en-US" sz="1510" dirty="0">
                <a:solidFill>
                  <a:srgbClr val="D8FFF0"/>
                </a:solidFill>
                <a:latin typeface="Consolas" pitchFamily="34" charset="0"/>
                <a:ea typeface="Consolas" pitchFamily="34" charset="-122"/>
                <a:cs typeface="Consolas" pitchFamily="34" charset="-120"/>
              </a:rPr>
              <a:t>prep-kit/.env</a:t>
            </a:r>
            <a:pPr algn="l" indent="0" marL="0">
              <a:buNone/>
            </a:pPr>
            <a:r>
              <a:rPr lang="en-US" sz="1720" dirty="0">
                <a:solidFill>
                  <a:srgbClr val="EEF6F3"/>
                </a:solidFill>
                <a:latin typeface="Segoe UI" pitchFamily="34" charset="0"/>
                <a:ea typeface="Segoe UI" pitchFamily="34" charset="-122"/>
                <a:cs typeface="Segoe UI" pitchFamily="34" charset="-120"/>
              </a:rPr>
              <a:t> for free practice keys, </a:t>
            </a:r>
            <a:pPr algn="l" indent="0" marL="0">
              <a:buNone/>
            </a:pPr>
            <a:r>
              <a:rPr lang="en-US" sz="1510" dirty="0">
                <a:solidFill>
                  <a:srgbClr val="D8FFF0"/>
                </a:solidFill>
                <a:latin typeface="Consolas" pitchFamily="34" charset="0"/>
                <a:ea typeface="Consolas" pitchFamily="34" charset="-122"/>
                <a:cs typeface="Consolas" pitchFamily="34" charset="-120"/>
              </a:rPr>
              <a:t>resolvo-workshop/.env</a:t>
            </a:r>
            <a:pPr algn="l" indent="0" marL="0">
              <a:buNone/>
            </a:pPr>
            <a:r>
              <a:rPr lang="en-US" sz="1720" dirty="0">
                <a:solidFill>
                  <a:srgbClr val="EEF6F3"/>
                </a:solidFill>
                <a:latin typeface="Segoe UI" pitchFamily="34" charset="0"/>
                <a:ea typeface="Segoe UI" pitchFamily="34" charset="-122"/>
                <a:cs typeface="Segoe UI" pitchFamily="34" charset="-120"/>
              </a:rPr>
              <a:t> for the course key.</a:t>
            </a:r>
            <a:endParaRPr lang="en-US" sz="1720" dirty="0"/>
          </a:p>
        </p:txBody>
      </p:sp>
      <p:sp>
        <p:nvSpPr>
          <p:cNvPr id="11" name="Text 9"/>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2" name="Text 10"/>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15 / 32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2075688"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EXTRA READING</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Where LLMs came from, in four steps</a:t>
            </a:r>
            <a:endParaRPr lang="en-US" sz="3000" dirty="0"/>
          </a:p>
        </p:txBody>
      </p:sp>
      <p:sp>
        <p:nvSpPr>
          <p:cNvPr id="6" name="Shape 4"/>
          <p:cNvSpPr/>
          <p:nvPr/>
        </p:nvSpPr>
        <p:spPr>
          <a:xfrm>
            <a:off x="777240" y="1577340"/>
            <a:ext cx="2487854" cy="2626271"/>
          </a:xfrm>
          <a:prstGeom prst="roundRect">
            <a:avLst>
              <a:gd name="adj" fmla="val 3675"/>
            </a:avLst>
          </a:prstGeom>
          <a:solidFill>
            <a:srgbClr val="13272B"/>
          </a:solidFill>
          <a:ln w="12700">
            <a:solidFill>
              <a:srgbClr val="13272B"/>
            </a:solidFill>
            <a:prstDash val="solid"/>
          </a:ln>
        </p:spPr>
      </p:sp>
      <p:sp>
        <p:nvSpPr>
          <p:cNvPr id="7" name="Shape 5"/>
          <p:cNvSpPr/>
          <p:nvPr/>
        </p:nvSpPr>
        <p:spPr>
          <a:xfrm>
            <a:off x="777240" y="1577340"/>
            <a:ext cx="2487854" cy="64008"/>
          </a:xfrm>
          <a:prstGeom prst="rect">
            <a:avLst/>
          </a:prstGeom>
          <a:solidFill>
            <a:srgbClr val="01D294"/>
          </a:solidFill>
          <a:ln w="12700">
            <a:solidFill>
              <a:srgbClr val="01D294"/>
            </a:solidFill>
            <a:prstDash val="solid"/>
          </a:ln>
        </p:spPr>
      </p:sp>
      <p:sp>
        <p:nvSpPr>
          <p:cNvPr id="8" name="Text 6"/>
          <p:cNvSpPr/>
          <p:nvPr/>
        </p:nvSpPr>
        <p:spPr>
          <a:xfrm>
            <a:off x="905256" y="1769364"/>
            <a:ext cx="2231822" cy="367703"/>
          </a:xfrm>
          <a:prstGeom prst="rect">
            <a:avLst/>
          </a:prstGeom>
          <a:noFill/>
          <a:ln/>
        </p:spPr>
        <p:txBody>
          <a:bodyPr wrap="square" lIns="0" tIns="0" rIns="0" bIns="0" rtlCol="0" anchor="t"/>
          <a:lstStyle/>
          <a:p>
            <a:pPr algn="l" indent="0" marL="0">
              <a:buNone/>
            </a:pPr>
            <a:r>
              <a:rPr lang="en-US" sz="1785" b="1" dirty="0">
                <a:solidFill>
                  <a:srgbClr val="01D294"/>
                </a:solidFill>
                <a:latin typeface="Segoe UI" pitchFamily="34" charset="0"/>
                <a:ea typeface="Segoe UI" pitchFamily="34" charset="-122"/>
                <a:cs typeface="Segoe UI" pitchFamily="34" charset="-120"/>
              </a:rPr>
              <a:t>Classic ML</a:t>
            </a:r>
            <a:endParaRPr lang="en-US" sz="1785" dirty="0"/>
          </a:p>
        </p:txBody>
      </p:sp>
      <p:sp>
        <p:nvSpPr>
          <p:cNvPr id="9" name="Text 7"/>
          <p:cNvSpPr/>
          <p:nvPr/>
        </p:nvSpPr>
        <p:spPr>
          <a:xfrm>
            <a:off x="905256" y="2173643"/>
            <a:ext cx="2231822" cy="1176528"/>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A person picks the clues. The computer learns how much each counts.</a:t>
            </a:r>
            <a:endParaRPr lang="en-US" sz="1600" dirty="0"/>
          </a:p>
        </p:txBody>
      </p:sp>
      <p:sp>
        <p:nvSpPr>
          <p:cNvPr id="10" name="Text 8"/>
          <p:cNvSpPr/>
          <p:nvPr/>
        </p:nvSpPr>
        <p:spPr>
          <a:xfrm>
            <a:off x="905256" y="3405035"/>
            <a:ext cx="2231822" cy="615696"/>
          </a:xfrm>
          <a:prstGeom prst="rect">
            <a:avLst/>
          </a:prstGeom>
          <a:noFill/>
          <a:ln/>
        </p:spPr>
        <p:txBody>
          <a:bodyPr wrap="square" lIns="0" tIns="0" rIns="0" bIns="0" rtlCol="0" anchor="t"/>
          <a:lstStyle/>
          <a:p>
            <a:pPr algn="l" indent="0" marL="0">
              <a:buNone/>
            </a:pPr>
            <a:r>
              <a:rPr lang="en-US" sz="1600" dirty="0">
                <a:solidFill>
                  <a:srgbClr val="9DB5B1"/>
                </a:solidFill>
                <a:latin typeface="Segoe UI" pitchFamily="34" charset="0"/>
                <a:ea typeface="Segoe UI" pitchFamily="34" charset="-122"/>
                <a:cs typeface="Segoe UI" pitchFamily="34" charset="-120"/>
              </a:rPr>
              <a:t>A spam filter counting "free".</a:t>
            </a:r>
            <a:endParaRPr lang="en-US" sz="1600" dirty="0"/>
          </a:p>
        </p:txBody>
      </p:sp>
      <p:sp>
        <p:nvSpPr>
          <p:cNvPr id="11" name="Shape 9"/>
          <p:cNvSpPr/>
          <p:nvPr/>
        </p:nvSpPr>
        <p:spPr>
          <a:xfrm>
            <a:off x="3493694" y="1577340"/>
            <a:ext cx="2487854" cy="2626271"/>
          </a:xfrm>
          <a:prstGeom prst="roundRect">
            <a:avLst>
              <a:gd name="adj" fmla="val 3675"/>
            </a:avLst>
          </a:prstGeom>
          <a:solidFill>
            <a:srgbClr val="13272B"/>
          </a:solidFill>
          <a:ln w="12700">
            <a:solidFill>
              <a:srgbClr val="13272B"/>
            </a:solidFill>
            <a:prstDash val="solid"/>
          </a:ln>
        </p:spPr>
      </p:sp>
      <p:sp>
        <p:nvSpPr>
          <p:cNvPr id="12" name="Shape 10"/>
          <p:cNvSpPr/>
          <p:nvPr/>
        </p:nvSpPr>
        <p:spPr>
          <a:xfrm>
            <a:off x="3493694" y="1577340"/>
            <a:ext cx="2487854" cy="64008"/>
          </a:xfrm>
          <a:prstGeom prst="rect">
            <a:avLst/>
          </a:prstGeom>
          <a:solidFill>
            <a:srgbClr val="5AA2FF"/>
          </a:solidFill>
          <a:ln w="12700">
            <a:solidFill>
              <a:srgbClr val="5AA2FF"/>
            </a:solidFill>
            <a:prstDash val="solid"/>
          </a:ln>
        </p:spPr>
      </p:sp>
      <p:sp>
        <p:nvSpPr>
          <p:cNvPr id="13" name="Text 11"/>
          <p:cNvSpPr/>
          <p:nvPr/>
        </p:nvSpPr>
        <p:spPr>
          <a:xfrm>
            <a:off x="3621710" y="1769364"/>
            <a:ext cx="2231822" cy="367703"/>
          </a:xfrm>
          <a:prstGeom prst="rect">
            <a:avLst/>
          </a:prstGeom>
          <a:noFill/>
          <a:ln/>
        </p:spPr>
        <p:txBody>
          <a:bodyPr wrap="square" lIns="0" tIns="0" rIns="0" bIns="0" rtlCol="0" anchor="t"/>
          <a:lstStyle/>
          <a:p>
            <a:pPr algn="l" indent="0" marL="0">
              <a:buNone/>
            </a:pPr>
            <a:r>
              <a:rPr lang="en-US" sz="1785" b="1" dirty="0">
                <a:solidFill>
                  <a:srgbClr val="5AA2FF"/>
                </a:solidFill>
                <a:latin typeface="Segoe UI" pitchFamily="34" charset="0"/>
                <a:ea typeface="Segoe UI" pitchFamily="34" charset="-122"/>
                <a:cs typeface="Segoe UI" pitchFamily="34" charset="-120"/>
              </a:rPr>
              <a:t>Deep learning</a:t>
            </a:r>
            <a:endParaRPr lang="en-US" sz="1785" dirty="0"/>
          </a:p>
        </p:txBody>
      </p:sp>
      <p:sp>
        <p:nvSpPr>
          <p:cNvPr id="14" name="Text 12"/>
          <p:cNvSpPr/>
          <p:nvPr/>
        </p:nvSpPr>
        <p:spPr>
          <a:xfrm>
            <a:off x="3621710" y="2173643"/>
            <a:ext cx="2231822" cy="896112"/>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Millions of examples. It finds the clues itself.</a:t>
            </a:r>
            <a:endParaRPr lang="en-US" sz="1600" dirty="0"/>
          </a:p>
        </p:txBody>
      </p:sp>
      <p:sp>
        <p:nvSpPr>
          <p:cNvPr id="15" name="Text 13"/>
          <p:cNvSpPr/>
          <p:nvPr/>
        </p:nvSpPr>
        <p:spPr>
          <a:xfrm>
            <a:off x="3621710" y="3124619"/>
            <a:ext cx="2231822" cy="615696"/>
          </a:xfrm>
          <a:prstGeom prst="rect">
            <a:avLst/>
          </a:prstGeom>
          <a:noFill/>
          <a:ln/>
        </p:spPr>
        <p:txBody>
          <a:bodyPr wrap="square" lIns="0" tIns="0" rIns="0" bIns="0" rtlCol="0" anchor="t"/>
          <a:lstStyle/>
          <a:p>
            <a:pPr algn="l" indent="0" marL="0">
              <a:buNone/>
            </a:pPr>
            <a:r>
              <a:rPr lang="en-US" sz="1600" dirty="0">
                <a:solidFill>
                  <a:srgbClr val="9DB5B1"/>
                </a:solidFill>
                <a:latin typeface="Segoe UI" pitchFamily="34" charset="0"/>
                <a:ea typeface="Segoe UI" pitchFamily="34" charset="-122"/>
                <a:cs typeface="Segoe UI" pitchFamily="34" charset="-120"/>
              </a:rPr>
              <a:t>Finding your dog in your photos.</a:t>
            </a:r>
            <a:endParaRPr lang="en-US" sz="1600" dirty="0"/>
          </a:p>
        </p:txBody>
      </p:sp>
      <p:sp>
        <p:nvSpPr>
          <p:cNvPr id="16" name="Shape 14"/>
          <p:cNvSpPr/>
          <p:nvPr/>
        </p:nvSpPr>
        <p:spPr>
          <a:xfrm>
            <a:off x="6210148" y="1577340"/>
            <a:ext cx="2487854" cy="2626271"/>
          </a:xfrm>
          <a:prstGeom prst="roundRect">
            <a:avLst>
              <a:gd name="adj" fmla="val 3675"/>
            </a:avLst>
          </a:prstGeom>
          <a:solidFill>
            <a:srgbClr val="13272B"/>
          </a:solidFill>
          <a:ln w="12700">
            <a:solidFill>
              <a:srgbClr val="13272B"/>
            </a:solidFill>
            <a:prstDash val="solid"/>
          </a:ln>
        </p:spPr>
      </p:sp>
      <p:sp>
        <p:nvSpPr>
          <p:cNvPr id="17" name="Shape 15"/>
          <p:cNvSpPr/>
          <p:nvPr/>
        </p:nvSpPr>
        <p:spPr>
          <a:xfrm>
            <a:off x="6210148" y="1577340"/>
            <a:ext cx="2487854" cy="64008"/>
          </a:xfrm>
          <a:prstGeom prst="rect">
            <a:avLst/>
          </a:prstGeom>
          <a:solidFill>
            <a:srgbClr val="FFC53D"/>
          </a:solidFill>
          <a:ln w="12700">
            <a:solidFill>
              <a:srgbClr val="FFC53D"/>
            </a:solidFill>
            <a:prstDash val="solid"/>
          </a:ln>
        </p:spPr>
      </p:sp>
      <p:sp>
        <p:nvSpPr>
          <p:cNvPr id="18" name="Text 16"/>
          <p:cNvSpPr/>
          <p:nvPr/>
        </p:nvSpPr>
        <p:spPr>
          <a:xfrm>
            <a:off x="6338164" y="1769364"/>
            <a:ext cx="2231822" cy="367703"/>
          </a:xfrm>
          <a:prstGeom prst="rect">
            <a:avLst/>
          </a:prstGeom>
          <a:noFill/>
          <a:ln/>
        </p:spPr>
        <p:txBody>
          <a:bodyPr wrap="square" lIns="0" tIns="0" rIns="0" bIns="0" rtlCol="0" anchor="t"/>
          <a:lstStyle/>
          <a:p>
            <a:pPr algn="l" indent="0" marL="0">
              <a:buNone/>
            </a:pPr>
            <a:r>
              <a:rPr lang="en-US" sz="1785" b="1" dirty="0">
                <a:solidFill>
                  <a:srgbClr val="FFC53D"/>
                </a:solidFill>
                <a:latin typeface="Segoe UI" pitchFamily="34" charset="0"/>
                <a:ea typeface="Segoe UI" pitchFamily="34" charset="-122"/>
                <a:cs typeface="Segoe UI" pitchFamily="34" charset="-120"/>
              </a:rPr>
              <a:t>Transformers</a:t>
            </a:r>
            <a:endParaRPr lang="en-US" sz="1785" dirty="0"/>
          </a:p>
        </p:txBody>
      </p:sp>
      <p:sp>
        <p:nvSpPr>
          <p:cNvPr id="19" name="Text 17"/>
          <p:cNvSpPr/>
          <p:nvPr/>
        </p:nvSpPr>
        <p:spPr>
          <a:xfrm>
            <a:off x="6338164" y="2173643"/>
            <a:ext cx="2231822" cy="896112"/>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Every word can "look at" every other word. (2017)</a:t>
            </a:r>
            <a:endParaRPr lang="en-US" sz="1600" dirty="0"/>
          </a:p>
        </p:txBody>
      </p:sp>
      <p:sp>
        <p:nvSpPr>
          <p:cNvPr id="20" name="Text 18"/>
          <p:cNvSpPr/>
          <p:nvPr/>
        </p:nvSpPr>
        <p:spPr>
          <a:xfrm>
            <a:off x="6338164" y="3124619"/>
            <a:ext cx="2231822" cy="896112"/>
          </a:xfrm>
          <a:prstGeom prst="rect">
            <a:avLst/>
          </a:prstGeom>
          <a:noFill/>
          <a:ln/>
        </p:spPr>
        <p:txBody>
          <a:bodyPr wrap="square" lIns="0" tIns="0" rIns="0" bIns="0" rtlCol="0" anchor="t"/>
          <a:lstStyle/>
          <a:p>
            <a:pPr algn="l" indent="0" marL="0">
              <a:buNone/>
            </a:pPr>
            <a:r>
              <a:rPr lang="en-US" sz="1600" dirty="0">
                <a:solidFill>
                  <a:srgbClr val="9DB5B1"/>
                </a:solidFill>
                <a:latin typeface="Segoe UI" pitchFamily="34" charset="0"/>
                <a:ea typeface="Segoe UI" pitchFamily="34" charset="-122"/>
                <a:cs typeface="Segoe UI" pitchFamily="34" charset="-120"/>
              </a:rPr>
              <a:t>"I want </a:t>
            </a:r>
            <a:pPr algn="l" indent="0" marL="0">
              <a:buNone/>
            </a:pPr>
            <a:r>
              <a:rPr lang="en-US" sz="1600" dirty="0">
                <a:solidFill>
                  <a:srgbClr val="01D294"/>
                </a:solidFill>
                <a:latin typeface="Segoe UI" pitchFamily="34" charset="0"/>
                <a:ea typeface="Segoe UI" pitchFamily="34" charset="-122"/>
                <a:cs typeface="Segoe UI" pitchFamily="34" charset="-120"/>
              </a:rPr>
              <a:t>them</a:t>
            </a:r>
            <a:pPr algn="l" indent="0" marL="0">
              <a:buNone/>
            </a:pPr>
            <a:r>
              <a:rPr lang="en-US" sz="1600" dirty="0">
                <a:solidFill>
                  <a:srgbClr val="9DB5B1"/>
                </a:solidFill>
                <a:latin typeface="Segoe UI" pitchFamily="34" charset="0"/>
                <a:ea typeface="Segoe UI" pitchFamily="34" charset="-122"/>
                <a:cs typeface="Segoe UI" pitchFamily="34" charset="-120"/>
              </a:rPr>
              <a:t> replaced": them = the headphones.</a:t>
            </a:r>
            <a:endParaRPr lang="en-US" sz="1600" dirty="0"/>
          </a:p>
        </p:txBody>
      </p:sp>
      <p:sp>
        <p:nvSpPr>
          <p:cNvPr id="21" name="Shape 19"/>
          <p:cNvSpPr/>
          <p:nvPr/>
        </p:nvSpPr>
        <p:spPr>
          <a:xfrm>
            <a:off x="8926601" y="1577340"/>
            <a:ext cx="2487854" cy="2626271"/>
          </a:xfrm>
          <a:prstGeom prst="roundRect">
            <a:avLst>
              <a:gd name="adj" fmla="val 3675"/>
            </a:avLst>
          </a:prstGeom>
          <a:solidFill>
            <a:srgbClr val="13272B"/>
          </a:solidFill>
          <a:ln w="12700">
            <a:solidFill>
              <a:srgbClr val="13272B"/>
            </a:solidFill>
            <a:prstDash val="solid"/>
          </a:ln>
        </p:spPr>
      </p:sp>
      <p:sp>
        <p:nvSpPr>
          <p:cNvPr id="22" name="Shape 20"/>
          <p:cNvSpPr/>
          <p:nvPr/>
        </p:nvSpPr>
        <p:spPr>
          <a:xfrm>
            <a:off x="8926601" y="1577340"/>
            <a:ext cx="2487854" cy="64008"/>
          </a:xfrm>
          <a:prstGeom prst="rect">
            <a:avLst/>
          </a:prstGeom>
          <a:solidFill>
            <a:srgbClr val="B99CFF"/>
          </a:solidFill>
          <a:ln w="12700">
            <a:solidFill>
              <a:srgbClr val="B99CFF"/>
            </a:solidFill>
            <a:prstDash val="solid"/>
          </a:ln>
        </p:spPr>
      </p:sp>
      <p:sp>
        <p:nvSpPr>
          <p:cNvPr id="23" name="Text 21"/>
          <p:cNvSpPr/>
          <p:nvPr/>
        </p:nvSpPr>
        <p:spPr>
          <a:xfrm>
            <a:off x="9054617" y="1769364"/>
            <a:ext cx="2231822" cy="367703"/>
          </a:xfrm>
          <a:prstGeom prst="rect">
            <a:avLst/>
          </a:prstGeom>
          <a:noFill/>
          <a:ln/>
        </p:spPr>
        <p:txBody>
          <a:bodyPr wrap="square" lIns="0" tIns="0" rIns="0" bIns="0" rtlCol="0" anchor="t"/>
          <a:lstStyle/>
          <a:p>
            <a:pPr algn="l" indent="0" marL="0">
              <a:buNone/>
            </a:pPr>
            <a:r>
              <a:rPr lang="en-US" sz="1785" b="1" dirty="0">
                <a:solidFill>
                  <a:srgbClr val="B99CFF"/>
                </a:solidFill>
                <a:latin typeface="Segoe UI" pitchFamily="34" charset="0"/>
                <a:ea typeface="Segoe UI" pitchFamily="34" charset="-122"/>
                <a:cs typeface="Segoe UI" pitchFamily="34" charset="-120"/>
              </a:rPr>
              <a:t>Instruction tuning</a:t>
            </a:r>
            <a:endParaRPr lang="en-US" sz="1785" dirty="0"/>
          </a:p>
        </p:txBody>
      </p:sp>
      <p:sp>
        <p:nvSpPr>
          <p:cNvPr id="24" name="Text 22"/>
          <p:cNvSpPr/>
          <p:nvPr/>
        </p:nvSpPr>
        <p:spPr>
          <a:xfrm>
            <a:off x="9054617" y="2173643"/>
            <a:ext cx="2231822" cy="896112"/>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Trained on questions and good answers. (about 2022)</a:t>
            </a:r>
            <a:endParaRPr lang="en-US" sz="1600" dirty="0"/>
          </a:p>
        </p:txBody>
      </p:sp>
      <p:sp>
        <p:nvSpPr>
          <p:cNvPr id="25" name="Text 23"/>
          <p:cNvSpPr/>
          <p:nvPr/>
        </p:nvSpPr>
        <p:spPr>
          <a:xfrm>
            <a:off x="9054617" y="3124619"/>
            <a:ext cx="2231822" cy="335280"/>
          </a:xfrm>
          <a:prstGeom prst="rect">
            <a:avLst/>
          </a:prstGeom>
          <a:noFill/>
          <a:ln/>
        </p:spPr>
        <p:txBody>
          <a:bodyPr wrap="square" lIns="0" tIns="0" rIns="0" bIns="0" rtlCol="0" anchor="t"/>
          <a:lstStyle/>
          <a:p>
            <a:pPr algn="l" indent="0" marL="0">
              <a:buNone/>
            </a:pPr>
            <a:r>
              <a:rPr lang="en-US" sz="1600" dirty="0">
                <a:solidFill>
                  <a:srgbClr val="9DB5B1"/>
                </a:solidFill>
                <a:latin typeface="Segoe UI" pitchFamily="34" charset="0"/>
                <a:ea typeface="Segoe UI" pitchFamily="34" charset="-122"/>
                <a:cs typeface="Segoe UI" pitchFamily="34" charset="-120"/>
              </a:rPr>
              <a:t>ChatGPT.</a:t>
            </a:r>
            <a:endParaRPr lang="en-US" sz="1600" dirty="0"/>
          </a:p>
        </p:txBody>
      </p:sp>
      <p:sp>
        <p:nvSpPr>
          <p:cNvPr id="26" name="Shape 24"/>
          <p:cNvSpPr/>
          <p:nvPr/>
        </p:nvSpPr>
        <p:spPr>
          <a:xfrm>
            <a:off x="777240" y="4331627"/>
            <a:ext cx="10637215" cy="868375"/>
          </a:xfrm>
          <a:prstGeom prst="roundRect">
            <a:avLst>
              <a:gd name="adj" fmla="val 10530"/>
            </a:avLst>
          </a:prstGeom>
          <a:solidFill>
            <a:srgbClr val="0D3029"/>
          </a:solidFill>
          <a:ln w="12700">
            <a:solidFill>
              <a:srgbClr val="0D3029"/>
            </a:solidFill>
            <a:prstDash val="solid"/>
          </a:ln>
        </p:spPr>
      </p:sp>
      <p:sp>
        <p:nvSpPr>
          <p:cNvPr id="27" name="Shape 25"/>
          <p:cNvSpPr/>
          <p:nvPr/>
        </p:nvSpPr>
        <p:spPr>
          <a:xfrm>
            <a:off x="777240" y="4331627"/>
            <a:ext cx="82296" cy="868375"/>
          </a:xfrm>
          <a:prstGeom prst="rect">
            <a:avLst/>
          </a:prstGeom>
          <a:solidFill>
            <a:srgbClr val="01D294"/>
          </a:solidFill>
          <a:ln w="12700">
            <a:solidFill>
              <a:srgbClr val="01D294"/>
            </a:solidFill>
            <a:prstDash val="solid"/>
          </a:ln>
        </p:spPr>
      </p:sp>
      <p:sp>
        <p:nvSpPr>
          <p:cNvPr id="28" name="Text 26"/>
          <p:cNvSpPr/>
          <p:nvPr/>
        </p:nvSpPr>
        <p:spPr>
          <a:xfrm>
            <a:off x="1051560" y="4441355"/>
            <a:ext cx="10225735" cy="237744"/>
          </a:xfrm>
          <a:prstGeom prst="rect">
            <a:avLst/>
          </a:prstGeom>
          <a:noFill/>
          <a:ln/>
        </p:spPr>
        <p:txBody>
          <a:bodyPr wrap="square" lIns="0" tIns="0" rIns="0" bIns="0" rtlCol="0" anchor="t"/>
          <a:lstStyle/>
          <a:p>
            <a:pPr indent="0" marL="0">
              <a:buNone/>
            </a:pPr>
            <a:r>
              <a:rPr lang="en-US" sz="1050" b="1" spc="300" kern="0" dirty="0">
                <a:solidFill>
                  <a:srgbClr val="01D294"/>
                </a:solidFill>
                <a:latin typeface="Segoe UI" pitchFamily="34" charset="0"/>
                <a:ea typeface="Segoe UI" pitchFamily="34" charset="-122"/>
                <a:cs typeface="Segoe UI" pitchFamily="34" charset="-120"/>
              </a:rPr>
              <a:t>IN PLAIN WORDS</a:t>
            </a:r>
            <a:endParaRPr lang="en-US" sz="1050" dirty="0"/>
          </a:p>
        </p:txBody>
      </p:sp>
      <p:sp>
        <p:nvSpPr>
          <p:cNvPr id="29" name="Text 27"/>
          <p:cNvSpPr/>
          <p:nvPr/>
        </p:nvSpPr>
        <p:spPr>
          <a:xfrm>
            <a:off x="1051560" y="4679099"/>
            <a:ext cx="10225735" cy="356311"/>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Behind the API is a </a:t>
            </a:r>
            <a:pPr algn="l" indent="0" marL="0">
              <a:buNone/>
            </a:pPr>
            <a:r>
              <a:rPr lang="en-US" sz="1720" b="1" dirty="0">
                <a:solidFill>
                  <a:srgbClr val="FFFFFF"/>
                </a:solidFill>
                <a:latin typeface="Segoe UI" pitchFamily="34" charset="0"/>
                <a:ea typeface="Segoe UI" pitchFamily="34" charset="-122"/>
                <a:cs typeface="Segoe UI" pitchFamily="34" charset="-120"/>
              </a:rPr>
              <a:t>text predictor trained to be helpful</a:t>
            </a:r>
            <a:pPr algn="l" indent="0" marL="0">
              <a:buNone/>
            </a:pPr>
            <a:r>
              <a:rPr lang="en-US" sz="1720" dirty="0">
                <a:solidFill>
                  <a:srgbClr val="EEF6F3"/>
                </a:solidFill>
                <a:latin typeface="Segoe UI" pitchFamily="34" charset="0"/>
                <a:ea typeface="Segoe UI" pitchFamily="34" charset="-122"/>
                <a:cs typeface="Segoe UI" pitchFamily="34" charset="-120"/>
              </a:rPr>
              <a:t>. Session 1 starts from exactly that.</a:t>
            </a:r>
            <a:endParaRPr lang="en-US" sz="1720" dirty="0"/>
          </a:p>
        </p:txBody>
      </p:sp>
      <p:sp>
        <p:nvSpPr>
          <p:cNvPr id="30" name="Text 28"/>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31" name="Text 29"/>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16 / 32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04</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An LLM call is just another API call</a:t>
            </a:r>
            <a:endParaRPr lang="en-US" sz="3000" dirty="0"/>
          </a:p>
        </p:txBody>
      </p:sp>
      <p:sp>
        <p:nvSpPr>
          <p:cNvPr id="6" name="Text 4"/>
          <p:cNvSpPr/>
          <p:nvPr/>
        </p:nvSpPr>
        <p:spPr>
          <a:xfrm>
            <a:off x="777240" y="1577340"/>
            <a:ext cx="5135728" cy="422910"/>
          </a:xfrm>
          <a:prstGeom prst="rect">
            <a:avLst/>
          </a:prstGeom>
          <a:noFill/>
          <a:ln/>
        </p:spPr>
        <p:txBody>
          <a:bodyPr wrap="square" lIns="0" tIns="0" rIns="0" bIns="0" rtlCol="0" anchor="t"/>
          <a:lstStyle/>
          <a:p>
            <a:pPr algn="l" indent="0" marL="0">
              <a:buNone/>
            </a:pPr>
            <a:r>
              <a:rPr lang="en-US" sz="2100" dirty="0">
                <a:solidFill>
                  <a:srgbClr val="01D294"/>
                </a:solidFill>
                <a:latin typeface="Segoe UI" pitchFamily="34" charset="0"/>
                <a:ea typeface="Segoe UI" pitchFamily="34" charset="-122"/>
                <a:cs typeface="Segoe UI" pitchFamily="34" charset="-120"/>
              </a:rPr>
              <a:t>You send</a:t>
            </a:r>
            <a:endParaRPr lang="en-US" sz="2100" dirty="0"/>
          </a:p>
        </p:txBody>
      </p:sp>
      <p:sp>
        <p:nvSpPr>
          <p:cNvPr id="7" name="Shape 5"/>
          <p:cNvSpPr/>
          <p:nvPr/>
        </p:nvSpPr>
        <p:spPr>
          <a:xfrm>
            <a:off x="777240" y="2091690"/>
            <a:ext cx="5135728" cy="2658618"/>
          </a:xfrm>
          <a:prstGeom prst="roundRect">
            <a:avLst>
              <a:gd name="adj" fmla="val 4127"/>
            </a:avLst>
          </a:prstGeom>
          <a:solidFill>
            <a:srgbClr val="13272B"/>
          </a:solidFill>
          <a:ln w="9525">
            <a:solidFill>
              <a:srgbClr val="24413F"/>
            </a:solidFill>
            <a:prstDash val="solid"/>
          </a:ln>
        </p:spPr>
      </p:sp>
      <p:sp>
        <p:nvSpPr>
          <p:cNvPr id="8" name="Text 6"/>
          <p:cNvSpPr/>
          <p:nvPr/>
        </p:nvSpPr>
        <p:spPr>
          <a:xfrm>
            <a:off x="960120" y="2201418"/>
            <a:ext cx="4769968" cy="2475738"/>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"model": "gemini-3.5-flash-lite",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"messages": [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{"role": "system",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"content": "Keep answers short."},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{"role": "user",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"content": "What is an API?"}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"temperature": 0.2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a:t>
            </a:r>
            <a:endParaRPr lang="en-US" sz="1350" dirty="0"/>
          </a:p>
        </p:txBody>
      </p:sp>
      <p:sp>
        <p:nvSpPr>
          <p:cNvPr id="9" name="Text 7"/>
          <p:cNvSpPr/>
          <p:nvPr/>
        </p:nvSpPr>
        <p:spPr>
          <a:xfrm>
            <a:off x="6278728" y="1577340"/>
            <a:ext cx="5135728" cy="422910"/>
          </a:xfrm>
          <a:prstGeom prst="rect">
            <a:avLst/>
          </a:prstGeom>
          <a:noFill/>
          <a:ln/>
        </p:spPr>
        <p:txBody>
          <a:bodyPr wrap="square" lIns="0" tIns="0" rIns="0" bIns="0" rtlCol="0" anchor="t"/>
          <a:lstStyle/>
          <a:p>
            <a:pPr algn="l" indent="0" marL="0">
              <a:buNone/>
            </a:pPr>
            <a:r>
              <a:rPr lang="en-US" sz="2100" dirty="0">
                <a:solidFill>
                  <a:srgbClr val="01D294"/>
                </a:solidFill>
                <a:latin typeface="Segoe UI" pitchFamily="34" charset="0"/>
                <a:ea typeface="Segoe UI" pitchFamily="34" charset="-122"/>
                <a:cs typeface="Segoe UI" pitchFamily="34" charset="-120"/>
              </a:rPr>
              <a:t>You get back</a:t>
            </a:r>
            <a:endParaRPr lang="en-US" sz="2100" dirty="0"/>
          </a:p>
        </p:txBody>
      </p:sp>
      <p:sp>
        <p:nvSpPr>
          <p:cNvPr id="10" name="Shape 8"/>
          <p:cNvSpPr/>
          <p:nvPr/>
        </p:nvSpPr>
        <p:spPr>
          <a:xfrm>
            <a:off x="6278728" y="2091690"/>
            <a:ext cx="5135728" cy="2422017"/>
          </a:xfrm>
          <a:prstGeom prst="roundRect">
            <a:avLst>
              <a:gd name="adj" fmla="val 4530"/>
            </a:avLst>
          </a:prstGeom>
          <a:solidFill>
            <a:srgbClr val="13272B"/>
          </a:solidFill>
          <a:ln w="9525">
            <a:solidFill>
              <a:srgbClr val="24413F"/>
            </a:solidFill>
            <a:prstDash val="solid"/>
          </a:ln>
        </p:spPr>
      </p:sp>
      <p:sp>
        <p:nvSpPr>
          <p:cNvPr id="11" name="Text 9"/>
          <p:cNvSpPr/>
          <p:nvPr/>
        </p:nvSpPr>
        <p:spPr>
          <a:xfrm>
            <a:off x="6461608" y="2201418"/>
            <a:ext cx="4769968" cy="2239137"/>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"choices": [{"message": {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"content": "A set of rules that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lets programs talk..."}}],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"usage": {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"prompt_tokens": 31,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"completion_tokens": 24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a:t>
            </a:r>
            <a:endParaRPr lang="en-US" sz="1350" dirty="0"/>
          </a:p>
        </p:txBody>
      </p:sp>
      <p:sp>
        <p:nvSpPr>
          <p:cNvPr id="12" name="Text 10"/>
          <p:cNvSpPr/>
          <p:nvPr/>
        </p:nvSpPr>
        <p:spPr>
          <a:xfrm>
            <a:off x="777240" y="4969764"/>
            <a:ext cx="10637215" cy="650748"/>
          </a:xfrm>
          <a:prstGeom prst="rect">
            <a:avLst/>
          </a:prstGeom>
          <a:noFill/>
          <a:ln/>
        </p:spPr>
        <p:txBody>
          <a:bodyPr wrap="square" lIns="0" tIns="0" rIns="0" bIns="0" rtlCol="0" anchor="t"/>
          <a:lstStyle/>
          <a:p>
            <a:pPr algn="l" indent="0" marL="0">
              <a:buNone/>
            </a:pPr>
            <a:r>
              <a:rPr lang="en-US" sz="1700" b="1" dirty="0">
                <a:solidFill>
                  <a:srgbClr val="FFFFFF"/>
                </a:solidFill>
                <a:latin typeface="Segoe UI" pitchFamily="34" charset="0"/>
                <a:ea typeface="Segoe UI" pitchFamily="34" charset="-122"/>
                <a:cs typeface="Segoe UI" pitchFamily="34" charset="-120"/>
              </a:rPr>
              <a:t>system</a:t>
            </a:r>
            <a:pPr algn="l" indent="0" marL="0">
              <a:buNone/>
            </a:pPr>
            <a:r>
              <a:rPr lang="en-US" sz="1700" dirty="0">
                <a:solidFill>
                  <a:srgbClr val="EEF6F3"/>
                </a:solidFill>
                <a:latin typeface="Segoe UI" pitchFamily="34" charset="0"/>
                <a:ea typeface="Segoe UI" pitchFamily="34" charset="-122"/>
                <a:cs typeface="Segoe UI" pitchFamily="34" charset="-120"/>
              </a:rPr>
              <a:t> sets the rules · </a:t>
            </a:r>
            <a:pPr algn="l" indent="0" marL="0">
              <a:buNone/>
            </a:pPr>
            <a:r>
              <a:rPr lang="en-US" sz="1700" b="1" dirty="0">
                <a:solidFill>
                  <a:srgbClr val="FFFFFF"/>
                </a:solidFill>
                <a:latin typeface="Segoe UI" pitchFamily="34" charset="0"/>
                <a:ea typeface="Segoe UI" pitchFamily="34" charset="-122"/>
                <a:cs typeface="Segoe UI" pitchFamily="34" charset="-120"/>
              </a:rPr>
              <a:t>user</a:t>
            </a:r>
            <a:pPr algn="l" indent="0" marL="0">
              <a:buNone/>
            </a:pPr>
            <a:r>
              <a:rPr lang="en-US" sz="1700" dirty="0">
                <a:solidFill>
                  <a:srgbClr val="EEF6F3"/>
                </a:solidFill>
                <a:latin typeface="Segoe UI" pitchFamily="34" charset="0"/>
                <a:ea typeface="Segoe UI" pitchFamily="34" charset="-122"/>
                <a:cs typeface="Segoe UI" pitchFamily="34" charset="-120"/>
              </a:rPr>
              <a:t> asks · </a:t>
            </a:r>
            <a:pPr algn="l" indent="0" marL="0">
              <a:buNone/>
            </a:pPr>
            <a:r>
              <a:rPr lang="en-US" sz="1700" b="1" dirty="0">
                <a:solidFill>
                  <a:srgbClr val="FFFFFF"/>
                </a:solidFill>
                <a:latin typeface="Segoe UI" pitchFamily="34" charset="0"/>
                <a:ea typeface="Segoe UI" pitchFamily="34" charset="-122"/>
                <a:cs typeface="Segoe UI" pitchFamily="34" charset="-120"/>
              </a:rPr>
              <a:t>temperature</a:t>
            </a:r>
            <a:pPr algn="l" indent="0" marL="0">
              <a:buNone/>
            </a:pPr>
            <a:r>
              <a:rPr lang="en-US" sz="1700" dirty="0">
                <a:solidFill>
                  <a:srgbClr val="EEF6F3"/>
                </a:solidFill>
                <a:latin typeface="Segoe UI" pitchFamily="34" charset="0"/>
                <a:ea typeface="Segoe UI" pitchFamily="34" charset="-122"/>
                <a:cs typeface="Segoe UI" pitchFamily="34" charset="-120"/>
              </a:rPr>
              <a:t> is randomness (0 = steady) · </a:t>
            </a:r>
            <a:pPr algn="l" indent="0" marL="0">
              <a:buNone/>
            </a:pPr>
            <a:r>
              <a:rPr lang="en-US" sz="1700" b="1" dirty="0">
                <a:solidFill>
                  <a:srgbClr val="FFFFFF"/>
                </a:solidFill>
                <a:latin typeface="Segoe UI" pitchFamily="34" charset="0"/>
                <a:ea typeface="Segoe UI" pitchFamily="34" charset="-122"/>
                <a:cs typeface="Segoe UI" pitchFamily="34" charset="-120"/>
              </a:rPr>
              <a:t>usage</a:t>
            </a:r>
            <a:pPr algn="l" indent="0" marL="0">
              <a:buNone/>
            </a:pPr>
            <a:r>
              <a:rPr lang="en-US" sz="1700" dirty="0">
                <a:solidFill>
                  <a:srgbClr val="EEF6F3"/>
                </a:solidFill>
                <a:latin typeface="Segoe UI" pitchFamily="34" charset="0"/>
                <a:ea typeface="Segoe UI" pitchFamily="34" charset="-122"/>
                <a:cs typeface="Segoe UI" pitchFamily="34" charset="-120"/>
              </a:rPr>
              <a:t> is what you pay for</a:t>
            </a:r>
            <a:endParaRPr lang="en-US" sz="1700" dirty="0"/>
          </a:p>
        </p:txBody>
      </p:sp>
      <p:sp>
        <p:nvSpPr>
          <p:cNvPr id="13" name="Text 11"/>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4" name="Text 12"/>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17 / 32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04</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One SDK, three addresses</a:t>
            </a:r>
            <a:endParaRPr lang="en-US" sz="30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5952" y="1577340"/>
            <a:ext cx="10139791" cy="3041937"/>
          </a:xfrm>
          <a:prstGeom prst="rect">
            <a:avLst/>
          </a:prstGeom>
        </p:spPr>
      </p:pic>
      <p:sp>
        <p:nvSpPr>
          <p:cNvPr id="7" name="Text 4"/>
          <p:cNvSpPr/>
          <p:nvPr/>
        </p:nvSpPr>
        <p:spPr>
          <a:xfrm>
            <a:off x="777240" y="4838733"/>
            <a:ext cx="10637215" cy="650748"/>
          </a:xfrm>
          <a:prstGeom prst="rect">
            <a:avLst/>
          </a:prstGeom>
          <a:noFill/>
          <a:ln/>
        </p:spPr>
        <p:txBody>
          <a:bodyPr wrap="square" lIns="0" tIns="0" rIns="0" bIns="0" rtlCol="0" anchor="t"/>
          <a:lstStyle/>
          <a:p>
            <a:pPr algn="l" indent="0" marL="0">
              <a:buNone/>
            </a:pPr>
            <a:r>
              <a:rPr lang="en-US" sz="1700" dirty="0">
                <a:solidFill>
                  <a:srgbClr val="EEF6F3"/>
                </a:solidFill>
                <a:latin typeface="Segoe UI" pitchFamily="34" charset="0"/>
                <a:ea typeface="Segoe UI" pitchFamily="34" charset="-122"/>
                <a:cs typeface="Segoe UI" pitchFamily="34" charset="-120"/>
              </a:rPr>
              <a:t>A provider is </a:t>
            </a:r>
            <a:pPr algn="l" indent="0" marL="0">
              <a:buNone/>
            </a:pPr>
            <a:r>
              <a:rPr lang="en-US" sz="1700" b="1" dirty="0">
                <a:solidFill>
                  <a:srgbClr val="FFFFFF"/>
                </a:solidFill>
                <a:latin typeface="Segoe UI" pitchFamily="34" charset="0"/>
                <a:ea typeface="Segoe UI" pitchFamily="34" charset="-122"/>
                <a:cs typeface="Segoe UI" pitchFamily="34" charset="-120"/>
              </a:rPr>
              <a:t>an address plus a key</a:t>
            </a:r>
            <a:pPr algn="l" indent="0" marL="0">
              <a:buNone/>
            </a:pPr>
            <a:r>
              <a:rPr lang="en-US" sz="1700" dirty="0">
                <a:solidFill>
                  <a:srgbClr val="EEF6F3"/>
                </a:solidFill>
                <a:latin typeface="Segoe UI" pitchFamily="34" charset="0"/>
                <a:ea typeface="Segoe UI" pitchFamily="34" charset="-122"/>
                <a:cs typeface="Segoe UI" pitchFamily="34" charset="-120"/>
              </a:rPr>
              <a:t>. Change those two, pick one of that provider's model names, and the same code talks to a different company's model.</a:t>
            </a:r>
            <a:endParaRPr lang="en-US" sz="1700" dirty="0"/>
          </a:p>
        </p:txBody>
      </p:sp>
      <p:sp>
        <p:nvSpPr>
          <p:cNvPr id="8" name="Text 5"/>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9" name="Text 6"/>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18 / 32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04</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All the code it takes</a:t>
            </a:r>
            <a:endParaRPr lang="en-US" sz="3000" dirty="0"/>
          </a:p>
        </p:txBody>
      </p:sp>
      <p:sp>
        <p:nvSpPr>
          <p:cNvPr id="6" name="Shape 4"/>
          <p:cNvSpPr/>
          <p:nvPr/>
        </p:nvSpPr>
        <p:spPr>
          <a:xfrm>
            <a:off x="777240" y="1577340"/>
            <a:ext cx="10637215" cy="2895219"/>
          </a:xfrm>
          <a:prstGeom prst="roundRect">
            <a:avLst>
              <a:gd name="adj" fmla="val 3790"/>
            </a:avLst>
          </a:prstGeom>
          <a:solidFill>
            <a:srgbClr val="13272B"/>
          </a:solidFill>
          <a:ln w="9525">
            <a:solidFill>
              <a:srgbClr val="24413F"/>
            </a:solidFill>
            <a:prstDash val="solid"/>
          </a:ln>
        </p:spPr>
      </p:sp>
      <p:sp>
        <p:nvSpPr>
          <p:cNvPr id="7" name="Text 5"/>
          <p:cNvSpPr/>
          <p:nvPr/>
        </p:nvSpPr>
        <p:spPr>
          <a:xfrm>
            <a:off x="960120" y="1687068"/>
            <a:ext cx="10271455" cy="2712339"/>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from openai import OpenAI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client = OpenAI(base_url="https://openrouter.ai/api/v1", api_key=key)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response = client.chat.completions.create(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model="openrouter/free",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messages=[{"role": "system", "content": "Keep answers short."},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{"role": "user", "content": "Explain an API in one sentence."}],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print(response.choices[0].message.content)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print(response.usage.prompt_tokens, response.usage.completion_tokens)</a:t>
            </a:r>
            <a:endParaRPr lang="en-US" sz="1350" dirty="0"/>
          </a:p>
        </p:txBody>
      </p:sp>
      <p:sp>
        <p:nvSpPr>
          <p:cNvPr id="8" name="Text 6"/>
          <p:cNvSpPr/>
          <p:nvPr/>
        </p:nvSpPr>
        <p:spPr>
          <a:xfrm>
            <a:off x="777240" y="4600575"/>
            <a:ext cx="10637215" cy="352806"/>
          </a:xfrm>
          <a:prstGeom prst="rect">
            <a:avLst/>
          </a:prstGeom>
          <a:noFill/>
          <a:ln/>
        </p:spPr>
        <p:txBody>
          <a:bodyPr wrap="square" lIns="0" tIns="0" rIns="0" bIns="0" rtlCol="0" anchor="t"/>
          <a:lstStyle/>
          <a:p>
            <a:pPr algn="l" indent="0" marL="0">
              <a:buNone/>
            </a:pPr>
            <a:r>
              <a:rPr lang="en-US" sz="1700" dirty="0">
                <a:solidFill>
                  <a:srgbClr val="EEF6F3"/>
                </a:solidFill>
                <a:latin typeface="Segoe UI" pitchFamily="34" charset="0"/>
                <a:ea typeface="Segoe UI" pitchFamily="34" charset="-122"/>
                <a:cs typeface="Segoe UI" pitchFamily="34" charset="-120"/>
              </a:rPr>
              <a:t>The kit wraps this in </a:t>
            </a:r>
            <a:pPr algn="l" indent="0" marL="0">
              <a:buNone/>
            </a:pPr>
            <a:r>
              <a:rPr lang="en-US" sz="1500" dirty="0">
                <a:solidFill>
                  <a:srgbClr val="D8FFF0"/>
                </a:solidFill>
                <a:latin typeface="Consolas" pitchFamily="34" charset="0"/>
                <a:ea typeface="Consolas" pitchFamily="34" charset="-122"/>
                <a:cs typeface="Consolas" pitchFamily="34" charset="-120"/>
              </a:rPr>
              <a:t>code/chat.py</a:t>
            </a:r>
            <a:pPr algn="l" indent="0" marL="0">
              <a:buNone/>
            </a:pPr>
            <a:r>
              <a:rPr lang="en-US" sz="1700" dirty="0">
                <a:solidFill>
                  <a:srgbClr val="EEF6F3"/>
                </a:solidFill>
                <a:latin typeface="Segoe UI" pitchFamily="34" charset="0"/>
                <a:ea typeface="Segoe UI" pitchFamily="34" charset="-122"/>
                <a:cs typeface="Segoe UI" pitchFamily="34" charset="-120"/>
              </a:rPr>
              <a:t> with a </a:t>
            </a:r>
            <a:pPr algn="l" indent="0" marL="0">
              <a:buNone/>
            </a:pPr>
            <a:r>
              <a:rPr lang="en-US" sz="1500" dirty="0">
                <a:solidFill>
                  <a:srgbClr val="D8FFF0"/>
                </a:solidFill>
                <a:latin typeface="Consolas" pitchFamily="34" charset="0"/>
                <a:ea typeface="Consolas" pitchFamily="34" charset="-122"/>
                <a:cs typeface="Consolas" pitchFamily="34" charset="-120"/>
              </a:rPr>
              <a:t>--provider</a:t>
            </a:r>
            <a:pPr algn="l" indent="0" marL="0">
              <a:buNone/>
            </a:pPr>
            <a:r>
              <a:rPr lang="en-US" sz="1700" dirty="0">
                <a:solidFill>
                  <a:srgbClr val="EEF6F3"/>
                </a:solidFill>
                <a:latin typeface="Segoe UI" pitchFamily="34" charset="0"/>
                <a:ea typeface="Segoe UI" pitchFamily="34" charset="-122"/>
                <a:cs typeface="Segoe UI" pitchFamily="34" charset="-120"/>
              </a:rPr>
              <a:t> switch and friendly error messages.</a:t>
            </a:r>
            <a:endParaRPr lang="en-US" sz="1700" dirty="0"/>
          </a:p>
        </p:txBody>
      </p:sp>
      <p:sp>
        <p:nvSpPr>
          <p:cNvPr id="9" name="Text 7"/>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0" name="Text 8"/>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19 / 32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2203704"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04 AND 05</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Three free ways to practise</a:t>
            </a:r>
            <a:endParaRPr lang="en-US" sz="3000" dirty="0"/>
          </a:p>
        </p:txBody>
      </p:sp>
      <p:sp>
        <p:nvSpPr>
          <p:cNvPr id="6" name="Shape 4"/>
          <p:cNvSpPr/>
          <p:nvPr/>
        </p:nvSpPr>
        <p:spPr>
          <a:xfrm>
            <a:off x="777240" y="1577340"/>
            <a:ext cx="3393338" cy="2261730"/>
          </a:xfrm>
          <a:prstGeom prst="roundRect">
            <a:avLst>
              <a:gd name="adj" fmla="val 4043"/>
            </a:avLst>
          </a:prstGeom>
          <a:solidFill>
            <a:srgbClr val="13272B"/>
          </a:solidFill>
          <a:ln w="12700">
            <a:solidFill>
              <a:srgbClr val="13272B"/>
            </a:solidFill>
            <a:prstDash val="solid"/>
          </a:ln>
        </p:spPr>
      </p:sp>
      <p:sp>
        <p:nvSpPr>
          <p:cNvPr id="7" name="Shape 5"/>
          <p:cNvSpPr/>
          <p:nvPr/>
        </p:nvSpPr>
        <p:spPr>
          <a:xfrm>
            <a:off x="777240" y="1577340"/>
            <a:ext cx="3393338" cy="64008"/>
          </a:xfrm>
          <a:prstGeom prst="rect">
            <a:avLst/>
          </a:prstGeom>
          <a:solidFill>
            <a:srgbClr val="01D294"/>
          </a:solidFill>
          <a:ln w="12700">
            <a:solidFill>
              <a:srgbClr val="01D294"/>
            </a:solidFill>
            <a:prstDash val="solid"/>
          </a:ln>
        </p:spPr>
      </p:sp>
      <p:sp>
        <p:nvSpPr>
          <p:cNvPr id="8" name="Text 6"/>
          <p:cNvSpPr/>
          <p:nvPr/>
        </p:nvSpPr>
        <p:spPr>
          <a:xfrm>
            <a:off x="905256" y="1769364"/>
            <a:ext cx="3137306" cy="367703"/>
          </a:xfrm>
          <a:prstGeom prst="rect">
            <a:avLst/>
          </a:prstGeom>
          <a:noFill/>
          <a:ln/>
        </p:spPr>
        <p:txBody>
          <a:bodyPr wrap="square" lIns="0" tIns="0" rIns="0" bIns="0" rtlCol="0" anchor="t"/>
          <a:lstStyle/>
          <a:p>
            <a:pPr algn="l" indent="0" marL="0">
              <a:buNone/>
            </a:pPr>
            <a:r>
              <a:rPr lang="en-US" sz="1785" b="1" dirty="0">
                <a:solidFill>
                  <a:srgbClr val="01D294"/>
                </a:solidFill>
                <a:latin typeface="Segoe UI" pitchFamily="34" charset="0"/>
                <a:ea typeface="Segoe UI" pitchFamily="34" charset="-122"/>
                <a:cs typeface="Segoe UI" pitchFamily="34" charset="-120"/>
              </a:rPr>
              <a:t>Gemini</a:t>
            </a:r>
            <a:endParaRPr lang="en-US" sz="1785" dirty="0"/>
          </a:p>
        </p:txBody>
      </p:sp>
      <p:sp>
        <p:nvSpPr>
          <p:cNvPr id="9" name="Text 7"/>
          <p:cNvSpPr/>
          <p:nvPr/>
        </p:nvSpPr>
        <p:spPr>
          <a:xfrm>
            <a:off x="905256" y="2173643"/>
            <a:ext cx="3137306" cy="615696"/>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Key from </a:t>
            </a:r>
            <a:pPr algn="l" indent="0" marL="0">
              <a:buNone/>
            </a:pPr>
            <a:r>
              <a:rPr lang="en-US" sz="1410" dirty="0">
                <a:solidFill>
                  <a:srgbClr val="D8FFF0"/>
                </a:solidFill>
                <a:latin typeface="Consolas" pitchFamily="34" charset="0"/>
                <a:ea typeface="Consolas" pitchFamily="34" charset="-122"/>
                <a:cs typeface="Consolas" pitchFamily="34" charset="-120"/>
              </a:rPr>
              <a:t>aistudio.google.com/apikey</a:t>
            </a:r>
            <a:pPr algn="l" indent="0" marL="0">
              <a:buNone/>
            </a:pPr>
            <a:r>
              <a:rPr lang="en-US" sz="1600" dirty="0">
                <a:solidFill>
                  <a:srgbClr val="EEF6F3"/>
                </a:solidFill>
                <a:latin typeface="Segoe UI" pitchFamily="34" charset="0"/>
                <a:ea typeface="Segoe UI" pitchFamily="34" charset="-122"/>
                <a:cs typeface="Segoe UI" pitchFamily="34" charset="-120"/>
              </a:rPr>
              <a:t>. No card needed.</a:t>
            </a:r>
            <a:endParaRPr lang="en-US" sz="1600" dirty="0"/>
          </a:p>
        </p:txBody>
      </p:sp>
      <p:sp>
        <p:nvSpPr>
          <p:cNvPr id="10" name="Text 8"/>
          <p:cNvSpPr/>
          <p:nvPr/>
        </p:nvSpPr>
        <p:spPr>
          <a:xfrm>
            <a:off x="905256" y="2844203"/>
            <a:ext cx="3137306" cy="769925"/>
          </a:xfrm>
          <a:prstGeom prst="rect">
            <a:avLst/>
          </a:prstGeom>
          <a:noFill/>
          <a:ln/>
        </p:spPr>
        <p:txBody>
          <a:bodyPr wrap="square" lIns="0" tIns="0" rIns="0" bIns="0" rtlCol="0" anchor="t"/>
          <a:lstStyle/>
          <a:p>
            <a:pPr algn="l" indent="0" marL="0">
              <a:buNone/>
            </a:pPr>
            <a:r>
              <a:rPr lang="en-US" sz="1360" dirty="0">
                <a:solidFill>
                  <a:srgbClr val="EEF6F3"/>
                </a:solidFill>
                <a:latin typeface="Segoe UI" pitchFamily="34" charset="0"/>
                <a:ea typeface="Segoe UI" pitchFamily="34" charset="-122"/>
                <a:cs typeface="Segoe UI" pitchFamily="34" charset="-120"/>
              </a:rPr>
              <a:t>Free tier: Google may use what you send. Practise only on the Nimbus tickets.</a:t>
            </a:r>
            <a:endParaRPr lang="en-US" sz="1360" dirty="0"/>
          </a:p>
        </p:txBody>
      </p:sp>
      <p:sp>
        <p:nvSpPr>
          <p:cNvPr id="11" name="Shape 9"/>
          <p:cNvSpPr/>
          <p:nvPr/>
        </p:nvSpPr>
        <p:spPr>
          <a:xfrm>
            <a:off x="4399178" y="1577340"/>
            <a:ext cx="3393338" cy="2261730"/>
          </a:xfrm>
          <a:prstGeom prst="roundRect">
            <a:avLst>
              <a:gd name="adj" fmla="val 4043"/>
            </a:avLst>
          </a:prstGeom>
          <a:solidFill>
            <a:srgbClr val="13272B"/>
          </a:solidFill>
          <a:ln w="12700">
            <a:solidFill>
              <a:srgbClr val="13272B"/>
            </a:solidFill>
            <a:prstDash val="solid"/>
          </a:ln>
        </p:spPr>
      </p:sp>
      <p:sp>
        <p:nvSpPr>
          <p:cNvPr id="12" name="Shape 10"/>
          <p:cNvSpPr/>
          <p:nvPr/>
        </p:nvSpPr>
        <p:spPr>
          <a:xfrm>
            <a:off x="4399178" y="1577340"/>
            <a:ext cx="3393338" cy="64008"/>
          </a:xfrm>
          <a:prstGeom prst="rect">
            <a:avLst/>
          </a:prstGeom>
          <a:solidFill>
            <a:srgbClr val="5AA2FF"/>
          </a:solidFill>
          <a:ln w="12700">
            <a:solidFill>
              <a:srgbClr val="5AA2FF"/>
            </a:solidFill>
            <a:prstDash val="solid"/>
          </a:ln>
        </p:spPr>
      </p:sp>
      <p:sp>
        <p:nvSpPr>
          <p:cNvPr id="13" name="Text 11"/>
          <p:cNvSpPr/>
          <p:nvPr/>
        </p:nvSpPr>
        <p:spPr>
          <a:xfrm>
            <a:off x="4527194" y="1769364"/>
            <a:ext cx="3137306" cy="367703"/>
          </a:xfrm>
          <a:prstGeom prst="rect">
            <a:avLst/>
          </a:prstGeom>
          <a:noFill/>
          <a:ln/>
        </p:spPr>
        <p:txBody>
          <a:bodyPr wrap="square" lIns="0" tIns="0" rIns="0" bIns="0" rtlCol="0" anchor="t"/>
          <a:lstStyle/>
          <a:p>
            <a:pPr algn="l" indent="0" marL="0">
              <a:buNone/>
            </a:pPr>
            <a:r>
              <a:rPr lang="en-US" sz="1785" b="1" dirty="0">
                <a:solidFill>
                  <a:srgbClr val="5AA2FF"/>
                </a:solidFill>
                <a:latin typeface="Segoe UI" pitchFamily="34" charset="0"/>
                <a:ea typeface="Segoe UI" pitchFamily="34" charset="-122"/>
                <a:cs typeface="Segoe UI" pitchFamily="34" charset="-120"/>
              </a:rPr>
              <a:t>OpenRouter</a:t>
            </a:r>
            <a:endParaRPr lang="en-US" sz="1785" dirty="0"/>
          </a:p>
        </p:txBody>
      </p:sp>
      <p:sp>
        <p:nvSpPr>
          <p:cNvPr id="14" name="Text 12"/>
          <p:cNvSpPr/>
          <p:nvPr/>
        </p:nvSpPr>
        <p:spPr>
          <a:xfrm>
            <a:off x="4527194" y="2173643"/>
            <a:ext cx="3137306" cy="896112"/>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One key, hundreds of models. </a:t>
            </a:r>
            <a:pPr algn="l" indent="0" marL="0">
              <a:buNone/>
            </a:pPr>
            <a:r>
              <a:rPr lang="en-US" sz="1410" dirty="0">
                <a:solidFill>
                  <a:srgbClr val="D8FFF0"/>
                </a:solidFill>
                <a:latin typeface="Consolas" pitchFamily="34" charset="0"/>
                <a:ea typeface="Consolas" pitchFamily="34" charset="-122"/>
                <a:cs typeface="Consolas" pitchFamily="34" charset="-120"/>
              </a:rPr>
              <a:t>openrouter/free</a:t>
            </a:r>
            <a:pPr algn="l" indent="0" marL="0">
              <a:buNone/>
            </a:pPr>
            <a:r>
              <a:rPr lang="en-US" sz="1600" dirty="0">
                <a:solidFill>
                  <a:srgbClr val="EEF6F3"/>
                </a:solidFill>
                <a:latin typeface="Segoe UI" pitchFamily="34" charset="0"/>
                <a:ea typeface="Segoe UI" pitchFamily="34" charset="-122"/>
                <a:cs typeface="Segoe UI" pitchFamily="34" charset="-120"/>
              </a:rPr>
              <a:t> picks a free one.</a:t>
            </a:r>
            <a:endParaRPr lang="en-US" sz="1600" dirty="0"/>
          </a:p>
        </p:txBody>
      </p:sp>
      <p:sp>
        <p:nvSpPr>
          <p:cNvPr id="15" name="Text 13"/>
          <p:cNvSpPr/>
          <p:nvPr/>
        </p:nvSpPr>
        <p:spPr>
          <a:xfrm>
            <a:off x="4527194" y="3124619"/>
            <a:ext cx="3137306" cy="531571"/>
          </a:xfrm>
          <a:prstGeom prst="rect">
            <a:avLst/>
          </a:prstGeom>
          <a:noFill/>
          <a:ln/>
        </p:spPr>
        <p:txBody>
          <a:bodyPr wrap="square" lIns="0" tIns="0" rIns="0" bIns="0" rtlCol="0" anchor="t"/>
          <a:lstStyle/>
          <a:p>
            <a:pPr algn="l" indent="0" marL="0">
              <a:buNone/>
            </a:pPr>
            <a:r>
              <a:rPr lang="en-US" sz="1360" dirty="0">
                <a:solidFill>
                  <a:srgbClr val="EEF6F3"/>
                </a:solidFill>
                <a:latin typeface="Segoe UI" pitchFamily="34" charset="0"/>
                <a:ea typeface="Segoe UI" pitchFamily="34" charset="-122"/>
                <a:cs typeface="Segoe UI" pitchFamily="34" charset="-120"/>
              </a:rPr>
              <a:t>About 50 free requests a day without credit.</a:t>
            </a:r>
            <a:endParaRPr lang="en-US" sz="1360" dirty="0"/>
          </a:p>
        </p:txBody>
      </p:sp>
      <p:sp>
        <p:nvSpPr>
          <p:cNvPr id="16" name="Shape 14"/>
          <p:cNvSpPr/>
          <p:nvPr/>
        </p:nvSpPr>
        <p:spPr>
          <a:xfrm>
            <a:off x="8021117" y="1577340"/>
            <a:ext cx="3393338" cy="2261730"/>
          </a:xfrm>
          <a:prstGeom prst="roundRect">
            <a:avLst>
              <a:gd name="adj" fmla="val 4043"/>
            </a:avLst>
          </a:prstGeom>
          <a:solidFill>
            <a:srgbClr val="13272B"/>
          </a:solidFill>
          <a:ln w="12700">
            <a:solidFill>
              <a:srgbClr val="13272B"/>
            </a:solidFill>
            <a:prstDash val="solid"/>
          </a:ln>
        </p:spPr>
      </p:sp>
      <p:sp>
        <p:nvSpPr>
          <p:cNvPr id="17" name="Shape 15"/>
          <p:cNvSpPr/>
          <p:nvPr/>
        </p:nvSpPr>
        <p:spPr>
          <a:xfrm>
            <a:off x="8021117" y="1577340"/>
            <a:ext cx="3393338" cy="64008"/>
          </a:xfrm>
          <a:prstGeom prst="rect">
            <a:avLst/>
          </a:prstGeom>
          <a:solidFill>
            <a:srgbClr val="FFC53D"/>
          </a:solidFill>
          <a:ln w="12700">
            <a:solidFill>
              <a:srgbClr val="FFC53D"/>
            </a:solidFill>
            <a:prstDash val="solid"/>
          </a:ln>
        </p:spPr>
      </p:sp>
      <p:sp>
        <p:nvSpPr>
          <p:cNvPr id="18" name="Text 16"/>
          <p:cNvSpPr/>
          <p:nvPr/>
        </p:nvSpPr>
        <p:spPr>
          <a:xfrm>
            <a:off x="8149133" y="1769364"/>
            <a:ext cx="3137306" cy="367703"/>
          </a:xfrm>
          <a:prstGeom prst="rect">
            <a:avLst/>
          </a:prstGeom>
          <a:noFill/>
          <a:ln/>
        </p:spPr>
        <p:txBody>
          <a:bodyPr wrap="square" lIns="0" tIns="0" rIns="0" bIns="0" rtlCol="0" anchor="t"/>
          <a:lstStyle/>
          <a:p>
            <a:pPr algn="l" indent="0" marL="0">
              <a:buNone/>
            </a:pPr>
            <a:r>
              <a:rPr lang="en-US" sz="1785" b="1" dirty="0">
                <a:solidFill>
                  <a:srgbClr val="FFC53D"/>
                </a:solidFill>
                <a:latin typeface="Segoe UI" pitchFamily="34" charset="0"/>
                <a:ea typeface="Segoe UI" pitchFamily="34" charset="-122"/>
                <a:cs typeface="Segoe UI" pitchFamily="34" charset="-120"/>
              </a:rPr>
              <a:t>Ollama</a:t>
            </a:r>
            <a:endParaRPr lang="en-US" sz="1785" dirty="0"/>
          </a:p>
        </p:txBody>
      </p:sp>
      <p:sp>
        <p:nvSpPr>
          <p:cNvPr id="19" name="Text 17"/>
          <p:cNvSpPr/>
          <p:nvPr/>
        </p:nvSpPr>
        <p:spPr>
          <a:xfrm>
            <a:off x="8149133" y="2173643"/>
            <a:ext cx="3137306" cy="615696"/>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Runs on your laptop. No key, works offline, costs nothing.</a:t>
            </a:r>
            <a:endParaRPr lang="en-US" sz="1600" dirty="0"/>
          </a:p>
        </p:txBody>
      </p:sp>
      <p:sp>
        <p:nvSpPr>
          <p:cNvPr id="20" name="Text 18"/>
          <p:cNvSpPr/>
          <p:nvPr/>
        </p:nvSpPr>
        <p:spPr>
          <a:xfrm>
            <a:off x="8149133" y="2844203"/>
            <a:ext cx="3137306" cy="531571"/>
          </a:xfrm>
          <a:prstGeom prst="rect">
            <a:avLst/>
          </a:prstGeom>
          <a:noFill/>
          <a:ln/>
        </p:spPr>
        <p:txBody>
          <a:bodyPr wrap="square" lIns="0" tIns="0" rIns="0" bIns="0" rtlCol="0" anchor="t"/>
          <a:lstStyle/>
          <a:p>
            <a:pPr algn="l" indent="0" marL="0">
              <a:buNone/>
            </a:pPr>
            <a:r>
              <a:rPr lang="en-US" sz="1360" dirty="0">
                <a:solidFill>
                  <a:srgbClr val="EEF6F3"/>
                </a:solidFill>
                <a:latin typeface="Segoe UI" pitchFamily="34" charset="0"/>
                <a:ea typeface="Segoe UI" pitchFamily="34" charset="-122"/>
                <a:cs typeface="Segoe UI" pitchFamily="34" charset="-120"/>
              </a:rPr>
              <a:t>Much weaker than the cloud models, and slower on old laptops.</a:t>
            </a:r>
            <a:endParaRPr lang="en-US" sz="1360" dirty="0"/>
          </a:p>
        </p:txBody>
      </p:sp>
      <p:sp>
        <p:nvSpPr>
          <p:cNvPr id="21" name="Shape 19"/>
          <p:cNvSpPr/>
          <p:nvPr/>
        </p:nvSpPr>
        <p:spPr>
          <a:xfrm>
            <a:off x="777240" y="3967086"/>
            <a:ext cx="10637215" cy="868375"/>
          </a:xfrm>
          <a:prstGeom prst="roundRect">
            <a:avLst>
              <a:gd name="adj" fmla="val 10530"/>
            </a:avLst>
          </a:prstGeom>
          <a:solidFill>
            <a:srgbClr val="3A1C1F"/>
          </a:solidFill>
          <a:ln w="12700">
            <a:solidFill>
              <a:srgbClr val="3A1C1F"/>
            </a:solidFill>
            <a:prstDash val="solid"/>
          </a:ln>
        </p:spPr>
      </p:sp>
      <p:sp>
        <p:nvSpPr>
          <p:cNvPr id="22" name="Shape 20"/>
          <p:cNvSpPr/>
          <p:nvPr/>
        </p:nvSpPr>
        <p:spPr>
          <a:xfrm>
            <a:off x="777240" y="3967086"/>
            <a:ext cx="82296" cy="868375"/>
          </a:xfrm>
          <a:prstGeom prst="rect">
            <a:avLst/>
          </a:prstGeom>
          <a:solidFill>
            <a:srgbClr val="FF7A7A"/>
          </a:solidFill>
          <a:ln w="12700">
            <a:solidFill>
              <a:srgbClr val="FF7A7A"/>
            </a:solidFill>
            <a:prstDash val="solid"/>
          </a:ln>
        </p:spPr>
      </p:sp>
      <p:sp>
        <p:nvSpPr>
          <p:cNvPr id="23" name="Text 21"/>
          <p:cNvSpPr/>
          <p:nvPr/>
        </p:nvSpPr>
        <p:spPr>
          <a:xfrm>
            <a:off x="1051560" y="4076814"/>
            <a:ext cx="10225735" cy="237744"/>
          </a:xfrm>
          <a:prstGeom prst="rect">
            <a:avLst/>
          </a:prstGeom>
          <a:noFill/>
          <a:ln/>
        </p:spPr>
        <p:txBody>
          <a:bodyPr wrap="square" lIns="0" tIns="0" rIns="0" bIns="0" rtlCol="0" anchor="t"/>
          <a:lstStyle/>
          <a:p>
            <a:pPr indent="0" marL="0">
              <a:buNone/>
            </a:pPr>
            <a:r>
              <a:rPr lang="en-US" sz="1050" b="1" spc="300" kern="0" dirty="0">
                <a:solidFill>
                  <a:srgbClr val="FF7A7A"/>
                </a:solidFill>
                <a:latin typeface="Segoe UI" pitchFamily="34" charset="0"/>
                <a:ea typeface="Segoe UI" pitchFamily="34" charset="-122"/>
                <a:cs typeface="Segoe UI" pitchFamily="34" charset="-120"/>
              </a:rPr>
              <a:t>WATCH OUT</a:t>
            </a:r>
            <a:endParaRPr lang="en-US" sz="1050" dirty="0"/>
          </a:p>
        </p:txBody>
      </p:sp>
      <p:sp>
        <p:nvSpPr>
          <p:cNvPr id="24" name="Text 22"/>
          <p:cNvSpPr/>
          <p:nvPr/>
        </p:nvSpPr>
        <p:spPr>
          <a:xfrm>
            <a:off x="1051560" y="4314558"/>
            <a:ext cx="10225735" cy="356311"/>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These are for practice. The course code needs OpenAI, Azure or Anthropic (step 08).</a:t>
            </a:r>
            <a:endParaRPr lang="en-US" sz="1720" dirty="0"/>
          </a:p>
        </p:txBody>
      </p:sp>
      <p:sp>
        <p:nvSpPr>
          <p:cNvPr id="25" name="Text 23"/>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26" name="Text 24"/>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20 / 32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Shape 2"/>
          <p:cNvSpPr/>
          <p:nvPr/>
        </p:nvSpPr>
        <p:spPr>
          <a:xfrm>
            <a:off x="0" y="0"/>
            <a:ext cx="118872" cy="6858000"/>
          </a:xfrm>
          <a:prstGeom prst="rect">
            <a:avLst/>
          </a:prstGeom>
          <a:solidFill>
            <a:srgbClr val="FFC53D"/>
          </a:solidFill>
          <a:ln w="12700">
            <a:solidFill>
              <a:srgbClr val="FFC53D"/>
            </a:solidFill>
            <a:prstDash val="solid"/>
          </a:ln>
        </p:spPr>
      </p:sp>
      <p:sp>
        <p:nvSpPr>
          <p:cNvPr id="5" name="Text 3"/>
          <p:cNvSpPr/>
          <p:nvPr/>
        </p:nvSpPr>
        <p:spPr>
          <a:xfrm>
            <a:off x="10408615" y="411480"/>
            <a:ext cx="1005840" cy="329184"/>
          </a:xfrm>
          <a:prstGeom prst="roundRect">
            <a:avLst>
              <a:gd name="adj" fmla="val 22222"/>
            </a:avLst>
          </a:prstGeom>
          <a:solidFill>
            <a:srgbClr val="FFC53D"/>
          </a:solidFill>
          <a:ln/>
        </p:spPr>
        <p:txBody>
          <a:bodyPr wrap="square" lIns="0" tIns="0" rIns="0" bIns="0" rtlCol="0" anchor="ctr"/>
          <a:lstStyle/>
          <a:p>
            <a:pPr algn="ctr" indent="0" marL="0">
              <a:buNone/>
            </a:pPr>
            <a:r>
              <a:rPr lang="en-US" sz="1200" b="1" spc="400" kern="0" dirty="0">
                <a:solidFill>
                  <a:srgbClr val="0C1A1D"/>
                </a:solidFill>
                <a:latin typeface="Segoe UI" pitchFamily="34" charset="0"/>
                <a:ea typeface="Segoe UI" pitchFamily="34" charset="-122"/>
                <a:cs typeface="Segoe UI" pitchFamily="34" charset="-120"/>
              </a:rPr>
              <a:t>LAB</a:t>
            </a:r>
            <a:endParaRPr lang="en-US" sz="1200" dirty="0"/>
          </a:p>
        </p:txBody>
      </p:sp>
      <p:sp>
        <p:nvSpPr>
          <p:cNvPr id="6" name="Text 4"/>
          <p:cNvSpPr/>
          <p:nvPr/>
        </p:nvSpPr>
        <p:spPr>
          <a:xfrm>
            <a:off x="777240" y="457200"/>
            <a:ext cx="1179576" cy="274320"/>
          </a:xfrm>
          <a:prstGeom prst="roundRect">
            <a:avLst>
              <a:gd name="adj" fmla="val 50000"/>
            </a:avLst>
          </a:prstGeom>
          <a:solidFill>
            <a:srgbClr val="FFC53D"/>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TRY IT</a:t>
            </a:r>
            <a:endParaRPr lang="en-US" sz="1100" dirty="0"/>
          </a:p>
        </p:txBody>
      </p:sp>
      <p:sp>
        <p:nvSpPr>
          <p:cNvPr id="7" name="Text 5"/>
          <p:cNvSpPr/>
          <p:nvPr/>
        </p:nvSpPr>
        <p:spPr>
          <a:xfrm>
            <a:off x="777240" y="841248"/>
            <a:ext cx="944849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Your first LLM calls</a:t>
            </a:r>
            <a:endParaRPr lang="en-US" sz="3000" dirty="0"/>
          </a:p>
        </p:txBody>
      </p:sp>
      <p:sp>
        <p:nvSpPr>
          <p:cNvPr id="8" name="Shape 6"/>
          <p:cNvSpPr/>
          <p:nvPr/>
        </p:nvSpPr>
        <p:spPr>
          <a:xfrm>
            <a:off x="777240" y="1577340"/>
            <a:ext cx="10637215" cy="2185416"/>
          </a:xfrm>
          <a:prstGeom prst="roundRect">
            <a:avLst>
              <a:gd name="adj" fmla="val 5021"/>
            </a:avLst>
          </a:prstGeom>
          <a:solidFill>
            <a:srgbClr val="13272B"/>
          </a:solidFill>
          <a:ln w="9525">
            <a:solidFill>
              <a:srgbClr val="24413F"/>
            </a:solidFill>
            <a:prstDash val="solid"/>
          </a:ln>
        </p:spPr>
      </p:sp>
      <p:sp>
        <p:nvSpPr>
          <p:cNvPr id="9" name="Text 7"/>
          <p:cNvSpPr/>
          <p:nvPr/>
        </p:nvSpPr>
        <p:spPr>
          <a:xfrm>
            <a:off x="960120" y="1687068"/>
            <a:ext cx="10271455" cy="2002536"/>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code\show_env.py                  # are the keys set? (never prints them)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code\chat.py --provider gemini "Explain what an API is in one sentence."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code\chat.py --provider openrouter "Explain what an API is in one sentence."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code\chat.py --provider ollama "Explain what an API is in one sentence."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An API is a set of rules that lets different programs talk to each other.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[gemini | gemini-3.5-flash-lite | 31 tokens in, 24 out | 870 ms]</a:t>
            </a:r>
            <a:endParaRPr lang="en-US" sz="1350" dirty="0"/>
          </a:p>
        </p:txBody>
      </p:sp>
      <p:sp>
        <p:nvSpPr>
          <p:cNvPr id="10" name="Text 8"/>
          <p:cNvSpPr/>
          <p:nvPr/>
        </p:nvSpPr>
        <p:spPr>
          <a:xfrm>
            <a:off x="777240" y="3890772"/>
            <a:ext cx="10637215" cy="405384"/>
          </a:xfrm>
          <a:prstGeom prst="rect">
            <a:avLst/>
          </a:prstGeom>
          <a:noFill/>
          <a:ln/>
        </p:spPr>
        <p:txBody>
          <a:bodyPr wrap="square" lIns="0" tIns="0" rIns="0" bIns="0" rtlCol="0" anchor="t"/>
          <a:lstStyle/>
          <a:p>
            <a:pPr algn="l" indent="0" marL="0">
              <a:buNone/>
            </a:pPr>
            <a:r>
              <a:rPr lang="en-US" sz="2000" dirty="0">
                <a:solidFill>
                  <a:srgbClr val="EEF6F3"/>
                </a:solidFill>
                <a:latin typeface="Segoe UI" pitchFamily="34" charset="0"/>
                <a:ea typeface="Segoe UI" pitchFamily="34" charset="-122"/>
                <a:cs typeface="Segoe UI" pitchFamily="34" charset="-120"/>
              </a:rPr>
              <a:t>Then: the same joke at </a:t>
            </a:r>
            <a:pPr algn="l" indent="0" marL="0">
              <a:buNone/>
            </a:pPr>
            <a:r>
              <a:rPr lang="en-US" sz="1760" dirty="0">
                <a:solidFill>
                  <a:srgbClr val="D8FFF0"/>
                </a:solidFill>
                <a:latin typeface="Consolas" pitchFamily="34" charset="0"/>
                <a:ea typeface="Consolas" pitchFamily="34" charset="-122"/>
                <a:cs typeface="Consolas" pitchFamily="34" charset="-120"/>
              </a:rPr>
              <a:t>--temperature 0</a:t>
            </a:r>
            <a:pPr algn="l" indent="0" marL="0">
              <a:buNone/>
            </a:pPr>
            <a:r>
              <a:rPr lang="en-US" sz="2000" dirty="0">
                <a:solidFill>
                  <a:srgbClr val="EEF6F3"/>
                </a:solidFill>
                <a:latin typeface="Segoe UI" pitchFamily="34" charset="0"/>
                <a:ea typeface="Segoe UI" pitchFamily="34" charset="-122"/>
                <a:cs typeface="Segoe UI" pitchFamily="34" charset="-120"/>
              </a:rPr>
              <a:t> three times, and at </a:t>
            </a:r>
            <a:pPr algn="l" indent="0" marL="0">
              <a:buNone/>
            </a:pPr>
            <a:r>
              <a:rPr lang="en-US" sz="1760" dirty="0">
                <a:solidFill>
                  <a:srgbClr val="D8FFF0"/>
                </a:solidFill>
                <a:latin typeface="Consolas" pitchFamily="34" charset="0"/>
                <a:ea typeface="Consolas" pitchFamily="34" charset="-122"/>
                <a:cs typeface="Consolas" pitchFamily="34" charset="-120"/>
              </a:rPr>
              <a:t>1.5</a:t>
            </a:r>
            <a:pPr algn="l" indent="0" marL="0">
              <a:buNone/>
            </a:pPr>
            <a:r>
              <a:rPr lang="en-US" sz="2000" dirty="0">
                <a:solidFill>
                  <a:srgbClr val="EEF6F3"/>
                </a:solidFill>
                <a:latin typeface="Segoe UI" pitchFamily="34" charset="0"/>
                <a:ea typeface="Segoe UI" pitchFamily="34" charset="-122"/>
                <a:cs typeface="Segoe UI" pitchFamily="34" charset="-120"/>
              </a:rPr>
              <a:t> three times.</a:t>
            </a:r>
            <a:endParaRPr lang="en-US" sz="2000" dirty="0"/>
          </a:p>
        </p:txBody>
      </p:sp>
      <p:sp>
        <p:nvSpPr>
          <p:cNvPr id="11" name="Text 9"/>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2" name="Text 10"/>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21 / 32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05</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 model on your own laptop</a:t>
            </a:r>
            <a:endParaRPr lang="en-US" sz="3000" dirty="0"/>
          </a:p>
        </p:txBody>
      </p:sp>
      <p:sp>
        <p:nvSpPr>
          <p:cNvPr id="6" name="Shape 4"/>
          <p:cNvSpPr/>
          <p:nvPr/>
        </p:nvSpPr>
        <p:spPr>
          <a:xfrm>
            <a:off x="777240" y="1577340"/>
            <a:ext cx="10637215" cy="765810"/>
          </a:xfrm>
          <a:prstGeom prst="roundRect">
            <a:avLst>
              <a:gd name="adj" fmla="val 14328"/>
            </a:avLst>
          </a:prstGeom>
          <a:solidFill>
            <a:srgbClr val="13272B"/>
          </a:solidFill>
          <a:ln w="9525">
            <a:solidFill>
              <a:srgbClr val="24413F"/>
            </a:solidFill>
            <a:prstDash val="solid"/>
          </a:ln>
        </p:spPr>
      </p:sp>
      <p:sp>
        <p:nvSpPr>
          <p:cNvPr id="7" name="Text 5"/>
          <p:cNvSpPr/>
          <p:nvPr/>
        </p:nvSpPr>
        <p:spPr>
          <a:xfrm>
            <a:off x="960120" y="1687068"/>
            <a:ext cx="10271455" cy="582930"/>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ollama pull llama3.2          # about 2 GB, 3 billion parameters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code\chat.py --provider ollama "Say hello in five words."</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 y="2471166"/>
          <a:ext cx="10637215" cy="914400"/>
        </p:xfrm>
        <a:graphic>
          <a:graphicData uri="http://schemas.openxmlformats.org/drawingml/2006/table">
            <a:tbl>
              <a:tblPr/>
              <a:tblGrid>
                <a:gridCol w="3128162"/>
                <a:gridCol w="7509053"/>
              </a:tblGrid>
              <a:tr h="0">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Your laptop has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Try</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8 GB of memory</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llama3.2</a:t>
                      </a:r>
                      <a:pPr indent="0" marL="0">
                        <a:buNone/>
                      </a:pPr>
                      <a:r>
                        <a:rPr lang="en-US" sz="1450" dirty="0">
                          <a:solidFill>
                            <a:srgbClr val="EEF6F3"/>
                          </a:solidFill>
                          <a:latin typeface="Segoe UI" pitchFamily="34" charset="0"/>
                          <a:ea typeface="Segoe UI" pitchFamily="34" charset="-122"/>
                          <a:cs typeface="Segoe UI" pitchFamily="34" charset="-120"/>
                        </a:rPr>
                        <a:t> (2 GB)</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16 GB or more</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also </a:t>
                      </a:r>
                      <a:pPr indent="0" marL="0">
                        <a:buNone/>
                      </a:pPr>
                      <a:r>
                        <a:rPr lang="en-US" sz="1280" dirty="0">
                          <a:solidFill>
                            <a:srgbClr val="D8FFF0"/>
                          </a:solidFill>
                          <a:latin typeface="Consolas" pitchFamily="34" charset="0"/>
                          <a:ea typeface="Consolas" pitchFamily="34" charset="-122"/>
                          <a:cs typeface="Consolas" pitchFamily="34" charset="-120"/>
                        </a:rPr>
                        <a:t>gemma3:4b</a:t>
                      </a:r>
                      <a:pPr indent="0" marL="0">
                        <a:buNone/>
                      </a:pPr>
                      <a:r>
                        <a:rPr lang="en-US" sz="1450" dirty="0">
                          <a:solidFill>
                            <a:srgbClr val="EEF6F3"/>
                          </a:solidFill>
                          <a:latin typeface="Segoe UI" pitchFamily="34" charset="0"/>
                          <a:ea typeface="Segoe UI" pitchFamily="34" charset="-122"/>
                          <a:cs typeface="Segoe UI" pitchFamily="34" charset="-120"/>
                        </a:rPr>
                        <a:t> (3.3 GB), and compare</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bl>
          </a:graphicData>
        </a:graphic>
      </p:graphicFrame>
      <p:sp>
        <p:nvSpPr>
          <p:cNvPr id="9" name="Shape 6"/>
          <p:cNvSpPr/>
          <p:nvPr/>
        </p:nvSpPr>
        <p:spPr>
          <a:xfrm>
            <a:off x="777240" y="3791331"/>
            <a:ext cx="10637215" cy="1169822"/>
          </a:xfrm>
          <a:prstGeom prst="roundRect">
            <a:avLst>
              <a:gd name="adj" fmla="val 7817"/>
            </a:avLst>
          </a:prstGeom>
          <a:solidFill>
            <a:srgbClr val="3A1C1F"/>
          </a:solidFill>
          <a:ln w="12700">
            <a:solidFill>
              <a:srgbClr val="3A1C1F"/>
            </a:solidFill>
            <a:prstDash val="solid"/>
          </a:ln>
        </p:spPr>
      </p:sp>
      <p:sp>
        <p:nvSpPr>
          <p:cNvPr id="10" name="Shape 7"/>
          <p:cNvSpPr/>
          <p:nvPr/>
        </p:nvSpPr>
        <p:spPr>
          <a:xfrm>
            <a:off x="777240" y="3791331"/>
            <a:ext cx="82296" cy="1169822"/>
          </a:xfrm>
          <a:prstGeom prst="rect">
            <a:avLst/>
          </a:prstGeom>
          <a:solidFill>
            <a:srgbClr val="FF7A7A"/>
          </a:solidFill>
          <a:ln w="12700">
            <a:solidFill>
              <a:srgbClr val="FF7A7A"/>
            </a:solidFill>
            <a:prstDash val="solid"/>
          </a:ln>
        </p:spPr>
      </p:sp>
      <p:sp>
        <p:nvSpPr>
          <p:cNvPr id="11" name="Text 8"/>
          <p:cNvSpPr/>
          <p:nvPr/>
        </p:nvSpPr>
        <p:spPr>
          <a:xfrm>
            <a:off x="1051560" y="3901059"/>
            <a:ext cx="10225735" cy="237744"/>
          </a:xfrm>
          <a:prstGeom prst="rect">
            <a:avLst/>
          </a:prstGeom>
          <a:noFill/>
          <a:ln/>
        </p:spPr>
        <p:txBody>
          <a:bodyPr wrap="square" lIns="0" tIns="0" rIns="0" bIns="0" rtlCol="0" anchor="t"/>
          <a:lstStyle/>
          <a:p>
            <a:pPr indent="0" marL="0">
              <a:buNone/>
            </a:pPr>
            <a:r>
              <a:rPr lang="en-US" sz="1050" b="1" spc="300" kern="0" dirty="0">
                <a:solidFill>
                  <a:srgbClr val="FF7A7A"/>
                </a:solidFill>
                <a:latin typeface="Segoe UI" pitchFamily="34" charset="0"/>
                <a:ea typeface="Segoe UI" pitchFamily="34" charset="-122"/>
                <a:cs typeface="Segoe UI" pitchFamily="34" charset="-120"/>
              </a:rPr>
              <a:t>IF OLLAMA CRASHES (500, OFTEN MENTIONING CUDA)</a:t>
            </a:r>
            <a:endParaRPr lang="en-US" sz="1050" dirty="0"/>
          </a:p>
        </p:txBody>
      </p:sp>
      <p:sp>
        <p:nvSpPr>
          <p:cNvPr id="12" name="Text 9"/>
          <p:cNvSpPr/>
          <p:nvPr/>
        </p:nvSpPr>
        <p:spPr>
          <a:xfrm>
            <a:off x="1051560" y="4138803"/>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The graphics driver is the usual cause. Quit Ollama, then run it on the CPU: </a:t>
            </a:r>
            <a:pPr algn="l" indent="0" marL="0">
              <a:buNone/>
            </a:pPr>
            <a:r>
              <a:rPr lang="en-US" sz="1510" dirty="0">
                <a:solidFill>
                  <a:srgbClr val="D8FFF0"/>
                </a:solidFill>
                <a:latin typeface="Consolas" pitchFamily="34" charset="0"/>
                <a:ea typeface="Consolas" pitchFamily="34" charset="-122"/>
                <a:cs typeface="Consolas" pitchFamily="34" charset="-120"/>
              </a:rPr>
              <a:t>$env:CUDA_VISIBLE_DEVICES="-1"; ollama serve</a:t>
            </a:r>
            <a:endParaRPr lang="en-US" sz="1720" dirty="0"/>
          </a:p>
        </p:txBody>
      </p:sp>
      <p:sp>
        <p:nvSpPr>
          <p:cNvPr id="13" name="Text 10"/>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4" name="Text 11"/>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22 / 32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06</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Models read tokens, not words</a:t>
            </a:r>
            <a:endParaRPr lang="en-US" sz="3000" dirty="0"/>
          </a:p>
        </p:txBody>
      </p:sp>
      <p:sp>
        <p:nvSpPr>
          <p:cNvPr id="6" name="Shape 4"/>
          <p:cNvSpPr/>
          <p:nvPr/>
        </p:nvSpPr>
        <p:spPr>
          <a:xfrm>
            <a:off x="777240" y="1577340"/>
            <a:ext cx="10637215" cy="1712214"/>
          </a:xfrm>
          <a:prstGeom prst="roundRect">
            <a:avLst>
              <a:gd name="adj" fmla="val 6409"/>
            </a:avLst>
          </a:prstGeom>
          <a:solidFill>
            <a:srgbClr val="13272B"/>
          </a:solidFill>
          <a:ln w="9525">
            <a:solidFill>
              <a:srgbClr val="24413F"/>
            </a:solidFill>
            <a:prstDash val="solid"/>
          </a:ln>
        </p:spPr>
      </p:sp>
      <p:sp>
        <p:nvSpPr>
          <p:cNvPr id="7" name="Text 5"/>
          <p:cNvSpPr/>
          <p:nvPr/>
        </p:nvSpPr>
        <p:spPr>
          <a:xfrm>
            <a:off x="960120" y="1687068"/>
            <a:ext cx="10271455" cy="1529334"/>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code\count_tokens.py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Ticket T-1001: 217 characters, 40 words, 47 tokens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'I' | ' ordered' | ' the' | ' wireless' | ' headphones' | ' two' | ' weeks' |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ago' | ',' | ' order' | ' #' | '482' | '91' | '.' | ' They' | ' arrived' | ...</a:t>
            </a:r>
            <a:endParaRPr lang="en-US" sz="1350" dirty="0"/>
          </a:p>
        </p:txBody>
      </p:sp>
      <p:sp>
        <p:nvSpPr>
          <p:cNvPr id="8" name="Shape 6"/>
          <p:cNvSpPr/>
          <p:nvPr/>
        </p:nvSpPr>
        <p:spPr>
          <a:xfrm>
            <a:off x="777240" y="3417570"/>
            <a:ext cx="10637215" cy="1169822"/>
          </a:xfrm>
          <a:prstGeom prst="roundRect">
            <a:avLst>
              <a:gd name="adj" fmla="val 7817"/>
            </a:avLst>
          </a:prstGeom>
          <a:solidFill>
            <a:srgbClr val="0D3029"/>
          </a:solidFill>
          <a:ln w="12700">
            <a:solidFill>
              <a:srgbClr val="0D3029"/>
            </a:solidFill>
            <a:prstDash val="solid"/>
          </a:ln>
        </p:spPr>
      </p:sp>
      <p:sp>
        <p:nvSpPr>
          <p:cNvPr id="9" name="Shape 7"/>
          <p:cNvSpPr/>
          <p:nvPr/>
        </p:nvSpPr>
        <p:spPr>
          <a:xfrm>
            <a:off x="777240" y="3417570"/>
            <a:ext cx="82296" cy="1169822"/>
          </a:xfrm>
          <a:prstGeom prst="rect">
            <a:avLst/>
          </a:prstGeom>
          <a:solidFill>
            <a:srgbClr val="01D294"/>
          </a:solidFill>
          <a:ln w="12700">
            <a:solidFill>
              <a:srgbClr val="01D294"/>
            </a:solidFill>
            <a:prstDash val="solid"/>
          </a:ln>
        </p:spPr>
      </p:sp>
      <p:sp>
        <p:nvSpPr>
          <p:cNvPr id="10" name="Text 8"/>
          <p:cNvSpPr/>
          <p:nvPr/>
        </p:nvSpPr>
        <p:spPr>
          <a:xfrm>
            <a:off x="1051560" y="3527298"/>
            <a:ext cx="10225735" cy="237744"/>
          </a:xfrm>
          <a:prstGeom prst="rect">
            <a:avLst/>
          </a:prstGeom>
          <a:noFill/>
          <a:ln/>
        </p:spPr>
        <p:txBody>
          <a:bodyPr wrap="square" lIns="0" tIns="0" rIns="0" bIns="0" rtlCol="0" anchor="t"/>
          <a:lstStyle/>
          <a:p>
            <a:pPr indent="0" marL="0">
              <a:buNone/>
            </a:pPr>
            <a:r>
              <a:rPr lang="en-US" sz="1050" b="1" spc="300" kern="0" dirty="0">
                <a:solidFill>
                  <a:srgbClr val="01D294"/>
                </a:solidFill>
                <a:latin typeface="Segoe UI" pitchFamily="34" charset="0"/>
                <a:ea typeface="Segoe UI" pitchFamily="34" charset="-122"/>
                <a:cs typeface="Segoe UI" pitchFamily="34" charset="-120"/>
              </a:rPr>
              <a:t>IN PLAIN WORDS</a:t>
            </a:r>
            <a:endParaRPr lang="en-US" sz="1050" dirty="0"/>
          </a:p>
        </p:txBody>
      </p:sp>
      <p:sp>
        <p:nvSpPr>
          <p:cNvPr id="11" name="Text 9"/>
          <p:cNvSpPr/>
          <p:nvPr/>
        </p:nvSpPr>
        <p:spPr>
          <a:xfrm>
            <a:off x="1051560" y="3765042"/>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A </a:t>
            </a:r>
            <a:pPr algn="l" indent="0" marL="0">
              <a:buNone/>
            </a:pPr>
            <a:r>
              <a:rPr lang="en-US" sz="1720" b="1" dirty="0">
                <a:solidFill>
                  <a:srgbClr val="FFFFFF"/>
                </a:solidFill>
                <a:latin typeface="Segoe UI" pitchFamily="34" charset="0"/>
                <a:ea typeface="Segoe UI" pitchFamily="34" charset="-122"/>
                <a:cs typeface="Segoe UI" pitchFamily="34" charset="-120"/>
              </a:rPr>
              <a:t>token</a:t>
            </a:r>
            <a:pPr algn="l" indent="0" marL="0">
              <a:buNone/>
            </a:pPr>
            <a:r>
              <a:rPr lang="en-US" sz="1720" dirty="0">
                <a:solidFill>
                  <a:srgbClr val="EEF6F3"/>
                </a:solidFill>
                <a:latin typeface="Segoe UI" pitchFamily="34" charset="0"/>
                <a:ea typeface="Segoe UI" pitchFamily="34" charset="-122"/>
                <a:cs typeface="Segoe UI" pitchFamily="34" charset="-120"/>
              </a:rPr>
              <a:t> is a chunk of text: often a short word, sometimes part of a word or a number. English is about 4 tokens per 3 words.</a:t>
            </a:r>
            <a:endParaRPr lang="en-US" sz="1720" dirty="0"/>
          </a:p>
        </p:txBody>
      </p:sp>
      <p:sp>
        <p:nvSpPr>
          <p:cNvPr id="12" name="Text 10"/>
          <p:cNvSpPr/>
          <p:nvPr/>
        </p:nvSpPr>
        <p:spPr>
          <a:xfrm>
            <a:off x="777240" y="4715408"/>
            <a:ext cx="10637215" cy="352806"/>
          </a:xfrm>
          <a:prstGeom prst="rect">
            <a:avLst/>
          </a:prstGeom>
          <a:noFill/>
          <a:ln/>
        </p:spPr>
        <p:txBody>
          <a:bodyPr wrap="square" lIns="0" tIns="0" rIns="0" bIns="0" rtlCol="0" anchor="t"/>
          <a:lstStyle/>
          <a:p>
            <a:pPr algn="l" indent="0" marL="0">
              <a:buNone/>
            </a:pPr>
            <a:r>
              <a:rPr lang="en-US" sz="1700" dirty="0">
                <a:solidFill>
                  <a:srgbClr val="EEF6F3"/>
                </a:solidFill>
                <a:latin typeface="Segoe UI" pitchFamily="34" charset="0"/>
                <a:ea typeface="Segoe UI" pitchFamily="34" charset="-122"/>
                <a:cs typeface="Segoe UI" pitchFamily="34" charset="-120"/>
              </a:rPr>
              <a:t>The order number </a:t>
            </a:r>
            <a:pPr algn="l" indent="0" marL="0">
              <a:buNone/>
            </a:pPr>
            <a:r>
              <a:rPr lang="en-US" sz="1500" dirty="0">
                <a:solidFill>
                  <a:srgbClr val="D8FFF0"/>
                </a:solidFill>
                <a:latin typeface="Consolas" pitchFamily="34" charset="0"/>
                <a:ea typeface="Consolas" pitchFamily="34" charset="-122"/>
                <a:cs typeface="Consolas" pitchFamily="34" charset="-120"/>
              </a:rPr>
              <a:t>48291</a:t>
            </a:r>
            <a:pPr algn="l" indent="0" marL="0">
              <a:buNone/>
            </a:pPr>
            <a:r>
              <a:rPr lang="en-US" sz="1700" dirty="0">
                <a:solidFill>
                  <a:srgbClr val="EEF6F3"/>
                </a:solidFill>
                <a:latin typeface="Segoe UI" pitchFamily="34" charset="0"/>
                <a:ea typeface="Segoe UI" pitchFamily="34" charset="-122"/>
                <a:cs typeface="Segoe UI" pitchFamily="34" charset="-120"/>
              </a:rPr>
              <a:t> became two tokens. The model never sees it as one thing.</a:t>
            </a:r>
            <a:endParaRPr lang="en-US" sz="1700" dirty="0"/>
          </a:p>
        </p:txBody>
      </p:sp>
      <p:sp>
        <p:nvSpPr>
          <p:cNvPr id="13" name="Text 11"/>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4" name="Text 12"/>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23 / 32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06</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Same request, different price per language</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577340"/>
          <a:ext cx="10637215" cy="914400"/>
        </p:xfrm>
        <a:graphic>
          <a:graphicData uri="http://schemas.openxmlformats.org/drawingml/2006/table">
            <a:tbl>
              <a:tblPr/>
              <a:tblGrid>
                <a:gridCol w="7637069"/>
                <a:gridCol w="1363370"/>
                <a:gridCol w="1636776"/>
              </a:tblGrid>
              <a:tr h="0">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The same request</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Words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Tokens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I want a refund for my order</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7</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7</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أريد استرداد المبلغ لطلبي</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4</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10</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بدي رجّع المصاري</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3</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7</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bl>
          </a:graphicData>
        </a:graphic>
      </p:graphicFrame>
      <p:sp>
        <p:nvSpPr>
          <p:cNvPr id="7" name="Text 4"/>
          <p:cNvSpPr/>
          <p:nvPr/>
        </p:nvSpPr>
        <p:spPr>
          <a:xfrm>
            <a:off x="777240" y="3279648"/>
            <a:ext cx="10637215" cy="755904"/>
          </a:xfrm>
          <a:prstGeom prst="rect">
            <a:avLst/>
          </a:prstGeom>
          <a:noFill/>
          <a:ln/>
        </p:spPr>
        <p:txBody>
          <a:bodyPr wrap="square" lIns="0" tIns="0" rIns="0" bIns="0" rtlCol="0" anchor="t"/>
          <a:lstStyle/>
          <a:p>
            <a:pPr algn="l" indent="0" marL="0">
              <a:buNone/>
            </a:pPr>
            <a:r>
              <a:rPr lang="en-US" sz="2000" dirty="0">
                <a:solidFill>
                  <a:srgbClr val="EEF6F3"/>
                </a:solidFill>
                <a:latin typeface="Segoe UI" pitchFamily="34" charset="0"/>
                <a:ea typeface="Segoe UI" pitchFamily="34" charset="-122"/>
                <a:cs typeface="Segoe UI" pitchFamily="34" charset="-120"/>
              </a:rPr>
              <a:t>The tokenizer learned mostly from English, so other languages get cut into more pieces. </a:t>
            </a:r>
            <a:pPr algn="l" indent="0" marL="0">
              <a:buNone/>
            </a:pPr>
            <a:r>
              <a:rPr lang="en-US" sz="1760" dirty="0">
                <a:solidFill>
                  <a:srgbClr val="D8FFF0"/>
                </a:solidFill>
                <a:latin typeface="Consolas" pitchFamily="34" charset="0"/>
                <a:ea typeface="Consolas" pitchFamily="34" charset="-122"/>
                <a:cs typeface="Consolas" pitchFamily="34" charset="-120"/>
              </a:rPr>
              <a:t>refund</a:t>
            </a:r>
            <a:pPr algn="l" indent="0" marL="0">
              <a:buNone/>
            </a:pPr>
            <a:r>
              <a:rPr lang="en-US" sz="2000" dirty="0">
                <a:solidFill>
                  <a:srgbClr val="EEF6F3"/>
                </a:solidFill>
                <a:latin typeface="Segoe UI" pitchFamily="34" charset="0"/>
                <a:ea typeface="Segoe UI" pitchFamily="34" charset="-122"/>
                <a:cs typeface="Segoe UI" pitchFamily="34" charset="-120"/>
              </a:rPr>
              <a:t> is 1 token; استرداد is 3.</a:t>
            </a:r>
            <a:endParaRPr lang="en-US" sz="2000" dirty="0"/>
          </a:p>
        </p:txBody>
      </p:sp>
      <p:sp>
        <p:nvSpPr>
          <p:cNvPr id="8" name="Shape 5"/>
          <p:cNvSpPr/>
          <p:nvPr/>
        </p:nvSpPr>
        <p:spPr>
          <a:xfrm>
            <a:off x="777240" y="4163568"/>
            <a:ext cx="10637215" cy="868375"/>
          </a:xfrm>
          <a:prstGeom prst="roundRect">
            <a:avLst>
              <a:gd name="adj" fmla="val 10530"/>
            </a:avLst>
          </a:prstGeom>
          <a:solidFill>
            <a:srgbClr val="112A45"/>
          </a:solidFill>
          <a:ln w="12700">
            <a:solidFill>
              <a:srgbClr val="112A45"/>
            </a:solidFill>
            <a:prstDash val="solid"/>
          </a:ln>
        </p:spPr>
      </p:sp>
      <p:sp>
        <p:nvSpPr>
          <p:cNvPr id="9" name="Shape 6"/>
          <p:cNvSpPr/>
          <p:nvPr/>
        </p:nvSpPr>
        <p:spPr>
          <a:xfrm>
            <a:off x="777240" y="4163568"/>
            <a:ext cx="82296" cy="868375"/>
          </a:xfrm>
          <a:prstGeom prst="rect">
            <a:avLst/>
          </a:prstGeom>
          <a:solidFill>
            <a:srgbClr val="5AA2FF"/>
          </a:solidFill>
          <a:ln w="12700">
            <a:solidFill>
              <a:srgbClr val="5AA2FF"/>
            </a:solidFill>
            <a:prstDash val="solid"/>
          </a:ln>
        </p:spPr>
      </p:sp>
      <p:sp>
        <p:nvSpPr>
          <p:cNvPr id="10" name="Text 7"/>
          <p:cNvSpPr/>
          <p:nvPr/>
        </p:nvSpPr>
        <p:spPr>
          <a:xfrm>
            <a:off x="1051560" y="4273296"/>
            <a:ext cx="10225735" cy="237744"/>
          </a:xfrm>
          <a:prstGeom prst="rect">
            <a:avLst/>
          </a:prstGeom>
          <a:noFill/>
          <a:ln/>
        </p:spPr>
        <p:txBody>
          <a:bodyPr wrap="square" lIns="0" tIns="0" rIns="0" bIns="0" rtlCol="0" anchor="t"/>
          <a:lstStyle/>
          <a:p>
            <a:pPr indent="0" marL="0">
              <a:buNone/>
            </a:pPr>
            <a:r>
              <a:rPr lang="en-US" sz="1050" b="1" spc="300" kern="0" dirty="0">
                <a:solidFill>
                  <a:srgbClr val="5AA2FF"/>
                </a:solidFill>
                <a:latin typeface="Segoe UI" pitchFamily="34" charset="0"/>
                <a:ea typeface="Segoe UI" pitchFamily="34" charset="-122"/>
                <a:cs typeface="Segoe UI" pitchFamily="34" charset="-120"/>
              </a:rPr>
              <a:t>GOOD TO KNOW</a:t>
            </a:r>
            <a:endParaRPr lang="en-US" sz="1050" dirty="0"/>
          </a:p>
        </p:txBody>
      </p:sp>
      <p:sp>
        <p:nvSpPr>
          <p:cNvPr id="11" name="Text 8"/>
          <p:cNvSpPr/>
          <p:nvPr/>
        </p:nvSpPr>
        <p:spPr>
          <a:xfrm>
            <a:off x="1051560" y="4511040"/>
            <a:ext cx="10225735" cy="356311"/>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Try yours: </a:t>
            </a:r>
            <a:pPr algn="l" indent="0" marL="0">
              <a:buNone/>
            </a:pPr>
            <a:r>
              <a:rPr lang="en-US" sz="1510" dirty="0">
                <a:solidFill>
                  <a:srgbClr val="D8FFF0"/>
                </a:solidFill>
                <a:latin typeface="Consolas" pitchFamily="34" charset="0"/>
                <a:ea typeface="Consolas" pitchFamily="34" charset="-122"/>
                <a:cs typeface="Consolas" pitchFamily="34" charset="-120"/>
              </a:rPr>
              <a:t>py code\count_tokens.py --text "your sentence"</a:t>
            </a:r>
            <a:endParaRPr lang="en-US" sz="1720" dirty="0"/>
          </a:p>
        </p:txBody>
      </p:sp>
      <p:sp>
        <p:nvSpPr>
          <p:cNvPr id="12" name="Text 9"/>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3" name="Text 10"/>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24 / 32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06</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What one ticket costs</a:t>
            </a:r>
            <a:endParaRPr lang="en-US" sz="3000" dirty="0"/>
          </a:p>
        </p:txBody>
      </p:sp>
      <p:sp>
        <p:nvSpPr>
          <p:cNvPr id="6" name="Text 4"/>
          <p:cNvSpPr/>
          <p:nvPr/>
        </p:nvSpPr>
        <p:spPr>
          <a:xfrm>
            <a:off x="777240" y="1577340"/>
            <a:ext cx="10637215" cy="405384"/>
          </a:xfrm>
          <a:prstGeom prst="rect">
            <a:avLst/>
          </a:prstGeom>
          <a:noFill/>
          <a:ln/>
        </p:spPr>
        <p:txBody>
          <a:bodyPr wrap="square" lIns="0" tIns="0" rIns="0" bIns="0" rtlCol="0" anchor="t"/>
          <a:lstStyle/>
          <a:p>
            <a:pPr algn="l" indent="0" marL="0">
              <a:buNone/>
            </a:pPr>
            <a:r>
              <a:rPr lang="en-US" sz="2000" dirty="0">
                <a:solidFill>
                  <a:srgbClr val="EEF6F3"/>
                </a:solidFill>
                <a:latin typeface="Segoe UI" pitchFamily="34" charset="0"/>
                <a:ea typeface="Segoe UI" pitchFamily="34" charset="-122"/>
                <a:cs typeface="Segoe UI" pitchFamily="34" charset="-120"/>
              </a:rPr>
              <a:t>Read ticket T-1001 (47 tokens) and write a 150-token reply:</a:t>
            </a:r>
            <a:endParaRPr lang="en-US" sz="2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77240" y="2110740"/>
          <a:ext cx="10637215" cy="914400"/>
        </p:xfrm>
        <a:graphic>
          <a:graphicData uri="http://schemas.openxmlformats.org/drawingml/2006/table">
            <a:tbl>
              <a:tblPr/>
              <a:tblGrid>
                <a:gridCol w="5754319"/>
                <a:gridCol w="1743761"/>
                <a:gridCol w="3139135"/>
              </a:tblGrid>
              <a:tr h="0">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Model</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Per ticket</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Per 10,000 tickets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r>
              <a:tr h="0">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gpt-4o-mini</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$0.000097</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B4F05A"/>
                          </a:solidFill>
                          <a:latin typeface="Segoe UI" pitchFamily="34" charset="0"/>
                          <a:ea typeface="Segoe UI" pitchFamily="34" charset="-122"/>
                          <a:cs typeface="Segoe UI" pitchFamily="34" charset="-120"/>
                        </a:rPr>
                        <a:t>$0.97</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gemini-3.5-flash-lite</a:t>
                      </a:r>
                      <a:pPr indent="0" marL="0">
                        <a:buNone/>
                      </a:pPr>
                      <a:r>
                        <a:rPr lang="en-US" sz="1450" dirty="0">
                          <a:solidFill>
                            <a:srgbClr val="EEF6F3"/>
                          </a:solidFill>
                          <a:latin typeface="Segoe UI" pitchFamily="34" charset="0"/>
                          <a:ea typeface="Segoe UI" pitchFamily="34" charset="-122"/>
                          <a:cs typeface="Segoe UI" pitchFamily="34" charset="-120"/>
                        </a:rPr>
                        <a:t> (paid tier)</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$0.000389</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$3.89</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280" dirty="0">
                          <a:solidFill>
                            <a:srgbClr val="D8FFF0"/>
                          </a:solidFill>
                          <a:latin typeface="Consolas" pitchFamily="34" charset="0"/>
                          <a:ea typeface="Consolas" pitchFamily="34" charset="-122"/>
                          <a:cs typeface="Consolas" pitchFamily="34" charset="-120"/>
                        </a:rPr>
                        <a:t>gpt-4o</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$0.001618</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FF7A7A"/>
                          </a:solidFill>
                          <a:latin typeface="Segoe UI" pitchFamily="34" charset="0"/>
                          <a:ea typeface="Segoe UI" pitchFamily="34" charset="-122"/>
                          <a:cs typeface="Segoe UI" pitchFamily="34" charset="-120"/>
                        </a:rPr>
                        <a:t>$16.18</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bl>
          </a:graphicData>
        </a:graphic>
      </p:graphicFrame>
      <p:sp>
        <p:nvSpPr>
          <p:cNvPr id="8" name="Text 5"/>
          <p:cNvSpPr/>
          <p:nvPr/>
        </p:nvSpPr>
        <p:spPr>
          <a:xfrm>
            <a:off x="777240" y="3813048"/>
            <a:ext cx="10637215" cy="1225296"/>
          </a:xfrm>
          <a:prstGeom prst="rect">
            <a:avLst/>
          </a:prstGeom>
          <a:noFill/>
          <a:ln/>
        </p:spPr>
        <p:txBody>
          <a:bodyPr wrap="square" lIns="0" tIns="0" rIns="0" bIns="0" rtlCol="0" anchor="t"/>
          <a:lstStyle/>
          <a:p>
            <a:pPr marL="279400" indent="-279400">
              <a:spcAft>
                <a:spcPts val="500"/>
              </a:spcAft>
              <a:buSzPct val="100000"/>
              <a:buChar char="•"/>
            </a:pPr>
            <a:r>
              <a:rPr lang="en-US" sz="2000" dirty="0">
                <a:solidFill>
                  <a:srgbClr val="EEF6F3"/>
                </a:solidFill>
                <a:latin typeface="Segoe UI" pitchFamily="34" charset="0"/>
                <a:ea typeface="Segoe UI" pitchFamily="34" charset="-122"/>
                <a:cs typeface="Segoe UI" pitchFamily="34" charset="-120"/>
              </a:rPr>
              <a:t>Priced per million tokens. </a:t>
            </a:r>
            <a:pPr indent="0" marL="0">
              <a:buNone/>
            </a:pPr>
            <a:r>
              <a:rPr lang="en-US" sz="2000" b="1" dirty="0">
                <a:solidFill>
                  <a:srgbClr val="FFFFFF"/>
                </a:solidFill>
                <a:latin typeface="Segoe UI" pitchFamily="34" charset="0"/>
                <a:ea typeface="Segoe UI" pitchFamily="34" charset="-122"/>
                <a:cs typeface="Segoe UI" pitchFamily="34" charset="-120"/>
              </a:rPr>
              <a:t>Output</a:t>
            </a:r>
            <a:pPr indent="0" marL="0">
              <a:buNone/>
            </a:pPr>
            <a:r>
              <a:rPr lang="en-US" sz="2000" dirty="0">
                <a:solidFill>
                  <a:srgbClr val="EEF6F3"/>
                </a:solidFill>
                <a:latin typeface="Segoe UI" pitchFamily="34" charset="0"/>
                <a:ea typeface="Segoe UI" pitchFamily="34" charset="-122"/>
                <a:cs typeface="Segoe UI" pitchFamily="34" charset="-120"/>
              </a:rPr>
              <a:t> costs more than input.</a:t>
            </a:r>
            <a:endParaRPr lang="en-US" sz="2000" dirty="0"/>
          </a:p>
          <a:p>
            <a:pPr marL="279400" indent="-279400">
              <a:spcAft>
                <a:spcPts val="500"/>
              </a:spcAft>
              <a:buSzPct val="100000"/>
              <a:buChar char="•"/>
            </a:pPr>
            <a:r>
              <a:rPr lang="en-US" sz="2000" dirty="0">
                <a:solidFill>
                  <a:srgbClr val="EEF6F3"/>
                </a:solidFill>
                <a:latin typeface="Segoe UI" pitchFamily="34" charset="0"/>
                <a:ea typeface="Segoe UI" pitchFamily="34" charset="-122"/>
                <a:cs typeface="Segoe UI" pitchFamily="34" charset="-120"/>
              </a:rPr>
              <a:t>One call is a fraction of a cent. The choice of model is a </a:t>
            </a:r>
            <a:pPr indent="0" marL="0">
              <a:buNone/>
            </a:pPr>
            <a:r>
              <a:rPr lang="en-US" sz="2000" b="1" dirty="0">
                <a:solidFill>
                  <a:srgbClr val="FFFFFF"/>
                </a:solidFill>
                <a:latin typeface="Segoe UI" pitchFamily="34" charset="0"/>
                <a:ea typeface="Segoe UI" pitchFamily="34" charset="-122"/>
                <a:cs typeface="Segoe UI" pitchFamily="34" charset="-120"/>
              </a:rPr>
              <a:t>17×</a:t>
            </a:r>
            <a:pPr indent="0" marL="0">
              <a:buNone/>
            </a:pPr>
            <a:r>
              <a:rPr lang="en-US" sz="2000" dirty="0">
                <a:solidFill>
                  <a:srgbClr val="EEF6F3"/>
                </a:solidFill>
                <a:latin typeface="Segoe UI" pitchFamily="34" charset="0"/>
                <a:ea typeface="Segoe UI" pitchFamily="34" charset="-122"/>
                <a:cs typeface="Segoe UI" pitchFamily="34" charset="-120"/>
              </a:rPr>
              <a:t> difference in the bill.</a:t>
            </a:r>
            <a:endParaRPr lang="en-US" sz="2000" dirty="0"/>
          </a:p>
        </p:txBody>
      </p:sp>
      <p:sp>
        <p:nvSpPr>
          <p:cNvPr id="9" name="Text 6"/>
          <p:cNvSpPr/>
          <p:nvPr/>
        </p:nvSpPr>
        <p:spPr>
          <a:xfrm>
            <a:off x="777240" y="5166360"/>
            <a:ext cx="10637215" cy="352806"/>
          </a:xfrm>
          <a:prstGeom prst="rect">
            <a:avLst/>
          </a:prstGeom>
          <a:noFill/>
          <a:ln/>
        </p:spPr>
        <p:txBody>
          <a:bodyPr wrap="square" lIns="0" tIns="0" rIns="0" bIns="0" rtlCol="0" anchor="t"/>
          <a:lstStyle/>
          <a:p>
            <a:pPr algn="l" indent="0" marL="0">
              <a:buNone/>
            </a:pPr>
            <a:r>
              <a:rPr lang="en-US" sz="1700" dirty="0">
                <a:solidFill>
                  <a:srgbClr val="9DB5B1"/>
                </a:solidFill>
                <a:latin typeface="Segoe UI" pitchFamily="34" charset="0"/>
                <a:ea typeface="Segoe UI" pitchFamily="34" charset="-122"/>
                <a:cs typeface="Segoe UI" pitchFamily="34" charset="-120"/>
              </a:rPr>
              <a:t>Prices checked October 2026. They change: always check the provider's pricing page.</a:t>
            </a:r>
            <a:endParaRPr lang="en-US" sz="1700" dirty="0"/>
          </a:p>
        </p:txBody>
      </p:sp>
      <p:sp>
        <p:nvSpPr>
          <p:cNvPr id="10" name="Text 7"/>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1" name="Text 8"/>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25 / 32</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Shape 2"/>
          <p:cNvSpPr/>
          <p:nvPr/>
        </p:nvSpPr>
        <p:spPr>
          <a:xfrm>
            <a:off x="0" y="0"/>
            <a:ext cx="118872" cy="6858000"/>
          </a:xfrm>
          <a:prstGeom prst="rect">
            <a:avLst/>
          </a:prstGeom>
          <a:solidFill>
            <a:srgbClr val="5AA2FF"/>
          </a:solidFill>
          <a:ln w="12700">
            <a:solidFill>
              <a:srgbClr val="5AA2FF"/>
            </a:solidFill>
            <a:prstDash val="solid"/>
          </a:ln>
        </p:spPr>
      </p:sp>
      <p:sp>
        <p:nvSpPr>
          <p:cNvPr id="5" name="Text 3"/>
          <p:cNvSpPr/>
          <p:nvPr/>
        </p:nvSpPr>
        <p:spPr>
          <a:xfrm>
            <a:off x="9585655" y="411480"/>
            <a:ext cx="1828800" cy="329184"/>
          </a:xfrm>
          <a:prstGeom prst="roundRect">
            <a:avLst>
              <a:gd name="adj" fmla="val 22222"/>
            </a:avLst>
          </a:prstGeom>
          <a:solidFill>
            <a:srgbClr val="5AA2FF"/>
          </a:solidFill>
          <a:ln/>
        </p:spPr>
        <p:txBody>
          <a:bodyPr wrap="square" lIns="0" tIns="0" rIns="0" bIns="0" rtlCol="0" anchor="ctr"/>
          <a:lstStyle/>
          <a:p>
            <a:pPr algn="ctr" indent="0" marL="0">
              <a:buNone/>
            </a:pPr>
            <a:r>
              <a:rPr lang="en-US" sz="1200" b="1" spc="400" kern="0" dirty="0">
                <a:solidFill>
                  <a:srgbClr val="0C1A1D"/>
                </a:solidFill>
                <a:latin typeface="Segoe UI" pitchFamily="34" charset="0"/>
                <a:ea typeface="Segoe UI" pitchFamily="34" charset="-122"/>
                <a:cs typeface="Segoe UI" pitchFamily="34" charset="-120"/>
              </a:rPr>
              <a:t>QUICK CHECK</a:t>
            </a:r>
            <a:endParaRPr lang="en-US" sz="1200" dirty="0"/>
          </a:p>
        </p:txBody>
      </p:sp>
      <p:sp>
        <p:nvSpPr>
          <p:cNvPr id="6" name="Text 4"/>
          <p:cNvSpPr/>
          <p:nvPr/>
        </p:nvSpPr>
        <p:spPr>
          <a:xfrm>
            <a:off x="777240" y="457200"/>
            <a:ext cx="1819656" cy="274320"/>
          </a:xfrm>
          <a:prstGeom prst="roundRect">
            <a:avLst>
              <a:gd name="adj" fmla="val 50000"/>
            </a:avLst>
          </a:prstGeom>
          <a:solidFill>
            <a:srgbClr val="5AA2FF"/>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QUICK CHECK</a:t>
            </a:r>
            <a:endParaRPr lang="en-US" sz="1100" dirty="0"/>
          </a:p>
        </p:txBody>
      </p:sp>
      <p:sp>
        <p:nvSpPr>
          <p:cNvPr id="7" name="Text 5"/>
          <p:cNvSpPr/>
          <p:nvPr/>
        </p:nvSpPr>
        <p:spPr>
          <a:xfrm>
            <a:off x="777240" y="841248"/>
            <a:ext cx="862553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Keys, providers, tokens</a:t>
            </a:r>
            <a:endParaRPr lang="en-US" sz="3000" dirty="0"/>
          </a:p>
        </p:txBody>
      </p:sp>
      <p:sp>
        <p:nvSpPr>
          <p:cNvPr id="8" name="Text 6"/>
          <p:cNvSpPr/>
          <p:nvPr/>
        </p:nvSpPr>
        <p:spPr>
          <a:xfrm>
            <a:off x="777240" y="1577340"/>
            <a:ext cx="10637215" cy="1289304"/>
          </a:xfrm>
          <a:prstGeom prst="rect">
            <a:avLst/>
          </a:prstGeom>
          <a:noFill/>
          <a:ln/>
        </p:spPr>
        <p:txBody>
          <a:bodyPr wrap="square" lIns="0" tIns="0" rIns="0" bIns="0" rtlCol="0" anchor="t"/>
          <a:lstStyle/>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To switch </a:t>
            </a:r>
            <a:pPr indent="0" marL="0">
              <a:buNone/>
            </a:pPr>
            <a:r>
              <a:rPr lang="en-US" sz="2000" dirty="0">
                <a:solidFill>
                  <a:srgbClr val="D8FFF0"/>
                </a:solidFill>
                <a:latin typeface="Consolas" pitchFamily="34" charset="0"/>
                <a:ea typeface="Consolas" pitchFamily="34" charset="-122"/>
                <a:cs typeface="Consolas" pitchFamily="34" charset="-120"/>
              </a:rPr>
              <a:t>chat.py</a:t>
            </a:r>
            <a:pPr indent="0" marL="0">
              <a:buNone/>
            </a:pPr>
            <a:r>
              <a:rPr lang="en-US" sz="2000" dirty="0">
                <a:solidFill>
                  <a:srgbClr val="EEF6F3"/>
                </a:solidFill>
                <a:latin typeface="Segoe UI" pitchFamily="34" charset="0"/>
                <a:ea typeface="Segoe UI" pitchFamily="34" charset="-122"/>
                <a:cs typeface="Segoe UI" pitchFamily="34" charset="-120"/>
              </a:rPr>
              <a:t> from Gemini to OpenRouter, which </a:t>
            </a:r>
            <a:pPr indent="0" marL="0">
              <a:buNone/>
            </a:pPr>
            <a:r>
              <a:rPr lang="en-US" sz="2000" b="1" dirty="0">
                <a:solidFill>
                  <a:srgbClr val="FFFFFF"/>
                </a:solidFill>
                <a:latin typeface="Segoe UI" pitchFamily="34" charset="0"/>
                <a:ea typeface="Segoe UI" pitchFamily="34" charset="-122"/>
                <a:cs typeface="Segoe UI" pitchFamily="34" charset="-120"/>
              </a:rPr>
              <a:t>three</a:t>
            </a:r>
            <a:pPr indent="0" marL="0">
              <a:buNone/>
            </a:pPr>
            <a:r>
              <a:rPr lang="en-US" sz="2000" dirty="0">
                <a:solidFill>
                  <a:srgbClr val="EEF6F3"/>
                </a:solidFill>
                <a:latin typeface="Segoe UI" pitchFamily="34" charset="0"/>
                <a:ea typeface="Segoe UI" pitchFamily="34" charset="-122"/>
                <a:cs typeface="Segoe UI" pitchFamily="34" charset="-120"/>
              </a:rPr>
              <a:t> things change?</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You pushed a key to GitHub by mistake. What do you do first?</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Which costs more per token: what you send, or what the model writes?</a:t>
            </a:r>
            <a:endParaRPr lang="en-US" sz="2000" dirty="0"/>
          </a:p>
        </p:txBody>
      </p:sp>
      <p:sp>
        <p:nvSpPr>
          <p:cNvPr id="9" name="Text 7"/>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0" name="Text 8"/>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26 / 32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07</a:t>
            </a:r>
            <a:endParaRPr lang="en-US" sz="1100" dirty="0"/>
          </a:p>
        </p:txBody>
      </p:sp>
      <p:sp>
        <p:nvSpPr>
          <p:cNvPr id="5" name="Text 3"/>
          <p:cNvSpPr/>
          <p:nvPr/>
        </p:nvSpPr>
        <p:spPr>
          <a:xfrm>
            <a:off x="777240" y="841248"/>
            <a:ext cx="10637215" cy="109728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A taste of Resolvo: the model suggests, your code decides</a:t>
            </a:r>
            <a:endParaRPr lang="en-US" sz="3000" dirty="0"/>
          </a:p>
        </p:txBody>
      </p:sp>
      <p:sp>
        <p:nvSpPr>
          <p:cNvPr id="6" name="Shape 4"/>
          <p:cNvSpPr/>
          <p:nvPr/>
        </p:nvSpPr>
        <p:spPr>
          <a:xfrm>
            <a:off x="777240" y="2103120"/>
            <a:ext cx="10637215" cy="1239012"/>
          </a:xfrm>
          <a:prstGeom prst="roundRect">
            <a:avLst>
              <a:gd name="adj" fmla="val 8856"/>
            </a:avLst>
          </a:prstGeom>
          <a:solidFill>
            <a:srgbClr val="13272B"/>
          </a:solidFill>
          <a:ln w="9525">
            <a:solidFill>
              <a:srgbClr val="24413F"/>
            </a:solidFill>
            <a:prstDash val="solid"/>
          </a:ln>
        </p:spPr>
      </p:sp>
      <p:sp>
        <p:nvSpPr>
          <p:cNvPr id="7" name="Text 5"/>
          <p:cNvSpPr/>
          <p:nvPr/>
        </p:nvSpPr>
        <p:spPr>
          <a:xfrm>
            <a:off x="960120" y="2212848"/>
            <a:ext cx="10271455" cy="1056132"/>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 code\taste_of_resolvo.py --provider gemini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T-1002: Hi, checking on order O-58204 (SoundBar Mini). It says shipped...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{'category': 'shipping_delay', 'priority': 'low', 'sentiment': 'calm'}</a:t>
            </a:r>
            <a:endParaRPr lang="en-US" sz="1350" dirty="0"/>
          </a:p>
        </p:txBody>
      </p:sp>
      <p:sp>
        <p:nvSpPr>
          <p:cNvPr id="8" name="Shape 6"/>
          <p:cNvSpPr/>
          <p:nvPr/>
        </p:nvSpPr>
        <p:spPr>
          <a:xfrm>
            <a:off x="777240" y="3470148"/>
            <a:ext cx="3393338" cy="1394879"/>
          </a:xfrm>
          <a:prstGeom prst="roundRect">
            <a:avLst>
              <a:gd name="adj" fmla="val 6555"/>
            </a:avLst>
          </a:prstGeom>
          <a:solidFill>
            <a:srgbClr val="13272B"/>
          </a:solidFill>
          <a:ln w="12700">
            <a:solidFill>
              <a:srgbClr val="13272B"/>
            </a:solidFill>
            <a:prstDash val="solid"/>
          </a:ln>
        </p:spPr>
      </p:sp>
      <p:sp>
        <p:nvSpPr>
          <p:cNvPr id="9" name="Shape 7"/>
          <p:cNvSpPr/>
          <p:nvPr/>
        </p:nvSpPr>
        <p:spPr>
          <a:xfrm>
            <a:off x="777240" y="3470148"/>
            <a:ext cx="3393338" cy="64008"/>
          </a:xfrm>
          <a:prstGeom prst="rect">
            <a:avLst/>
          </a:prstGeom>
          <a:solidFill>
            <a:srgbClr val="01D294"/>
          </a:solidFill>
          <a:ln w="12700">
            <a:solidFill>
              <a:srgbClr val="01D294"/>
            </a:solidFill>
            <a:prstDash val="solid"/>
          </a:ln>
        </p:spPr>
      </p:sp>
      <p:sp>
        <p:nvSpPr>
          <p:cNvPr id="10" name="Text 8"/>
          <p:cNvSpPr/>
          <p:nvPr/>
        </p:nvSpPr>
        <p:spPr>
          <a:xfrm>
            <a:off x="905256" y="3662172"/>
            <a:ext cx="3137306" cy="367703"/>
          </a:xfrm>
          <a:prstGeom prst="rect">
            <a:avLst/>
          </a:prstGeom>
          <a:noFill/>
          <a:ln/>
        </p:spPr>
        <p:txBody>
          <a:bodyPr wrap="square" lIns="0" tIns="0" rIns="0" bIns="0" rtlCol="0" anchor="t"/>
          <a:lstStyle/>
          <a:p>
            <a:pPr algn="l" indent="0" marL="0">
              <a:buNone/>
            </a:pPr>
            <a:r>
              <a:rPr lang="en-US" sz="1785" b="1" dirty="0">
                <a:solidFill>
                  <a:srgbClr val="01D294"/>
                </a:solidFill>
                <a:latin typeface="Segoe UI" pitchFamily="34" charset="0"/>
                <a:ea typeface="Segoe UI" pitchFamily="34" charset="-122"/>
                <a:cs typeface="Segoe UI" pitchFamily="34" charset="-120"/>
              </a:rPr>
              <a:t>1. Valid JSON?</a:t>
            </a:r>
            <a:endParaRPr lang="en-US" sz="1785" dirty="0"/>
          </a:p>
        </p:txBody>
      </p:sp>
      <p:sp>
        <p:nvSpPr>
          <p:cNvPr id="11" name="Text 9"/>
          <p:cNvSpPr/>
          <p:nvPr/>
        </p:nvSpPr>
        <p:spPr>
          <a:xfrm>
            <a:off x="905256" y="4066451"/>
            <a:ext cx="3137306" cy="335280"/>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Not "Sure! Here's the JSON…"</a:t>
            </a:r>
            <a:endParaRPr lang="en-US" sz="1600" dirty="0"/>
          </a:p>
        </p:txBody>
      </p:sp>
      <p:sp>
        <p:nvSpPr>
          <p:cNvPr id="12" name="Shape 10"/>
          <p:cNvSpPr/>
          <p:nvPr/>
        </p:nvSpPr>
        <p:spPr>
          <a:xfrm>
            <a:off x="4399178" y="3470148"/>
            <a:ext cx="3393338" cy="1394879"/>
          </a:xfrm>
          <a:prstGeom prst="roundRect">
            <a:avLst>
              <a:gd name="adj" fmla="val 6555"/>
            </a:avLst>
          </a:prstGeom>
          <a:solidFill>
            <a:srgbClr val="13272B"/>
          </a:solidFill>
          <a:ln w="12700">
            <a:solidFill>
              <a:srgbClr val="13272B"/>
            </a:solidFill>
            <a:prstDash val="solid"/>
          </a:ln>
        </p:spPr>
      </p:sp>
      <p:sp>
        <p:nvSpPr>
          <p:cNvPr id="13" name="Shape 11"/>
          <p:cNvSpPr/>
          <p:nvPr/>
        </p:nvSpPr>
        <p:spPr>
          <a:xfrm>
            <a:off x="4399178" y="3470148"/>
            <a:ext cx="3393338" cy="64008"/>
          </a:xfrm>
          <a:prstGeom prst="rect">
            <a:avLst/>
          </a:prstGeom>
          <a:solidFill>
            <a:srgbClr val="5AA2FF"/>
          </a:solidFill>
          <a:ln w="12700">
            <a:solidFill>
              <a:srgbClr val="5AA2FF"/>
            </a:solidFill>
            <a:prstDash val="solid"/>
          </a:ln>
        </p:spPr>
      </p:sp>
      <p:sp>
        <p:nvSpPr>
          <p:cNvPr id="14" name="Text 12"/>
          <p:cNvSpPr/>
          <p:nvPr/>
        </p:nvSpPr>
        <p:spPr>
          <a:xfrm>
            <a:off x="4527194" y="3662172"/>
            <a:ext cx="3137306" cy="367703"/>
          </a:xfrm>
          <a:prstGeom prst="rect">
            <a:avLst/>
          </a:prstGeom>
          <a:noFill/>
          <a:ln/>
        </p:spPr>
        <p:txBody>
          <a:bodyPr wrap="square" lIns="0" tIns="0" rIns="0" bIns="0" rtlCol="0" anchor="t"/>
          <a:lstStyle/>
          <a:p>
            <a:pPr algn="l" indent="0" marL="0">
              <a:buNone/>
            </a:pPr>
            <a:r>
              <a:rPr lang="en-US" sz="1785" b="1" dirty="0">
                <a:solidFill>
                  <a:srgbClr val="5AA2FF"/>
                </a:solidFill>
                <a:latin typeface="Segoe UI" pitchFamily="34" charset="0"/>
                <a:ea typeface="Segoe UI" pitchFamily="34" charset="-122"/>
                <a:cs typeface="Segoe UI" pitchFamily="34" charset="-120"/>
              </a:rPr>
              <a:t>2. An object?</a:t>
            </a:r>
            <a:endParaRPr lang="en-US" sz="1785" dirty="0"/>
          </a:p>
        </p:txBody>
      </p:sp>
      <p:sp>
        <p:nvSpPr>
          <p:cNvPr id="15" name="Text 13"/>
          <p:cNvSpPr/>
          <p:nvPr/>
        </p:nvSpPr>
        <p:spPr>
          <a:xfrm>
            <a:off x="4527194" y="4066451"/>
            <a:ext cx="3137306" cy="615696"/>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A dict, not a list or a string.</a:t>
            </a:r>
            <a:endParaRPr lang="en-US" sz="1600" dirty="0"/>
          </a:p>
        </p:txBody>
      </p:sp>
      <p:sp>
        <p:nvSpPr>
          <p:cNvPr id="16" name="Shape 14"/>
          <p:cNvSpPr/>
          <p:nvPr/>
        </p:nvSpPr>
        <p:spPr>
          <a:xfrm>
            <a:off x="8021117" y="3470148"/>
            <a:ext cx="3393338" cy="1394879"/>
          </a:xfrm>
          <a:prstGeom prst="roundRect">
            <a:avLst>
              <a:gd name="adj" fmla="val 6555"/>
            </a:avLst>
          </a:prstGeom>
          <a:solidFill>
            <a:srgbClr val="13272B"/>
          </a:solidFill>
          <a:ln w="12700">
            <a:solidFill>
              <a:srgbClr val="13272B"/>
            </a:solidFill>
            <a:prstDash val="solid"/>
          </a:ln>
        </p:spPr>
      </p:sp>
      <p:sp>
        <p:nvSpPr>
          <p:cNvPr id="17" name="Shape 15"/>
          <p:cNvSpPr/>
          <p:nvPr/>
        </p:nvSpPr>
        <p:spPr>
          <a:xfrm>
            <a:off x="8021117" y="3470148"/>
            <a:ext cx="3393338" cy="64008"/>
          </a:xfrm>
          <a:prstGeom prst="rect">
            <a:avLst/>
          </a:prstGeom>
          <a:solidFill>
            <a:srgbClr val="FFC53D"/>
          </a:solidFill>
          <a:ln w="12700">
            <a:solidFill>
              <a:srgbClr val="FFC53D"/>
            </a:solidFill>
            <a:prstDash val="solid"/>
          </a:ln>
        </p:spPr>
      </p:sp>
      <p:sp>
        <p:nvSpPr>
          <p:cNvPr id="18" name="Text 16"/>
          <p:cNvSpPr/>
          <p:nvPr/>
        </p:nvSpPr>
        <p:spPr>
          <a:xfrm>
            <a:off x="8149133" y="3662172"/>
            <a:ext cx="3137306" cy="367703"/>
          </a:xfrm>
          <a:prstGeom prst="rect">
            <a:avLst/>
          </a:prstGeom>
          <a:noFill/>
          <a:ln/>
        </p:spPr>
        <p:txBody>
          <a:bodyPr wrap="square" lIns="0" tIns="0" rIns="0" bIns="0" rtlCol="0" anchor="t"/>
          <a:lstStyle/>
          <a:p>
            <a:pPr algn="l" indent="0" marL="0">
              <a:buNone/>
            </a:pPr>
            <a:r>
              <a:rPr lang="en-US" sz="1785" b="1" dirty="0">
                <a:solidFill>
                  <a:srgbClr val="FFC53D"/>
                </a:solidFill>
                <a:latin typeface="Segoe UI" pitchFamily="34" charset="0"/>
                <a:ea typeface="Segoe UI" pitchFamily="34" charset="-122"/>
                <a:cs typeface="Segoe UI" pitchFamily="34" charset="-120"/>
              </a:rPr>
              <a:t>3. Allowed values?</a:t>
            </a:r>
            <a:endParaRPr lang="en-US" sz="1785" dirty="0"/>
          </a:p>
        </p:txBody>
      </p:sp>
      <p:sp>
        <p:nvSpPr>
          <p:cNvPr id="19" name="Text 17"/>
          <p:cNvSpPr/>
          <p:nvPr/>
        </p:nvSpPr>
        <p:spPr>
          <a:xfrm>
            <a:off x="8149133" y="4066451"/>
            <a:ext cx="3137306" cy="335280"/>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Every field from the list.</a:t>
            </a:r>
            <a:endParaRPr lang="en-US" sz="1600" dirty="0"/>
          </a:p>
        </p:txBody>
      </p:sp>
      <p:sp>
        <p:nvSpPr>
          <p:cNvPr id="20" name="Text 18"/>
          <p:cNvSpPr/>
          <p:nvPr/>
        </p:nvSpPr>
        <p:spPr>
          <a:xfrm>
            <a:off x="777240" y="4993043"/>
            <a:ext cx="10637215" cy="352806"/>
          </a:xfrm>
          <a:prstGeom prst="rect">
            <a:avLst/>
          </a:prstGeom>
          <a:noFill/>
          <a:ln/>
        </p:spPr>
        <p:txBody>
          <a:bodyPr wrap="square" lIns="0" tIns="0" rIns="0" bIns="0" rtlCol="0" anchor="t"/>
          <a:lstStyle/>
          <a:p>
            <a:pPr algn="l" indent="0" marL="0">
              <a:buNone/>
            </a:pPr>
            <a:r>
              <a:rPr lang="en-US" sz="1700" dirty="0">
                <a:solidFill>
                  <a:srgbClr val="EEF6F3"/>
                </a:solidFill>
                <a:latin typeface="Segoe UI" pitchFamily="34" charset="0"/>
                <a:ea typeface="Segoe UI" pitchFamily="34" charset="-122"/>
                <a:cs typeface="Segoe UI" pitchFamily="34" charset="-120"/>
              </a:rPr>
              <a:t>Anything that fails is printed as </a:t>
            </a:r>
            <a:pPr algn="l" indent="0" marL="0">
              <a:buNone/>
            </a:pPr>
            <a:r>
              <a:rPr lang="en-US" sz="1500" dirty="0">
                <a:solidFill>
                  <a:srgbClr val="D8FFF0"/>
                </a:solidFill>
                <a:latin typeface="Consolas" pitchFamily="34" charset="0"/>
                <a:ea typeface="Consolas" pitchFamily="34" charset="-122"/>
                <a:cs typeface="Consolas" pitchFamily="34" charset="-120"/>
              </a:rPr>
              <a:t>REJECTED</a:t>
            </a:r>
            <a:pPr algn="l" indent="0" marL="0">
              <a:buNone/>
            </a:pPr>
            <a:r>
              <a:rPr lang="en-US" sz="1700" dirty="0">
                <a:solidFill>
                  <a:srgbClr val="EEF6F3"/>
                </a:solidFill>
                <a:latin typeface="Segoe UI" pitchFamily="34" charset="0"/>
                <a:ea typeface="Segoe UI" pitchFamily="34" charset="-122"/>
                <a:cs typeface="Segoe UI" pitchFamily="34" charset="-120"/>
              </a:rPr>
              <a:t> with the raw reply. It is never used.</a:t>
            </a:r>
            <a:endParaRPr lang="en-US" sz="1700" dirty="0"/>
          </a:p>
        </p:txBody>
      </p:sp>
      <p:sp>
        <p:nvSpPr>
          <p:cNvPr id="21" name="Text 19"/>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22" name="Text 20"/>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27 / 32</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07</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Two kinds of wrong</a:t>
            </a:r>
            <a:endParaRPr lang="en-US" sz="3000" dirty="0"/>
          </a:p>
        </p:txBody>
      </p:sp>
      <p:sp>
        <p:nvSpPr>
          <p:cNvPr id="6" name="Shape 4"/>
          <p:cNvSpPr/>
          <p:nvPr/>
        </p:nvSpPr>
        <p:spPr>
          <a:xfrm>
            <a:off x="777240" y="1577340"/>
            <a:ext cx="10637215" cy="1169822"/>
          </a:xfrm>
          <a:prstGeom prst="roundRect">
            <a:avLst>
              <a:gd name="adj" fmla="val 7817"/>
            </a:avLst>
          </a:prstGeom>
          <a:solidFill>
            <a:srgbClr val="2E2A14"/>
          </a:solidFill>
          <a:ln w="12700">
            <a:solidFill>
              <a:srgbClr val="2E2A14"/>
            </a:solidFill>
            <a:prstDash val="solid"/>
          </a:ln>
        </p:spPr>
      </p:sp>
      <p:sp>
        <p:nvSpPr>
          <p:cNvPr id="7" name="Shape 5"/>
          <p:cNvSpPr/>
          <p:nvPr/>
        </p:nvSpPr>
        <p:spPr>
          <a:xfrm>
            <a:off x="777240" y="1577340"/>
            <a:ext cx="82296" cy="1169822"/>
          </a:xfrm>
          <a:prstGeom prst="rect">
            <a:avLst/>
          </a:prstGeom>
          <a:solidFill>
            <a:srgbClr val="FFC53D"/>
          </a:solidFill>
          <a:ln w="12700">
            <a:solidFill>
              <a:srgbClr val="FFC53D"/>
            </a:solidFill>
            <a:prstDash val="solid"/>
          </a:ln>
        </p:spPr>
      </p:sp>
      <p:sp>
        <p:nvSpPr>
          <p:cNvPr id="8" name="Text 6"/>
          <p:cNvSpPr/>
          <p:nvPr/>
        </p:nvSpPr>
        <p:spPr>
          <a:xfrm>
            <a:off x="1051560" y="1687068"/>
            <a:ext cx="10225735" cy="237744"/>
          </a:xfrm>
          <a:prstGeom prst="rect">
            <a:avLst/>
          </a:prstGeom>
          <a:noFill/>
          <a:ln/>
        </p:spPr>
        <p:txBody>
          <a:bodyPr wrap="square" lIns="0" tIns="0" rIns="0" bIns="0" rtlCol="0" anchor="t"/>
          <a:lstStyle/>
          <a:p>
            <a:pPr indent="0" marL="0">
              <a:buNone/>
            </a:pPr>
            <a:r>
              <a:rPr lang="en-US" sz="1050" b="1" spc="300" kern="0" dirty="0">
                <a:solidFill>
                  <a:srgbClr val="FFC53D"/>
                </a:solidFill>
                <a:latin typeface="Segoe UI" pitchFamily="34" charset="0"/>
                <a:ea typeface="Segoe UI" pitchFamily="34" charset="-122"/>
                <a:cs typeface="Segoe UI" pitchFamily="34" charset="-120"/>
              </a:rPr>
              <a:t>T-1011, RUN ON LLAMA3.2</a:t>
            </a:r>
            <a:endParaRPr lang="en-US" sz="1050" dirty="0"/>
          </a:p>
        </p:txBody>
      </p:sp>
      <p:sp>
        <p:nvSpPr>
          <p:cNvPr id="9" name="Text 7"/>
          <p:cNvSpPr/>
          <p:nvPr/>
        </p:nvSpPr>
        <p:spPr>
          <a:xfrm>
            <a:off x="1051560" y="1924812"/>
            <a:ext cx="10225735" cy="657758"/>
          </a:xfrm>
          <a:prstGeom prst="rect">
            <a:avLst/>
          </a:prstGeom>
          <a:noFill/>
          <a:ln/>
        </p:spPr>
        <p:txBody>
          <a:bodyPr wrap="square" lIns="0" tIns="0" rIns="0" bIns="0" rtlCol="0" anchor="t"/>
          <a:lstStyle/>
          <a:p>
            <a:pPr algn="l" indent="0" marL="0">
              <a:buNone/>
            </a:pPr>
            <a:r>
              <a:rPr lang="en-US" sz="1720" dirty="0">
                <a:solidFill>
                  <a:srgbClr val="EEF6F3"/>
                </a:solidFill>
                <a:latin typeface="Segoe UI" pitchFamily="34" charset="0"/>
                <a:ea typeface="Segoe UI" pitchFamily="34" charset="-122"/>
                <a:cs typeface="Segoe UI" pitchFamily="34" charset="-120"/>
              </a:rPr>
              <a:t>"I received a Nimbus smart speaker as a birthday gift last week and I already own the same one…" → </a:t>
            </a:r>
            <a:pPr algn="l" indent="0" marL="0">
              <a:buNone/>
            </a:pPr>
            <a:r>
              <a:rPr lang="en-US" sz="1510" dirty="0">
                <a:solidFill>
                  <a:srgbClr val="D8FFF0"/>
                </a:solidFill>
                <a:latin typeface="Consolas" pitchFamily="34" charset="0"/>
                <a:ea typeface="Consolas" pitchFamily="34" charset="-122"/>
                <a:cs typeface="Consolas" pitchFamily="34" charset="-120"/>
              </a:rPr>
              <a:t>OK {'category': 'product_defect', ...}</a:t>
            </a:r>
            <a:endParaRPr lang="en-US" sz="1720" dirty="0"/>
          </a:p>
        </p:txBody>
      </p:sp>
      <p:sp>
        <p:nvSpPr>
          <p:cNvPr id="10" name="Shape 8"/>
          <p:cNvSpPr/>
          <p:nvPr/>
        </p:nvSpPr>
        <p:spPr>
          <a:xfrm>
            <a:off x="777240" y="2875178"/>
            <a:ext cx="5204308" cy="1742961"/>
          </a:xfrm>
          <a:prstGeom prst="roundRect">
            <a:avLst>
              <a:gd name="adj" fmla="val 5246"/>
            </a:avLst>
          </a:prstGeom>
          <a:solidFill>
            <a:srgbClr val="13272B"/>
          </a:solidFill>
          <a:ln w="12700">
            <a:solidFill>
              <a:srgbClr val="13272B"/>
            </a:solidFill>
            <a:prstDash val="solid"/>
          </a:ln>
        </p:spPr>
      </p:sp>
      <p:sp>
        <p:nvSpPr>
          <p:cNvPr id="11" name="Shape 9"/>
          <p:cNvSpPr/>
          <p:nvPr/>
        </p:nvSpPr>
        <p:spPr>
          <a:xfrm>
            <a:off x="777240" y="2875178"/>
            <a:ext cx="5204308" cy="64008"/>
          </a:xfrm>
          <a:prstGeom prst="rect">
            <a:avLst/>
          </a:prstGeom>
          <a:solidFill>
            <a:srgbClr val="FF7A7A"/>
          </a:solidFill>
          <a:ln w="12700">
            <a:solidFill>
              <a:srgbClr val="FF7A7A"/>
            </a:solidFill>
            <a:prstDash val="solid"/>
          </a:ln>
        </p:spPr>
      </p:sp>
      <p:sp>
        <p:nvSpPr>
          <p:cNvPr id="12" name="Text 10"/>
          <p:cNvSpPr/>
          <p:nvPr/>
        </p:nvSpPr>
        <p:spPr>
          <a:xfrm>
            <a:off x="905256" y="3067202"/>
            <a:ext cx="4948276" cy="367703"/>
          </a:xfrm>
          <a:prstGeom prst="rect">
            <a:avLst/>
          </a:prstGeom>
          <a:noFill/>
          <a:ln/>
        </p:spPr>
        <p:txBody>
          <a:bodyPr wrap="square" lIns="0" tIns="0" rIns="0" bIns="0" rtlCol="0" anchor="t"/>
          <a:lstStyle/>
          <a:p>
            <a:pPr algn="l" indent="0" marL="0">
              <a:buNone/>
            </a:pPr>
            <a:r>
              <a:rPr lang="en-US" sz="1785" b="1" dirty="0">
                <a:solidFill>
                  <a:srgbClr val="FF7A7A"/>
                </a:solidFill>
                <a:latin typeface="Segoe UI" pitchFamily="34" charset="0"/>
                <a:ea typeface="Segoe UI" pitchFamily="34" charset="-122"/>
                <a:cs typeface="Segoe UI" pitchFamily="34" charset="-120"/>
              </a:rPr>
              <a:t>Wrong shape</a:t>
            </a:r>
            <a:endParaRPr lang="en-US" sz="1785" dirty="0"/>
          </a:p>
        </p:txBody>
      </p:sp>
      <p:sp>
        <p:nvSpPr>
          <p:cNvPr id="13" name="Text 11"/>
          <p:cNvSpPr/>
          <p:nvPr/>
        </p:nvSpPr>
        <p:spPr>
          <a:xfrm>
            <a:off x="905256" y="3471481"/>
            <a:ext cx="4948276" cy="615696"/>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Not JSON, or a value off the list. Code catches it every time.</a:t>
            </a:r>
            <a:endParaRPr lang="en-US" sz="1600" dirty="0"/>
          </a:p>
        </p:txBody>
      </p:sp>
      <p:sp>
        <p:nvSpPr>
          <p:cNvPr id="14" name="Text 12"/>
          <p:cNvSpPr/>
          <p:nvPr/>
        </p:nvSpPr>
        <p:spPr>
          <a:xfrm>
            <a:off x="905256" y="4142041"/>
            <a:ext cx="4948276" cy="293218"/>
          </a:xfrm>
          <a:prstGeom prst="rect">
            <a:avLst/>
          </a:prstGeom>
          <a:noFill/>
          <a:ln/>
        </p:spPr>
        <p:txBody>
          <a:bodyPr wrap="square" lIns="0" tIns="0" rIns="0" bIns="0" rtlCol="0" anchor="t"/>
          <a:lstStyle/>
          <a:p>
            <a:pPr algn="l" indent="0" marL="0">
              <a:buNone/>
            </a:pPr>
            <a:r>
              <a:rPr lang="en-US" sz="1360" dirty="0">
                <a:solidFill>
                  <a:srgbClr val="EEF6F3"/>
                </a:solidFill>
                <a:latin typeface="Segoe UI" pitchFamily="34" charset="0"/>
                <a:ea typeface="Segoe UI" pitchFamily="34" charset="-122"/>
                <a:cs typeface="Segoe UI" pitchFamily="34" charset="-120"/>
              </a:rPr>
              <a:t>Session 2 makes it nearly impossible.</a:t>
            </a:r>
            <a:endParaRPr lang="en-US" sz="1360" dirty="0"/>
          </a:p>
        </p:txBody>
      </p:sp>
      <p:sp>
        <p:nvSpPr>
          <p:cNvPr id="15" name="Shape 13"/>
          <p:cNvSpPr/>
          <p:nvPr/>
        </p:nvSpPr>
        <p:spPr>
          <a:xfrm>
            <a:off x="6210148" y="2875178"/>
            <a:ext cx="5204308" cy="1742961"/>
          </a:xfrm>
          <a:prstGeom prst="roundRect">
            <a:avLst>
              <a:gd name="adj" fmla="val 5246"/>
            </a:avLst>
          </a:prstGeom>
          <a:solidFill>
            <a:srgbClr val="13272B"/>
          </a:solidFill>
          <a:ln w="12700">
            <a:solidFill>
              <a:srgbClr val="13272B"/>
            </a:solidFill>
            <a:prstDash val="solid"/>
          </a:ln>
        </p:spPr>
      </p:sp>
      <p:sp>
        <p:nvSpPr>
          <p:cNvPr id="16" name="Shape 14"/>
          <p:cNvSpPr/>
          <p:nvPr/>
        </p:nvSpPr>
        <p:spPr>
          <a:xfrm>
            <a:off x="6210148" y="2875178"/>
            <a:ext cx="5204308" cy="64008"/>
          </a:xfrm>
          <a:prstGeom prst="rect">
            <a:avLst/>
          </a:prstGeom>
          <a:solidFill>
            <a:srgbClr val="FF7A7A"/>
          </a:solidFill>
          <a:ln w="12700">
            <a:solidFill>
              <a:srgbClr val="FF7A7A"/>
            </a:solidFill>
            <a:prstDash val="solid"/>
          </a:ln>
        </p:spPr>
      </p:sp>
      <p:sp>
        <p:nvSpPr>
          <p:cNvPr id="17" name="Text 15"/>
          <p:cNvSpPr/>
          <p:nvPr/>
        </p:nvSpPr>
        <p:spPr>
          <a:xfrm>
            <a:off x="6338164" y="3067202"/>
            <a:ext cx="4948276" cy="367703"/>
          </a:xfrm>
          <a:prstGeom prst="rect">
            <a:avLst/>
          </a:prstGeom>
          <a:noFill/>
          <a:ln/>
        </p:spPr>
        <p:txBody>
          <a:bodyPr wrap="square" lIns="0" tIns="0" rIns="0" bIns="0" rtlCol="0" anchor="t"/>
          <a:lstStyle/>
          <a:p>
            <a:pPr algn="l" indent="0" marL="0">
              <a:buNone/>
            </a:pPr>
            <a:r>
              <a:rPr lang="en-US" sz="1785" b="1" dirty="0">
                <a:solidFill>
                  <a:srgbClr val="FF7A7A"/>
                </a:solidFill>
                <a:latin typeface="Segoe UI" pitchFamily="34" charset="0"/>
                <a:ea typeface="Segoe UI" pitchFamily="34" charset="-122"/>
                <a:cs typeface="Segoe UI" pitchFamily="34" charset="-120"/>
              </a:rPr>
              <a:t>Wrong answer</a:t>
            </a:r>
            <a:endParaRPr lang="en-US" sz="1785" dirty="0"/>
          </a:p>
        </p:txBody>
      </p:sp>
      <p:sp>
        <p:nvSpPr>
          <p:cNvPr id="18" name="Text 16"/>
          <p:cNvSpPr/>
          <p:nvPr/>
        </p:nvSpPr>
        <p:spPr>
          <a:xfrm>
            <a:off x="6338164" y="3471481"/>
            <a:ext cx="4948276" cy="615696"/>
          </a:xfrm>
          <a:prstGeom prst="rect">
            <a:avLst/>
          </a:prstGeom>
          <a:noFill/>
          <a:ln/>
        </p:spPr>
        <p:txBody>
          <a:bodyPr wrap="square" lIns="0" tIns="0" rIns="0" bIns="0" rtlCol="0" anchor="t"/>
          <a:lstStyle/>
          <a:p>
            <a:pPr algn="l" indent="0" marL="0">
              <a:buNone/>
            </a:pPr>
            <a:r>
              <a:rPr lang="en-US" sz="1600" dirty="0">
                <a:solidFill>
                  <a:srgbClr val="EEF6F3"/>
                </a:solidFill>
                <a:latin typeface="Segoe UI" pitchFamily="34" charset="0"/>
                <a:ea typeface="Segoe UI" pitchFamily="34" charset="-122"/>
                <a:cs typeface="Segoe UI" pitchFamily="34" charset="-120"/>
              </a:rPr>
              <a:t>Perfect JSON, wrong label. Nothing is broken: it's a duplicate gift.</a:t>
            </a:r>
            <a:endParaRPr lang="en-US" sz="1600" dirty="0"/>
          </a:p>
        </p:txBody>
      </p:sp>
      <p:sp>
        <p:nvSpPr>
          <p:cNvPr id="19" name="Text 17"/>
          <p:cNvSpPr/>
          <p:nvPr/>
        </p:nvSpPr>
        <p:spPr>
          <a:xfrm>
            <a:off x="6338164" y="4142041"/>
            <a:ext cx="4948276" cy="293218"/>
          </a:xfrm>
          <a:prstGeom prst="rect">
            <a:avLst/>
          </a:prstGeom>
          <a:noFill/>
          <a:ln/>
        </p:spPr>
        <p:txBody>
          <a:bodyPr wrap="square" lIns="0" tIns="0" rIns="0" bIns="0" rtlCol="0" anchor="t"/>
          <a:lstStyle/>
          <a:p>
            <a:pPr algn="l" indent="0" marL="0">
              <a:buNone/>
            </a:pPr>
            <a:r>
              <a:rPr lang="en-US" sz="1360" dirty="0">
                <a:solidFill>
                  <a:srgbClr val="EEF6F3"/>
                </a:solidFill>
                <a:latin typeface="Segoe UI" pitchFamily="34" charset="0"/>
                <a:ea typeface="Segoe UI" pitchFamily="34" charset="-122"/>
                <a:cs typeface="Segoe UI" pitchFamily="34" charset="-120"/>
              </a:rPr>
              <a:t>Session 10: test against tickets with known answers.</a:t>
            </a:r>
            <a:endParaRPr lang="en-US" sz="1360" dirty="0"/>
          </a:p>
        </p:txBody>
      </p:sp>
      <p:sp>
        <p:nvSpPr>
          <p:cNvPr id="20" name="Text 18"/>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21" name="Text 19"/>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28 / 32</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08</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Your course key: bring your own</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77240" y="1577340"/>
          <a:ext cx="10637215" cy="914400"/>
        </p:xfrm>
        <a:graphic>
          <a:graphicData uri="http://schemas.openxmlformats.org/drawingml/2006/table">
            <a:tbl>
              <a:tblPr/>
              <a:tblGrid>
                <a:gridCol w="2532888"/>
                <a:gridCol w="1645920"/>
                <a:gridCol w="6458407"/>
              </a:tblGrid>
              <a:tr h="0">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Provider</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Whole course?</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c>
                  <a:txBody>
                    <a:bodyPr/>
                    <a:lstStyle/>
                    <a:p>
                      <a:pPr indent="0" marL="0">
                        <a:buNone/>
                      </a:pPr>
                      <a:r>
                        <a:rPr lang="en-US" sz="1450" b="1" dirty="0">
                          <a:solidFill>
                            <a:srgbClr val="01D294"/>
                          </a:solidFill>
                          <a:latin typeface="Segoe UI" pitchFamily="34" charset="0"/>
                          <a:ea typeface="Segoe UI" pitchFamily="34" charset="-122"/>
                          <a:cs typeface="Segoe UI" pitchFamily="34" charset="-120"/>
                        </a:rPr>
                        <a:t>Notes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D3029"/>
                    </a:solidFill>
                  </a:tcPr>
                </a:tc>
              </a:tr>
              <a:tr h="0">
                <a:tc>
                  <a:txBody>
                    <a:bodyPr/>
                    <a:lstStyle/>
                    <a:p>
                      <a:pPr indent="0" marL="0">
                        <a:buNone/>
                      </a:pPr>
                      <a:r>
                        <a:rPr lang="en-US" sz="1450" b="1" dirty="0">
                          <a:solidFill>
                            <a:srgbClr val="FFFFFF"/>
                          </a:solidFill>
                          <a:latin typeface="Segoe UI" pitchFamily="34" charset="0"/>
                          <a:ea typeface="Segoe UI" pitchFamily="34" charset="-122"/>
                          <a:cs typeface="Segoe UI" pitchFamily="34" charset="-120"/>
                        </a:rPr>
                        <a:t>OpenAI</a:t>
                      </a:r>
                      <a:pPr indent="0" marL="0">
                        <a:buNone/>
                      </a:pPr>
                      <a:r>
                        <a:rPr lang="en-US" sz="1450" dirty="0">
                          <a:solidFill>
                            <a:srgbClr val="EEF6F3"/>
                          </a:solidFill>
                          <a:latin typeface="Segoe UI" pitchFamily="34" charset="0"/>
                          <a:ea typeface="Segoe UI" pitchFamily="34" charset="-122"/>
                          <a:cs typeface="Segoe UI" pitchFamily="34" charset="-120"/>
                        </a:rPr>
                        <a:t> (recommended)</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Yes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One key covers everything, embeddings included</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Azure OpenAI</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Yes</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If your employer already gives you Azure</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r h="0">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Anthropic</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Not alone</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c>
                  <a:txBody>
                    <a:bodyPr/>
                    <a:lstStyle/>
                    <a:p>
                      <a:pPr indent="0" marL="0">
                        <a:buNone/>
                      </a:pPr>
                      <a:r>
                        <a:rPr lang="en-US" sz="1450" dirty="0">
                          <a:solidFill>
                            <a:srgbClr val="EEF6F3"/>
                          </a:solidFill>
                          <a:latin typeface="Segoe UI" pitchFamily="34" charset="0"/>
                          <a:ea typeface="Segoe UI" pitchFamily="34" charset="-122"/>
                          <a:cs typeface="Segoe UI" pitchFamily="34" charset="-120"/>
                        </a:rPr>
                        <a:t>Session 1 and the RAG weeks also need an OpenAI key</a:t>
                      </a:r>
                      <a:endParaRPr lang="en-US" sz="1450" dirty="0">
                        <a:latin typeface="Segoe UI" charset="0"/>
                        <a:ea typeface="Segoe UI" charset="0"/>
                        <a:cs typeface="Segoe UI" charset="0"/>
                      </a:endParaRPr>
                    </a:p>
                  </a:txBody>
                  <a:tcPr marL="91440" marR="91440" marT="45720" marB="45720" anchor="t">
                    <a:lnL w="9525" cap="flat" cmpd="sng" algn="ctr">
                      <a:solidFill>
                        <a:srgbClr val="24413F"/>
                      </a:solidFill>
                      <a:prstDash val="solid"/>
                      <a:round/>
                      <a:headEnd type="none" w="med" len="med"/>
                      <a:tailEnd type="none" w="med" len="med"/>
                    </a:lnL>
                    <a:lnR w="9525" cap="flat" cmpd="sng" algn="ctr">
                      <a:solidFill>
                        <a:srgbClr val="24413F"/>
                      </a:solidFill>
                      <a:prstDash val="solid"/>
                      <a:round/>
                      <a:headEnd type="none" w="med" len="med"/>
                      <a:tailEnd type="none" w="med" len="med"/>
                    </a:lnR>
                    <a:lnT w="9525" cap="flat" cmpd="sng" algn="ctr">
                      <a:solidFill>
                        <a:srgbClr val="24413F"/>
                      </a:solidFill>
                      <a:prstDash val="solid"/>
                      <a:round/>
                      <a:headEnd type="none" w="med" len="med"/>
                      <a:tailEnd type="none" w="med" len="med"/>
                    </a:lnT>
                    <a:lnB w="9525" cap="flat" cmpd="sng" algn="ctr">
                      <a:solidFill>
                        <a:srgbClr val="24413F"/>
                      </a:solidFill>
                      <a:prstDash val="solid"/>
                      <a:round/>
                      <a:headEnd type="none" w="med" len="med"/>
                      <a:tailEnd type="none" w="med" len="med"/>
                    </a:lnB>
                    <a:solidFill>
                      <a:srgbClr val="0C1A1D"/>
                    </a:solidFill>
                  </a:tcPr>
                </a:tc>
              </a:tr>
            </a:tbl>
          </a:graphicData>
        </a:graphic>
      </p:graphicFrame>
      <p:sp>
        <p:nvSpPr>
          <p:cNvPr id="7" name="Text 4"/>
          <p:cNvSpPr/>
          <p:nvPr/>
        </p:nvSpPr>
        <p:spPr>
          <a:xfrm>
            <a:off x="777240" y="3279648"/>
            <a:ext cx="10637215" cy="1289304"/>
          </a:xfrm>
          <a:prstGeom prst="rect">
            <a:avLst/>
          </a:prstGeom>
          <a:noFill/>
          <a:ln/>
        </p:spPr>
        <p:txBody>
          <a:bodyPr wrap="square" lIns="0" tIns="0" rIns="0" bIns="0" rtlCol="0" anchor="t"/>
          <a:lstStyle/>
          <a:p>
            <a:pPr marL="279400" indent="-279400">
              <a:spcAft>
                <a:spcPts val="500"/>
              </a:spcAft>
              <a:buSzPct val="100000"/>
              <a:buFont typeface="+mj-lt"/>
              <a:buAutoNum type="arabicPeriod" startAt="1"/>
            </a:pPr>
            <a:r>
              <a:rPr lang="en-US" sz="2000" dirty="0">
                <a:solidFill>
                  <a:srgbClr val="D8FFF0"/>
                </a:solidFill>
                <a:latin typeface="Consolas" pitchFamily="34" charset="0"/>
                <a:ea typeface="Consolas" pitchFamily="34" charset="-122"/>
                <a:cs typeface="Consolas" pitchFamily="34" charset="-120"/>
              </a:rPr>
              <a:t>platform.openai.com</a:t>
            </a:r>
            <a:pPr indent="0" marL="0">
              <a:buNone/>
            </a:pPr>
            <a:r>
              <a:rPr lang="en-US" sz="2000" dirty="0">
                <a:solidFill>
                  <a:srgbClr val="EEF6F3"/>
                </a:solidFill>
                <a:latin typeface="Segoe UI" pitchFamily="34" charset="0"/>
                <a:ea typeface="Segoe UI" pitchFamily="34" charset="-122"/>
                <a:cs typeface="Segoe UI" pitchFamily="34" charset="-120"/>
              </a:rPr>
              <a:t> → Billing: add </a:t>
            </a:r>
            <a:pPr indent="0" marL="0">
              <a:buNone/>
            </a:pPr>
            <a:r>
              <a:rPr lang="en-US" sz="2000" b="1" dirty="0">
                <a:solidFill>
                  <a:srgbClr val="FFFFFF"/>
                </a:solidFill>
                <a:latin typeface="Segoe UI" pitchFamily="34" charset="0"/>
                <a:ea typeface="Segoe UI" pitchFamily="34" charset="-122"/>
                <a:cs typeface="Segoe UI" pitchFamily="34" charset="-120"/>
              </a:rPr>
              <a:t>$10</a:t>
            </a:r>
            <a:pPr indent="0" marL="0">
              <a:buNone/>
            </a:pPr>
            <a:r>
              <a:rPr lang="en-US" sz="2000" dirty="0">
                <a:solidFill>
                  <a:srgbClr val="EEF6F3"/>
                </a:solidFill>
                <a:latin typeface="Segoe UI" pitchFamily="34" charset="0"/>
                <a:ea typeface="Segoe UI" pitchFamily="34" charset="-122"/>
                <a:cs typeface="Segoe UI" pitchFamily="34" charset="-120"/>
              </a:rPr>
              <a:t> prepaid credit.</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Limits: set a monthly budget.</a:t>
            </a:r>
            <a:endParaRPr lang="en-US" sz="2000" dirty="0"/>
          </a:p>
          <a:p>
            <a:pPr marL="279400" indent="-279400">
              <a:spcAft>
                <a:spcPts val="500"/>
              </a:spcAft>
              <a:buSzPct val="100000"/>
              <a:buFont typeface="+mj-lt"/>
              <a:buAutoNum type="arabicPeriod" startAt="1"/>
            </a:pPr>
            <a:r>
              <a:rPr lang="en-US" sz="2000" dirty="0">
                <a:solidFill>
                  <a:srgbClr val="EEF6F3"/>
                </a:solidFill>
                <a:latin typeface="Segoe UI" pitchFamily="34" charset="0"/>
                <a:ea typeface="Segoe UI" pitchFamily="34" charset="-122"/>
                <a:cs typeface="Segoe UI" pitchFamily="34" charset="-120"/>
              </a:rPr>
              <a:t>API keys: create one called </a:t>
            </a:r>
            <a:pPr indent="0" marL="0">
              <a:buNone/>
            </a:pPr>
            <a:r>
              <a:rPr lang="en-US" sz="2000" dirty="0">
                <a:solidFill>
                  <a:srgbClr val="D8FFF0"/>
                </a:solidFill>
                <a:latin typeface="Consolas" pitchFamily="34" charset="0"/>
                <a:ea typeface="Consolas" pitchFamily="34" charset="-122"/>
                <a:cs typeface="Consolas" pitchFamily="34" charset="-120"/>
              </a:rPr>
              <a:t>resolvo</a:t>
            </a:r>
            <a:pPr indent="0" marL="0">
              <a:buNone/>
            </a:pPr>
            <a:r>
              <a:rPr lang="en-US" sz="2000" dirty="0">
                <a:solidFill>
                  <a:srgbClr val="EEF6F3"/>
                </a:solidFill>
                <a:latin typeface="Segoe UI" pitchFamily="34" charset="0"/>
                <a:ea typeface="Segoe UI" pitchFamily="34" charset="-122"/>
                <a:cs typeface="Segoe UI" pitchFamily="34" charset="-120"/>
              </a:rPr>
              <a:t>. You only see it once.</a:t>
            </a:r>
            <a:endParaRPr lang="en-US" sz="2000" dirty="0"/>
          </a:p>
        </p:txBody>
      </p:sp>
      <p:sp>
        <p:nvSpPr>
          <p:cNvPr id="8" name="Text 5"/>
          <p:cNvSpPr/>
          <p:nvPr/>
        </p:nvSpPr>
        <p:spPr>
          <a:xfrm>
            <a:off x="777240" y="4696968"/>
            <a:ext cx="10637215" cy="352806"/>
          </a:xfrm>
          <a:prstGeom prst="rect">
            <a:avLst/>
          </a:prstGeom>
          <a:noFill/>
          <a:ln/>
        </p:spPr>
        <p:txBody>
          <a:bodyPr wrap="square" lIns="0" tIns="0" rIns="0" bIns="0" rtlCol="0" anchor="t"/>
          <a:lstStyle/>
          <a:p>
            <a:pPr algn="l" indent="0" marL="0">
              <a:buNone/>
            </a:pPr>
            <a:r>
              <a:rPr lang="en-US" sz="1700" dirty="0">
                <a:solidFill>
                  <a:srgbClr val="9DB5B1"/>
                </a:solidFill>
                <a:latin typeface="Segoe UI" pitchFamily="34" charset="0"/>
                <a:ea typeface="Segoe UI" pitchFamily="34" charset="-122"/>
                <a:cs typeface="Segoe UI" pitchFamily="34" charset="-120"/>
              </a:rPr>
              <a:t>ChatGPT Plus and Claude Pro don't include API access. They're separate products.</a:t>
            </a:r>
            <a:endParaRPr lang="en-US" sz="1700" dirty="0"/>
          </a:p>
        </p:txBody>
      </p:sp>
      <p:sp>
        <p:nvSpPr>
          <p:cNvPr id="9" name="Text 6"/>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0" name="Text 7"/>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29 / 32</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1307592"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STEP 08</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Get the code, install, fill in, check</a:t>
            </a:r>
            <a:endParaRPr lang="en-US" sz="3000" dirty="0"/>
          </a:p>
        </p:txBody>
      </p:sp>
      <p:sp>
        <p:nvSpPr>
          <p:cNvPr id="6" name="Shape 4"/>
          <p:cNvSpPr/>
          <p:nvPr/>
        </p:nvSpPr>
        <p:spPr>
          <a:xfrm>
            <a:off x="777240" y="1577340"/>
            <a:ext cx="10637215" cy="3605022"/>
          </a:xfrm>
          <a:prstGeom prst="roundRect">
            <a:avLst>
              <a:gd name="adj" fmla="val 3044"/>
            </a:avLst>
          </a:prstGeom>
          <a:solidFill>
            <a:srgbClr val="13272B"/>
          </a:solidFill>
          <a:ln w="9525">
            <a:solidFill>
              <a:srgbClr val="24413F"/>
            </a:solidFill>
            <a:prstDash val="solid"/>
          </a:ln>
        </p:spPr>
      </p:sp>
      <p:sp>
        <p:nvSpPr>
          <p:cNvPr id="7" name="Text 5"/>
          <p:cNvSpPr/>
          <p:nvPr/>
        </p:nvSpPr>
        <p:spPr>
          <a:xfrm>
            <a:off x="960120" y="1687068"/>
            <a:ext cx="10271455" cy="3422142"/>
          </a:xfrm>
          <a:prstGeom prst="rect">
            <a:avLst/>
          </a:prstGeom>
          <a:noFill/>
          <a:ln/>
        </p:spPr>
        <p:txBody>
          <a:bodyPr wrap="square" lIns="0" tIns="0" rIns="0" bIns="0" rtlCol="0" anchor="t"/>
          <a:lstStyle/>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from the folder that holds prep-kit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git clone https://github.com/hasankanaan26/resolvo-workshop.git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cd resolvo-workshop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deactivate; py -3.12 -m venv .venv; .venv\Scripts\activate   # the course's own venv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pip install -r requirements.txt     # the full course list: 10 to 20 minutes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copy .env.example .env              # then set LLM_PROVIDER=openai and OPENAI_API_KEY=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python ..\prep-kit\code\check_setup.py --live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 Course repo found: C:\...\resolvo-workshop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 The course's virtual environment is active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 Course provider: openai (key filled in)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ok ] Live call to openai (gpt-4o-mini) answered: 'ready'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8FFF0"/>
                </a:solidFill>
                <a:latin typeface="Consolas" pitchFamily="34" charset="0"/>
                <a:ea typeface="Consolas" pitchFamily="34" charset="-122"/>
                <a:cs typeface="Consolas" pitchFamily="34" charset="-120"/>
              </a:rPr>
              <a:t>Ready for Day 1. See you on Monday.</a:t>
            </a:r>
            <a:endParaRPr lang="en-US" sz="1350" dirty="0"/>
          </a:p>
        </p:txBody>
      </p:sp>
      <p:sp>
        <p:nvSpPr>
          <p:cNvPr id="8" name="Text 6"/>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9" name="Text 7"/>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30 / 32</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6095848" cy="64008"/>
          </a:xfrm>
          <a:prstGeom prst="rect">
            <a:avLst/>
          </a:prstGeom>
          <a:solidFill>
            <a:srgbClr val="01D294"/>
          </a:solidFill>
          <a:ln w="12700">
            <a:solidFill>
              <a:srgbClr val="01D294"/>
            </a:solidFill>
            <a:prstDash val="solid"/>
          </a:ln>
        </p:spPr>
      </p:sp>
      <p:sp>
        <p:nvSpPr>
          <p:cNvPr id="3" name="Shape 1"/>
          <p:cNvSpPr/>
          <p:nvPr/>
        </p:nvSpPr>
        <p:spPr>
          <a:xfrm>
            <a:off x="6095848" y="0"/>
            <a:ext cx="6095848" cy="64008"/>
          </a:xfrm>
          <a:prstGeom prst="rect">
            <a:avLst/>
          </a:prstGeom>
          <a:solidFill>
            <a:srgbClr val="11958A"/>
          </a:solidFill>
          <a:ln w="12700">
            <a:solidFill>
              <a:srgbClr val="11958A"/>
            </a:solidFill>
            <a:prstDash val="solid"/>
          </a:ln>
        </p:spPr>
      </p:sp>
      <p:sp>
        <p:nvSpPr>
          <p:cNvPr id="4" name="Text 2"/>
          <p:cNvSpPr/>
          <p:nvPr/>
        </p:nvSpPr>
        <p:spPr>
          <a:xfrm>
            <a:off x="777240" y="457200"/>
            <a:ext cx="2075688" cy="274320"/>
          </a:xfrm>
          <a:prstGeom prst="roundRect">
            <a:avLst>
              <a:gd name="adj" fmla="val 50000"/>
            </a:avLst>
          </a:prstGeom>
          <a:solidFill>
            <a:srgbClr val="01D294"/>
          </a:solidFill>
          <a:ln/>
        </p:spPr>
        <p:txBody>
          <a:bodyPr wrap="none" lIns="0" tIns="0" rIns="0" bIns="0" rtlCol="0" anchor="ctr"/>
          <a:lstStyle/>
          <a:p>
            <a:pPr algn="ctr" indent="0" marL="0">
              <a:buNone/>
            </a:pPr>
            <a:r>
              <a:rPr lang="en-US" sz="1100" b="1" spc="300" kern="0" dirty="0">
                <a:solidFill>
                  <a:srgbClr val="0C1A1D"/>
                </a:solidFill>
                <a:latin typeface="Segoe UI" pitchFamily="34" charset="0"/>
                <a:ea typeface="Segoe UI" pitchFamily="34" charset="-122"/>
                <a:cs typeface="Segoe UI" pitchFamily="34" charset="-120"/>
              </a:rPr>
              <a:t>BEFORE MONDAY</a:t>
            </a:r>
            <a:endParaRPr lang="en-US" sz="1100" dirty="0"/>
          </a:p>
        </p:txBody>
      </p:sp>
      <p:sp>
        <p:nvSpPr>
          <p:cNvPr id="5" name="Text 3"/>
          <p:cNvSpPr/>
          <p:nvPr/>
        </p:nvSpPr>
        <p:spPr>
          <a:xfrm>
            <a:off x="777240" y="841248"/>
            <a:ext cx="10637215" cy="57150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Ready for day one</a:t>
            </a:r>
            <a:endParaRPr lang="en-US" sz="3000" dirty="0"/>
          </a:p>
        </p:txBody>
      </p:sp>
      <p:sp>
        <p:nvSpPr>
          <p:cNvPr id="6" name="Text 4"/>
          <p:cNvSpPr/>
          <p:nvPr/>
        </p:nvSpPr>
        <p:spPr>
          <a:xfrm>
            <a:off x="777240" y="1577340"/>
            <a:ext cx="5090008" cy="1427988"/>
          </a:xfrm>
          <a:prstGeom prst="rect">
            <a:avLst/>
          </a:prstGeom>
          <a:noFill/>
          <a:ln/>
        </p:spPr>
        <p:txBody>
          <a:bodyPr wrap="square" lIns="0" tIns="0" rIns="0" bIns="0" rtlCol="0" anchor="t"/>
          <a:lstStyle/>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1.  </a:t>
            </a:r>
            <a:pPr indent="0" marL="0">
              <a:buNone/>
            </a:pPr>
            <a:r>
              <a:rPr lang="en-US" sz="1450" dirty="0">
                <a:solidFill>
                  <a:srgbClr val="EEF6F3"/>
                </a:solidFill>
                <a:latin typeface="Segoe UI" pitchFamily="34" charset="0"/>
                <a:ea typeface="Segoe UI" pitchFamily="34" charset="-122"/>
                <a:cs typeface="Segoe UI" pitchFamily="34" charset="-120"/>
              </a:rPr>
              <a:t>Python 3.12 and </a:t>
            </a:r>
            <a:pPr indent="0" marL="0">
              <a:buNone/>
            </a:pPr>
            <a:r>
              <a:rPr lang="en-US" sz="1450" dirty="0">
                <a:solidFill>
                  <a:srgbClr val="D8FFF0"/>
                </a:solidFill>
                <a:latin typeface="Consolas" pitchFamily="34" charset="0"/>
                <a:ea typeface="Consolas" pitchFamily="34" charset="-122"/>
                <a:cs typeface="Consolas" pitchFamily="34" charset="-120"/>
              </a:rPr>
              <a:t>.venv</a:t>
            </a:r>
            <a:pPr indent="0" marL="0">
              <a:buNone/>
            </a:pPr>
            <a:r>
              <a:rPr lang="en-US" sz="1450" dirty="0">
                <a:solidFill>
                  <a:srgbClr val="EEF6F3"/>
                </a:solidFill>
                <a:latin typeface="Segoe UI" pitchFamily="34" charset="0"/>
                <a:ea typeface="Segoe UI" pitchFamily="34" charset="-122"/>
                <a:cs typeface="Segoe UI" pitchFamily="34" charset="-120"/>
              </a:rPr>
              <a:t> activated</a:t>
            </a:r>
            <a:endParaRPr lang="en-US" sz="1450" dirty="0"/>
          </a:p>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2.  </a:t>
            </a:r>
            <a:pPr indent="0" marL="0">
              <a:buNone/>
            </a:pPr>
            <a:r>
              <a:rPr lang="en-US" sz="1450" dirty="0">
                <a:solidFill>
                  <a:srgbClr val="EEF6F3"/>
                </a:solidFill>
                <a:latin typeface="Segoe UI" pitchFamily="34" charset="0"/>
                <a:ea typeface="Segoe UI" pitchFamily="34" charset="-122"/>
                <a:cs typeface="Segoe UI" pitchFamily="34" charset="-120"/>
              </a:rPr>
              <a:t>Saw a 404 and a 500 from </a:t>
            </a:r>
            <a:pPr indent="0" marL="0">
              <a:buNone/>
            </a:pPr>
            <a:r>
              <a:rPr lang="en-US" sz="1450" dirty="0">
                <a:solidFill>
                  <a:srgbClr val="D8FFF0"/>
                </a:solidFill>
                <a:latin typeface="Consolas" pitchFamily="34" charset="0"/>
                <a:ea typeface="Consolas" pitchFamily="34" charset="-122"/>
                <a:cs typeface="Consolas" pitchFamily="34" charset="-120"/>
              </a:rPr>
              <a:t>hello_api.py</a:t>
            </a:r>
            <a:endParaRPr lang="en-US" sz="1450" dirty="0"/>
          </a:p>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3.  </a:t>
            </a:r>
            <a:pPr indent="0" marL="0">
              <a:buNone/>
            </a:pPr>
            <a:r>
              <a:rPr lang="en-US" sz="1450" dirty="0">
                <a:solidFill>
                  <a:srgbClr val="EEF6F3"/>
                </a:solidFill>
                <a:latin typeface="Segoe UI" pitchFamily="34" charset="0"/>
                <a:ea typeface="Segoe UI" pitchFamily="34" charset="-122"/>
                <a:cs typeface="Segoe UI" pitchFamily="34" charset="-120"/>
              </a:rPr>
              <a:t>One LLM call with </a:t>
            </a:r>
            <a:pPr indent="0" marL="0">
              <a:buNone/>
            </a:pPr>
            <a:r>
              <a:rPr lang="en-US" sz="1450" dirty="0">
                <a:solidFill>
                  <a:srgbClr val="D8FFF0"/>
                </a:solidFill>
                <a:latin typeface="Consolas" pitchFamily="34" charset="0"/>
                <a:ea typeface="Consolas" pitchFamily="34" charset="-122"/>
                <a:cs typeface="Consolas" pitchFamily="34" charset="-120"/>
              </a:rPr>
              <a:t>chat.py</a:t>
            </a:r>
            <a:endParaRPr lang="en-US" sz="1450" dirty="0"/>
          </a:p>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4.  </a:t>
            </a:r>
            <a:pPr indent="0" marL="0">
              <a:buNone/>
            </a:pPr>
            <a:r>
              <a:rPr lang="en-US" sz="1450" dirty="0">
                <a:solidFill>
                  <a:srgbClr val="EEF6F3"/>
                </a:solidFill>
                <a:latin typeface="Segoe UI" pitchFamily="34" charset="0"/>
                <a:ea typeface="Segoe UI" pitchFamily="34" charset="-122"/>
                <a:cs typeface="Segoe UI" pitchFamily="34" charset="-120"/>
              </a:rPr>
              <a:t>Paid course key with a spending limit</a:t>
            </a:r>
            <a:endParaRPr lang="en-US" sz="1450" dirty="0"/>
          </a:p>
        </p:txBody>
      </p:sp>
      <p:sp>
        <p:nvSpPr>
          <p:cNvPr id="7" name="Text 5"/>
          <p:cNvSpPr/>
          <p:nvPr/>
        </p:nvSpPr>
        <p:spPr>
          <a:xfrm>
            <a:off x="6324448" y="1577340"/>
            <a:ext cx="5090008" cy="1427988"/>
          </a:xfrm>
          <a:prstGeom prst="rect">
            <a:avLst/>
          </a:prstGeom>
          <a:noFill/>
          <a:ln/>
        </p:spPr>
        <p:txBody>
          <a:bodyPr wrap="square" lIns="0" tIns="0" rIns="0" bIns="0" rtlCol="0" anchor="t"/>
          <a:lstStyle/>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5.  </a:t>
            </a:r>
            <a:pPr indent="0" marL="0">
              <a:buNone/>
            </a:pPr>
            <a:r>
              <a:rPr lang="en-US" sz="1450" dirty="0">
                <a:solidFill>
                  <a:srgbClr val="D8FFF0"/>
                </a:solidFill>
                <a:latin typeface="Consolas" pitchFamily="34" charset="0"/>
                <a:ea typeface="Consolas" pitchFamily="34" charset="-122"/>
                <a:cs typeface="Consolas" pitchFamily="34" charset="-120"/>
              </a:rPr>
              <a:t>resolvo-workshop/.env</a:t>
            </a:r>
            <a:pPr indent="0" marL="0">
              <a:buNone/>
            </a:pPr>
            <a:r>
              <a:rPr lang="en-US" sz="1450" dirty="0">
                <a:solidFill>
                  <a:srgbClr val="EEF6F3"/>
                </a:solidFill>
                <a:latin typeface="Segoe UI" pitchFamily="34" charset="0"/>
                <a:ea typeface="Segoe UI" pitchFamily="34" charset="-122"/>
                <a:cs typeface="Segoe UI" pitchFamily="34" charset="-120"/>
              </a:rPr>
              <a:t> filled in</a:t>
            </a:r>
            <a:endParaRPr lang="en-US" sz="1450" dirty="0"/>
          </a:p>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6.  </a:t>
            </a:r>
            <a:pPr indent="0" marL="0">
              <a:buNone/>
            </a:pPr>
            <a:r>
              <a:rPr lang="en-US" sz="1450" dirty="0">
                <a:solidFill>
                  <a:srgbClr val="EEF6F3"/>
                </a:solidFill>
                <a:latin typeface="Segoe UI" pitchFamily="34" charset="0"/>
                <a:ea typeface="Segoe UI" pitchFamily="34" charset="-122"/>
                <a:cs typeface="Segoe UI" pitchFamily="34" charset="-120"/>
              </a:rPr>
              <a:t>Full course install finished</a:t>
            </a:r>
            <a:endParaRPr lang="en-US" sz="1450" dirty="0"/>
          </a:p>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7.  </a:t>
            </a:r>
            <a:pPr indent="0" marL="0">
              <a:buNone/>
            </a:pPr>
            <a:r>
              <a:rPr lang="en-US" sz="1450" dirty="0">
                <a:solidFill>
                  <a:srgbClr val="D8FFF0"/>
                </a:solidFill>
                <a:latin typeface="Consolas" pitchFamily="34" charset="0"/>
                <a:ea typeface="Consolas" pitchFamily="34" charset="-122"/>
                <a:cs typeface="Consolas" pitchFamily="34" charset="-120"/>
              </a:rPr>
              <a:t>check_setup.py --live</a:t>
            </a:r>
            <a:pPr indent="0" marL="0">
              <a:buNone/>
            </a:pPr>
            <a:r>
              <a:rPr lang="en-US" sz="1450" dirty="0">
                <a:solidFill>
                  <a:srgbClr val="EEF6F3"/>
                </a:solidFill>
                <a:latin typeface="Segoe UI" pitchFamily="34" charset="0"/>
                <a:ea typeface="Segoe UI" pitchFamily="34" charset="-122"/>
                <a:cs typeface="Segoe UI" pitchFamily="34" charset="-120"/>
              </a:rPr>
              <a:t> says Ready</a:t>
            </a:r>
            <a:endParaRPr lang="en-US" sz="1450" dirty="0"/>
          </a:p>
          <a:p>
            <a:pPr indent="0" marL="0">
              <a:spcAft>
                <a:spcPts val="600"/>
              </a:spcAft>
              <a:buNone/>
            </a:pPr>
            <a:r>
              <a:rPr lang="en-US" sz="1450" b="1" dirty="0">
                <a:solidFill>
                  <a:srgbClr val="01D294"/>
                </a:solidFill>
                <a:latin typeface="Segoe UI" pitchFamily="34" charset="0"/>
                <a:ea typeface="Segoe UI" pitchFamily="34" charset="-122"/>
                <a:cs typeface="Segoe UI" pitchFamily="34" charset="-120"/>
              </a:rPr>
              <a:t>8.  </a:t>
            </a:r>
            <a:pPr indent="0" marL="0">
              <a:buNone/>
            </a:pPr>
            <a:r>
              <a:rPr lang="en-US" sz="1450" dirty="0">
                <a:solidFill>
                  <a:srgbClr val="D8FFF0"/>
                </a:solidFill>
                <a:latin typeface="Consolas" pitchFamily="34" charset="0"/>
                <a:ea typeface="Consolas" pitchFamily="34" charset="-122"/>
                <a:cs typeface="Consolas" pitchFamily="34" charset="-120"/>
              </a:rPr>
              <a:t>git pull</a:t>
            </a:r>
            <a:pPr indent="0" marL="0">
              <a:buNone/>
            </a:pPr>
            <a:r>
              <a:rPr lang="en-US" sz="1450" dirty="0">
                <a:solidFill>
                  <a:srgbClr val="EEF6F3"/>
                </a:solidFill>
                <a:latin typeface="Segoe UI" pitchFamily="34" charset="0"/>
                <a:ea typeface="Segoe UI" pitchFamily="34" charset="-122"/>
                <a:cs typeface="Segoe UI" pitchFamily="34" charset="-120"/>
              </a:rPr>
              <a:t> the morning of Session 1</a:t>
            </a:r>
            <a:endParaRPr lang="en-US" sz="1450" dirty="0"/>
          </a:p>
        </p:txBody>
      </p:sp>
      <p:sp>
        <p:nvSpPr>
          <p:cNvPr id="8" name="Text 6"/>
          <p:cNvSpPr/>
          <p:nvPr/>
        </p:nvSpPr>
        <p:spPr>
          <a:xfrm>
            <a:off x="777240" y="3133344"/>
            <a:ext cx="10637215" cy="352806"/>
          </a:xfrm>
          <a:prstGeom prst="rect">
            <a:avLst/>
          </a:prstGeom>
          <a:noFill/>
          <a:ln/>
        </p:spPr>
        <p:txBody>
          <a:bodyPr wrap="square" lIns="0" tIns="0" rIns="0" bIns="0" rtlCol="0" anchor="t"/>
          <a:lstStyle/>
          <a:p>
            <a:pPr algn="l" indent="0" marL="0">
              <a:buNone/>
            </a:pPr>
            <a:r>
              <a:rPr lang="en-US" sz="1700" dirty="0">
                <a:solidFill>
                  <a:srgbClr val="EEF6F3"/>
                </a:solidFill>
                <a:latin typeface="Segoe UI" pitchFamily="34" charset="0"/>
                <a:ea typeface="Segoe UI" pitchFamily="34" charset="-122"/>
                <a:cs typeface="Segoe UI" pitchFamily="34" charset="-120"/>
              </a:rPr>
              <a:t>Stuck on the last check? Come 20 minutes early on Monday with its output. We'll fix it together.</a:t>
            </a:r>
            <a:endParaRPr lang="en-US" sz="1700" dirty="0"/>
          </a:p>
        </p:txBody>
      </p:sp>
      <p:sp>
        <p:nvSpPr>
          <p:cNvPr id="9" name="Text 7"/>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0" name="Text 8"/>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31 / 32</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6705432" y="-2400300"/>
            <a:ext cx="7315017" cy="5486400"/>
          </a:xfrm>
          <a:prstGeom prst="ellipse">
            <a:avLst/>
          </a:prstGeom>
          <a:solidFill>
            <a:srgbClr val="0D3029">
              <a:alpha val="55000"/>
            </a:srgbClr>
          </a:solidFill>
          <a:ln w="12700">
            <a:solidFill>
              <a:srgbClr val="0D3029">
                <a:alpha val="0"/>
              </a:srgbClr>
            </a:solidFill>
            <a:prstDash val="solid"/>
          </a:ln>
        </p:spPr>
      </p:sp>
      <p:sp>
        <p:nvSpPr>
          <p:cNvPr id="3" name="Shape 1"/>
          <p:cNvSpPr/>
          <p:nvPr/>
        </p:nvSpPr>
        <p:spPr>
          <a:xfrm>
            <a:off x="-2438339" y="4114800"/>
            <a:ext cx="6705432" cy="5143500"/>
          </a:xfrm>
          <a:prstGeom prst="ellipse">
            <a:avLst/>
          </a:prstGeom>
          <a:solidFill>
            <a:srgbClr val="112A45">
              <a:alpha val="55000"/>
            </a:srgbClr>
          </a:solidFill>
          <a:ln w="12700">
            <a:solidFill>
              <a:srgbClr val="112A45">
                <a:alpha val="0"/>
              </a:srgbClr>
            </a:solidFill>
            <a:prstDash val="solid"/>
          </a:ln>
        </p:spPr>
      </p:sp>
      <p:sp>
        <p:nvSpPr>
          <p:cNvPr id="4" name="Text 2"/>
          <p:cNvSpPr/>
          <p:nvPr/>
        </p:nvSpPr>
        <p:spPr>
          <a:xfrm>
            <a:off x="1234440" y="1589151"/>
            <a:ext cx="9722815" cy="862584"/>
          </a:xfrm>
          <a:prstGeom prst="rect">
            <a:avLst/>
          </a:prstGeom>
          <a:noFill/>
          <a:ln/>
        </p:spPr>
        <p:txBody>
          <a:bodyPr wrap="square" lIns="0" tIns="0" rIns="0" bIns="0" rtlCol="0" anchor="t"/>
          <a:lstStyle/>
          <a:p>
            <a:pPr algn="ctr" indent="0" marL="0">
              <a:buNone/>
            </a:pPr>
            <a:r>
              <a:rPr lang="en-US" sz="4400" b="1" dirty="0">
                <a:solidFill>
                  <a:srgbClr val="FFFFFF"/>
                </a:solidFill>
                <a:latin typeface="Segoe UI" pitchFamily="34" charset="0"/>
                <a:ea typeface="Segoe UI" pitchFamily="34" charset="-122"/>
                <a:cs typeface="Segoe UI" pitchFamily="34" charset="-120"/>
              </a:rPr>
              <a:t>See you on Monday</a:t>
            </a:r>
            <a:endParaRPr lang="en-US" sz="4400" dirty="0"/>
          </a:p>
        </p:txBody>
      </p:sp>
      <p:sp>
        <p:nvSpPr>
          <p:cNvPr id="5" name="Shape 3"/>
          <p:cNvSpPr/>
          <p:nvPr/>
        </p:nvSpPr>
        <p:spPr>
          <a:xfrm>
            <a:off x="5318608" y="2543175"/>
            <a:ext cx="777240" cy="82296"/>
          </a:xfrm>
          <a:prstGeom prst="rect">
            <a:avLst/>
          </a:prstGeom>
          <a:solidFill>
            <a:srgbClr val="01D294"/>
          </a:solidFill>
          <a:ln w="12700">
            <a:solidFill>
              <a:srgbClr val="01D294"/>
            </a:solidFill>
            <a:prstDash val="solid"/>
          </a:ln>
        </p:spPr>
      </p:sp>
      <p:sp>
        <p:nvSpPr>
          <p:cNvPr id="6" name="Shape 4"/>
          <p:cNvSpPr/>
          <p:nvPr/>
        </p:nvSpPr>
        <p:spPr>
          <a:xfrm>
            <a:off x="6095848" y="2543175"/>
            <a:ext cx="777240" cy="82296"/>
          </a:xfrm>
          <a:prstGeom prst="rect">
            <a:avLst/>
          </a:prstGeom>
          <a:solidFill>
            <a:srgbClr val="11958A"/>
          </a:solidFill>
          <a:ln w="12700">
            <a:solidFill>
              <a:srgbClr val="11958A"/>
            </a:solidFill>
            <a:prstDash val="solid"/>
          </a:ln>
        </p:spPr>
      </p:sp>
      <p:sp>
        <p:nvSpPr>
          <p:cNvPr id="7" name="Text 5"/>
          <p:cNvSpPr/>
          <p:nvPr/>
        </p:nvSpPr>
        <p:spPr>
          <a:xfrm>
            <a:off x="1234440" y="2863215"/>
            <a:ext cx="9722815" cy="862584"/>
          </a:xfrm>
          <a:prstGeom prst="rect">
            <a:avLst/>
          </a:prstGeom>
          <a:noFill/>
          <a:ln/>
        </p:spPr>
        <p:txBody>
          <a:bodyPr wrap="square" lIns="0" tIns="0" rIns="0" bIns="0" rtlCol="0" anchor="t"/>
          <a:lstStyle/>
          <a:p>
            <a:pPr algn="ctr" indent="0" marL="0">
              <a:buNone/>
            </a:pPr>
            <a:r>
              <a:rPr lang="en-US" sz="2200" dirty="0">
                <a:solidFill>
                  <a:srgbClr val="EEF6F3"/>
                </a:solidFill>
                <a:latin typeface="Segoe UI" pitchFamily="34" charset="0"/>
                <a:ea typeface="Segoe UI" pitchFamily="34" charset="-122"/>
                <a:cs typeface="Segoe UI" pitchFamily="34" charset="-120"/>
              </a:rPr>
              <a:t>Session 1: What Changed, and What Didn't. The laptop that passed the check is for the evenings.</a:t>
            </a:r>
            <a:endParaRPr lang="en-US" sz="2200" dirty="0"/>
          </a:p>
        </p:txBody>
      </p:sp>
      <p:sp>
        <p:nvSpPr>
          <p:cNvPr id="8" name="Text 6"/>
          <p:cNvSpPr/>
          <p:nvPr/>
        </p:nvSpPr>
        <p:spPr>
          <a:xfrm>
            <a:off x="1234440" y="4548759"/>
            <a:ext cx="9722815" cy="354330"/>
          </a:xfrm>
          <a:prstGeom prst="rect">
            <a:avLst/>
          </a:prstGeom>
          <a:noFill/>
          <a:ln/>
        </p:spPr>
        <p:txBody>
          <a:bodyPr wrap="square" lIns="0" tIns="0" rIns="0" bIns="0" rtlCol="0" anchor="t"/>
          <a:lstStyle/>
          <a:p>
            <a:pPr algn="ctr" indent="0" marL="0">
              <a:buNone/>
            </a:pPr>
            <a:r>
              <a:rPr lang="en-US" sz="1500" spc="200" kern="0" dirty="0">
                <a:solidFill>
                  <a:srgbClr val="01D294"/>
                </a:solidFill>
                <a:latin typeface="Segoe UI" pitchFamily="34" charset="0"/>
                <a:ea typeface="Segoe UI" pitchFamily="34" charset="-122"/>
                <a:cs typeface="Segoe UI" pitchFamily="34" charset="-120"/>
              </a:rPr>
              <a:t>Monday, October 19, 2026 · prep-kit/README.md has everything from today</a:t>
            </a:r>
            <a:endParaRPr lang="en-US" sz="1500" dirty="0"/>
          </a:p>
        </p:txBody>
      </p:sp>
      <p:sp>
        <p:nvSpPr>
          <p:cNvPr id="9" name="Text 7"/>
          <p:cNvSpPr/>
          <p:nvPr/>
        </p:nvSpPr>
        <p:spPr>
          <a:xfrm>
            <a:off x="777240" y="6473952"/>
            <a:ext cx="5486400" cy="274320"/>
          </a:xfrm>
          <a:prstGeom prst="rect">
            <a:avLst/>
          </a:prstGeom>
          <a:noFill/>
          <a:ln/>
        </p:spPr>
        <p:txBody>
          <a:bodyPr wrap="square" lIns="0" tIns="0" rIns="0" bIns="0" rtlCol="0" anchor="ctr"/>
          <a:lstStyle/>
          <a:p>
            <a:pPr indent="0" marL="0">
              <a:buNone/>
            </a:pPr>
            <a:r>
              <a:rPr lang="en-US" sz="1000" spc="100" kern="0" dirty="0">
                <a:solidFill>
                  <a:srgbClr val="9DB5B1"/>
                </a:solidFill>
                <a:latin typeface="Segoe UI" pitchFamily="34" charset="0"/>
                <a:ea typeface="Segoe UI" pitchFamily="34" charset="-122"/>
                <a:cs typeface="Segoe UI" pitchFamily="34" charset="-120"/>
              </a:rPr>
              <a:t>Applied AI Engineering · SE Factory · Resolvo</a:t>
            </a:r>
            <a:endParaRPr lang="en-US" sz="1000" dirty="0"/>
          </a:p>
        </p:txBody>
      </p:sp>
      <p:sp>
        <p:nvSpPr>
          <p:cNvPr id="10" name="Text 8"/>
          <p:cNvSpPr/>
          <p:nvPr/>
        </p:nvSpPr>
        <p:spPr>
          <a:xfrm>
            <a:off x="10042855" y="6473952"/>
            <a:ext cx="1371600" cy="274320"/>
          </a:xfrm>
          <a:prstGeom prst="rect">
            <a:avLst/>
          </a:prstGeom>
          <a:noFill/>
          <a:ln/>
        </p:spPr>
        <p:txBody>
          <a:bodyPr wrap="square" lIns="0" tIns="0" rIns="0" bIns="0" rtlCol="0" anchor="ctr"/>
          <a:lstStyle/>
          <a:p>
            <a:pPr algn="r" indent="0" marL="0">
              <a:buNone/>
            </a:pPr>
            <a:r>
              <a:rPr lang="en-US" sz="1000" dirty="0">
                <a:solidFill>
                  <a:srgbClr val="9DB5B1"/>
                </a:solidFill>
                <a:latin typeface="Segoe UI" pitchFamily="34" charset="0"/>
                <a:ea typeface="Segoe UI" pitchFamily="34" charset="-122"/>
                <a:cs typeface="Segoe UI" pitchFamily="34" charset="-120"/>
              </a:rPr>
              <a:t>32 / 32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00: Before Day One</dc:title>
  <dc:subject>PptxGenJS Presentation</dc:subject>
  <dc:creator>Applied AI Engineering · SE Factory</dc:creator>
  <cp:lastModifiedBy>Applied AI Engineering · SE Factory</cp:lastModifiedBy>
  <cp:revision>1</cp:revision>
  <dcterms:created xsi:type="dcterms:W3CDTF">2026-10-17T19:25:02Z</dcterms:created>
  <dcterms:modified xsi:type="dcterms:W3CDTF">2026-10-17T19:25:02Z</dcterms:modified>
</cp:coreProperties>
</file>