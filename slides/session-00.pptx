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Say up front: this is optional, nothing is graded, and nobody is expected to master any of it before Monday. The goal is that on day one nothing on the screen is completely new. The kit is a folder called prep-kit that works on its own, eight short steps, about three to four hours if they do it alone. Today we walk through it together and get as many laptops working as we can.
──── INSTRUCTOR GUIDE ────
TIMING (75 MINUTES)
Block — Slides — Minutes — If you're running late
Welcome and the route — 1–4 — 8 — Skip slide 3; Session 1 tells the story anyway
Terminal and venv — 5–8 — 12 — Show slide 6, then point at the step 01 page
APIs — 9–13 — 13 — Demo the /docs page only, skip hello_api.py
Secrets — 14–15 — 5 — Read the four habits, move on
Where LLMs came from, LLM calls, three providers — 16–22 — 17 — Skip 16 (it's in the extra reading); one live call, not three
Tokens, cost, taste of Resolvo — 23–28 — 10 — Keep 28 (two kinds of wrong); skip 24 and 25
Course key and setup check — 29–32 — 10 — Never cut this block
Leave the call open for 15 minutes afterwards for anyone whose setup check fails.
──── INSTRUCTOR GUIDE ────
BEFORE THE CALL
• [ ] Run every command in the deck once on your own machine, today. Model names on free tiers change, and a retired model gives a 404.
• [ ] Have Ollama running with llama3.2 pulled, so you have one demo that needs no network and no key.
• [ ] Start the mock order API in a terminal you can share.
• [ ] Have &lt;https://github.com/hasankanaan26/prep-kit&gt; ready to paste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tone: relaxed. Many of them already know half of this (most developers have used a terminal and an API), and that's fine; tell those people to go straight to steps 04, 05 and 08. The one thing that must be done before Monday is step 08: a paid course key and the full install, because that install takes 10 to 20 minutes and we don't want to spend class time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Session 1 tells the story properly. The point is that every tool today shows up again in that story. The kit's data/tickets.json holds the same 60 tickets they'll use all month, so T-1001 will feel familiar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Point at step 08 in bold: that's the must-do. Steps 04 and 05 are partly alternatives: a laptop that can't run a local model can skip 05, and someone who can't sign up for Google can use OpenRouter or Ollama instead. Each step page ends with a "Try this" list and an "If something went wrong"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terminal is a window where you type commands instead of clicking. On Windows that's PowerShell, and in VS Code Ctrl+backtick opens one inside the editor. Demo pwd, ls and cd live. The silent failure is real: Session 1's broken bot loads its policy files by relative path, so run from the repo root and it quietly answers without any policies. Tell them to look at where they are before running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 are other people's code that your project uses, like openai or httpx. If everything goes into the one Python on your computer, projects fight over versions. A venv is a folder with its own private Python and its own packages. The analogy: a separate toolbox per job. The best property for beginners: it's disposable. If the venv gets into a bad state, delete the .venv folder and make it again. Nothing else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venv creates the folder, activate switches this terminal over to it, pip installs packages into it from a shopping list called requirements.txt. On Windows we use py, the Python launcher, because plain python often isn't on the PATH. The prep kit's list is small and takes a minute or two. The course gets its own venv and a much bigger list in step 08: one toolbox per project, which is the point of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they're following along, give them three minutes. The second run without activating is the moment it clicks: same command, different Python. If pip installed packages but the script says MISSING, the venv wasn't active when they ran pip; activate and install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is a menu another program offers you. You send a request, you get a response. Every request has a method (GET to read, POST to change), a URL, headers (notes on the envelope, like your key), and sometimes a JSON body. Every response has a status code and usually JSON. A call to a language model is exactly this shape: a POST with JSON in and JSON out. That's why we spend half an hour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codes are enough for this month. 429 matters because free tiers on Gemini and OpenRouter rate-limit you: the fix is to wait, not to hammer it. 500 matters because real APIs fail, and the course makes them fail on purpose (the X-Chaos header on the mock API) so they can practise handling it in Session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fake version of the Nimbus order system, and the course uses it in every week. The docs page is generated from the code, and it's the friendliest way to see an API: click GET /orders/{order_id}, Try it out, O-48291, Execute. Then run hello_api.py and read the output top to bottom. The script is about 60 lines and worth reading: each request is one line of httpx.
──── INSTRUCTOR GUIDE ────
A REAL API, RUNNING ON YOUR LAPTOP
Open http://localhost:9000/docs first. Clicking "Try it out" on GET /orders/{order_id} is the gentlest possible first API call, and the response panel shows the status code and the JSON together. Then run hello_api.py and read the five blocks aloud. Ask "is the 404 a bug?" before you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API idea worth naming today, because money is involved. Networks time out. If a refund request times out, you don't know if it happened, so you retry. Without a key, a retry can refund twice. With the key, the server recognises the request and returns the first refund. Session 6 builds the real refund tool on this. Don't go deeper today; the name and the picture are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No. The server answered correctly: that order doesn't exist. 404 is information, not a failure. 2: The server remembers the key. If the first request went through, it returns that same refund instead of making a second one; if it didn't, the retry does it. Either way the customer is refunded exactly once. 3: Activating the venv in this terminal (.venv\Scripts\activate, or source .venv/bin/activate).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API key is your username and password in one string, attached to your credit card. Environment variables are named values the operating system hands to each program. Typing them every time is tedious, so projects keep them in a .env file, and a small package reads it. Show show_env.py: it reports which keys are set and how long they are, never the value, and warns about the two classic paste mistakes, a trailing space and quote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spending limit is the one to stress. A loop with a bug can make thousands of calls while you're at lunch; a limit turns that into an annoyance instead of a bill. And revoking is not a big deal: people leak keys all the time, and the fix is boring and fast. The two .env files keep practice and course separate, so nothing in the prep kit can change how the course code behaves.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background, moved here from Session 1 so that session can spend its time on the broken bot. Students don't need the history to build anything; skip the slide if time is short and point at prep-kit/extra-how-llms-work.md. ML means machine learning: the computer learns rules from examples instead of you writing them. The best example is instruction tuning: ask a raw model "What is your refund window?" and it may continue with "What is your shipping time? What is your warranty?", because it thinks it is in the middle of an FAQ page. An instruction-tuned model answers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it back to step 02: a POST, JSON in, JSON out. The model field picks which model. Messages is the conversation so far: the system message sets the rules, the user message asks. Temperature controls randomness: near 0 you get the same answer most times, higher gives more variety. The response has the reply and a usage block with token counts, which is what the bill is based on. Tokens get their own step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idea to take from step 04. Most providers now offer an OpenAI-compatible API, meaning the same request shape OpenAI made popular. So the openai Python package talks to all of them; only base_url, the key and the model name change. In prep-kit/code/providers.py that's a three-row table. The Resolvo code does the same thing in a file called llm.py: one place knows about the provider and the rest of the program never does. They'll meet llm.py in Session 2.
──── INSTRUCTOR GUIDE ────
ONE SDK, THREE ADDRESSES
Open prep-kit/code/providers.py next to the slide. The whole provider table is three entries with a URL, a key name and a default model. Then run chat.py twice with two different --provider values and point out that only the bracket line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line by line: make a client pointed at an address with a key, send a model name and messages, print the reply and the two token counts. That's it. Everything clever in the next four weeks happens around this call, not inside it. chat.py adds a timer and turns the usual errors (missing key, 401, 429, 404) into a sentence with a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card. Gemini is the easiest start, but warn about the free-tier data rule: never send anything personal or from work. OpenRouter is useful because it shows how many models exist; the model name in chat.py's output changes as openrouter/free picks different ones. Ollama is the one that makes "a model is a file of numbers" concrete. Then the warning: none of these three is wired into the course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bracket line is the thing to point at: which model answered, tokens in, tokens out, milliseconds. Those four numbers come back in every session. The exact numbers on the slide are an example; theirs will differ. The temperature exercise shows randomness directly. If someone gets 429, that's the free tier: wait a minute. If they get 401, show_env.py will usually spot a stray space or quote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call is slow, 10 to 20 seconds, because the model loads into memory; later calls are much faster. Then the party trick: turn off Wi-Fi and run it again. It still works. The crash on the slide is real: we hit it on a Windows laptop while building this kit, and running on the CPU fixed it. If a laptop can't run a model at all, that's fine; Gemini and OpenRouter cover everything else.
──── INSTRUCTOR GUIDE ────
A MODEL ON YOUR OWN LAPTOP
Turn off your Wi-Fi on screen and run the Ollama call. The first call after a restart takes 10 to 20 seconds to load the model; warn them before it happens so the silence doesn't look like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runs offline, nothing is sent. Before a model sees text, a tokenizer cuts it into chunks and turns each into a number. Point at 482 and 91: that's part of why models sometimes garble long numbers when they copy them. Other languages, Arabic included, usually take more tokens for the same meaning, so they cost more. Session 1 goes much deeper on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here from Session 1. Ask who has built a product for Arabic-speaking users. English: 7 words, 7 tokens. Modern Standard Arabic: 4 words, 10 tokens. Lebanese dialect: 3 words, 7 tokens. So an Arabic ticket costs more, takes a little longer, and fills more of the model's space for that call. Estimate costs with your real customers' language, not English test data. Counts are from the GPT-4o tokenizer (o200k_base); other providers' tokenizers differ, and the gap has narrowed but not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arithmetic is input tokens times input price plus output tokens times output price, divided by a million. count_tokens.py does it for them. The point isn't the exact figures; it's that the model choice dominates the bill, and the reply usually costs more than the question. compare.py then sends one ticket to every provider they've set up and prints the time each took. Times change from run to run, which is why Session 1 measures speed over many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address (base_url) and the key, plus the model name, which is just a string. The code that builds the request stays the same. 2: Revoke the key in the provider's dashboard right away, then make a new one. Deleting the commit isn't enough: the key is already out. 3: What the model writes (output). For gpt-4o-mini it's four times the input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version of checkpoint 01, with the same labels: category, priority, sentiment. The prompt says "reply with ONLY a JSON object", and models still say "Sure! Here's the JSON", wrap it in a code fence, or invent a category. parse_reply in the script checks every reply. The sentence to leave them with is the title: the model suggests, your code decides. That rule runs through the whole course, especially for refunds.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run from building the kit. The reply passed every check: valid JSON, allowed values. And it's wrong. Nothing is defective, the customer got a duplicate gift and wants to return it. Code can't see that by looking at one reply. You find it by running many tickets where you already know the right answer, which is what evaluation in Session 10 is. Session 2 deals with the first kind using structured outputs.
──── INSTRUCTOR GUIDE ────
TWO KINDS OF WRONG
This is the most important slide of the second half. The T-1011 result is real: llama3.2 labelled a duplicate gift as product_defect, and the reply passed every check. Ask the room what code could catch that. The honest answer is "none, by looking at one reply", which sets up Session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must-do. $10 is plenty: on the default small model a typical lab run costs cents, and the slides warn them before anything costs more. Azure works if their company already has it; the common trap is the deployment name versus the model name. Anthropic works from checkpoint 01, but Session 1's bot only speaks OpenAI or Azure and Anthropic has no embeddings API, so they'd need an OpenAI key too. Embeddings are week 3; they don't need to know what they 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students leave the kit: they clone the course repo next to it and give it its own venv. The check runs from inside the course folder with the course venv active; if they forget to switch, it says "This is the prep kit's venv" and how to fix it. The template starts with LLM_PROVIDER=azure, so the most common slip is filling in the OpenAI key and leaving that line alone; the setup check spots it and says which line to change. The check never prints a key, it only looks at which settings are filled in. --live makes one tiny real call, a fraction of a cent. Warn lines are fine; only FAIL lines need fixing, and each one prints what to do.
──── INSTRUCTOR GUIDE ────
COMMON PROBLEMS
Symptom — Cause — Fix
py not found (Windows) — Python not installed, or installed without the launcher — Reinstall from python.org with the defaults
running scripts is disabled — PowerShell execution policy — Set-ExecutionPolicy -Scope CurrentUser RemoteSigned
MISSING packages right after pip install — pip ran outside the venv — Activate, install again
Gemini or OpenRouter 401 — Key pasted with a space or quotes — show_env.py flags both
429 on Gemini or OpenRouter — Free-tier rate limit — Wait a minute; OpenRouter allows about 50 free requests a day without credit
Ollama 500 mentioning CUDA — GPU driver problem — Quit Ollama, then $env:CUDA_VISIBLE_DEVICES="-1"; ollama serve
check_setup.py: "This is the prep kit's venv" — Ran the check before switching venvs — deactivate, then activate resolvo-workshop/.venv and run it from there
check_setup.py: "you filled in the openai key" — Template still says LLM_PROVIDER=azure — Change that line to openai
Azure DeploymentNotFound (404) — Model name used instead of deployment name — Use the name chosen when deploying
Course install takes forever — It's big: LangChain, LangGraph, RAGAS, DeepEval — Normal. Start it before the call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at the end of the call. The order matters less than the last two items. Anything they don't finish today, they can finish this weekend from the step pages. You won't need Docker. If they already use an AI coding assistant, they should bring it; if not, they wait, because Session 3 sets one up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them. Remind them where the kit lives and that the README has the checklist. Questions for five minutes, then stay on the call for anyone whose setup check still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RESOLVO">
    <p:bg>
      <p:bgPr>
        <a:solidFill>
          <a:srgbClr val="0C1A1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sv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Before Day One</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A gentle first touch of everything you'll use: the terminal, a virtual environment, APIs, keys, and your first calls to a language model</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Session 0 · Prep kit · Optional kickoff call, the weekend before October 19, 2026</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 / 32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051560"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TODAY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this is, and what it isn't</a:t>
            </a:r>
            <a:endParaRPr lang="en-US" sz="3000" dirty="0"/>
          </a:p>
        </p:txBody>
      </p:sp>
      <p:sp>
        <p:nvSpPr>
          <p:cNvPr id="6" name="Text 4"/>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a:t>
            </a:r>
            <a:pPr indent="0" marL="0">
              <a:buNone/>
            </a:pPr>
            <a:r>
              <a:rPr lang="en-US" sz="2000" b="1" dirty="0">
                <a:solidFill>
                  <a:srgbClr val="FFFFFF"/>
                </a:solidFill>
                <a:latin typeface="Segoe UI" pitchFamily="34" charset="0"/>
                <a:ea typeface="Segoe UI" pitchFamily="34" charset="-122"/>
                <a:cs typeface="Segoe UI" pitchFamily="34" charset="-120"/>
              </a:rPr>
              <a:t>first touch</a:t>
            </a:r>
            <a:pPr indent="0" marL="0">
              <a:buNone/>
            </a:pPr>
            <a:r>
              <a:rPr lang="en-US" sz="2000" dirty="0">
                <a:solidFill>
                  <a:srgbClr val="EEF6F3"/>
                </a:solidFill>
                <a:latin typeface="Segoe UI" pitchFamily="34" charset="0"/>
                <a:ea typeface="Segoe UI" pitchFamily="34" charset="-122"/>
                <a:cs typeface="Segoe UI" pitchFamily="34" charset="-120"/>
              </a:rPr>
              <a:t> of the tools the course uses, so Monday doesn't start with a wall of new words.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A working laptop: Python, the course code, and an </a:t>
            </a:r>
            <a:pPr indent="0" marL="0">
              <a:buNone/>
            </a:pPr>
            <a:r>
              <a:rPr lang="en-US" sz="2000" b="1" dirty="0">
                <a:solidFill>
                  <a:srgbClr val="FFFFFF"/>
                </a:solidFill>
                <a:latin typeface="Segoe UI" pitchFamily="34" charset="0"/>
                <a:ea typeface="Segoe UI" pitchFamily="34" charset="-122"/>
                <a:cs typeface="Segoe UI" pitchFamily="34" charset="-120"/>
              </a:rPr>
              <a:t>API key</a:t>
            </a:r>
            <a:pPr indent="0" marL="0">
              <a:buNone/>
            </a:pPr>
            <a:r>
              <a:rPr lang="en-US" sz="2000" dirty="0">
                <a:solidFill>
                  <a:srgbClr val="EEF6F3"/>
                </a:solidFill>
                <a:latin typeface="Segoe UI" pitchFamily="34" charset="0"/>
                <a:ea typeface="Segoe UI" pitchFamily="34" charset="-122"/>
                <a:cs typeface="Segoe UI" pitchFamily="34" charset="-120"/>
              </a:rPr>
              <a:t> that works.</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Not a test. If a step doesn't work, write down what you saw and move on.</a:t>
            </a:r>
            <a:endParaRPr lang="en-US" sz="2000" dirty="0"/>
          </a:p>
        </p:txBody>
      </p:sp>
      <p:sp>
        <p:nvSpPr>
          <p:cNvPr id="7" name="Shape 5"/>
          <p:cNvSpPr/>
          <p:nvPr/>
        </p:nvSpPr>
        <p:spPr>
          <a:xfrm>
            <a:off x="777240" y="3345180"/>
            <a:ext cx="10637215" cy="1169822"/>
          </a:xfrm>
          <a:prstGeom prst="roundRect">
            <a:avLst>
              <a:gd name="adj" fmla="val 7817"/>
            </a:avLst>
          </a:prstGeom>
          <a:solidFill>
            <a:srgbClr val="0D3029"/>
          </a:solidFill>
          <a:ln w="12700">
            <a:solidFill>
              <a:srgbClr val="0D3029"/>
            </a:solidFill>
            <a:prstDash val="solid"/>
          </a:ln>
        </p:spPr>
      </p:sp>
      <p:sp>
        <p:nvSpPr>
          <p:cNvPr id="8" name="Shape 6"/>
          <p:cNvSpPr/>
          <p:nvPr/>
        </p:nvSpPr>
        <p:spPr>
          <a:xfrm>
            <a:off x="777240" y="3345180"/>
            <a:ext cx="82296" cy="1169822"/>
          </a:xfrm>
          <a:prstGeom prst="rect">
            <a:avLst/>
          </a:prstGeom>
          <a:solidFill>
            <a:srgbClr val="01D294"/>
          </a:solidFill>
          <a:ln w="12700">
            <a:solidFill>
              <a:srgbClr val="01D294"/>
            </a:solidFill>
            <a:prstDash val="solid"/>
          </a:ln>
        </p:spPr>
      </p:sp>
      <p:sp>
        <p:nvSpPr>
          <p:cNvPr id="9" name="Text 7"/>
          <p:cNvSpPr/>
          <p:nvPr/>
        </p:nvSpPr>
        <p:spPr>
          <a:xfrm>
            <a:off x="1051560" y="3454908"/>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0" name="Text 8"/>
          <p:cNvSpPr/>
          <p:nvPr/>
        </p:nvSpPr>
        <p:spPr>
          <a:xfrm>
            <a:off x="1051560" y="369265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An </a:t>
            </a:r>
            <a:pPr algn="l" indent="0" marL="0">
              <a:buNone/>
            </a:pPr>
            <a:r>
              <a:rPr lang="en-US" sz="1720" b="1" dirty="0">
                <a:solidFill>
                  <a:srgbClr val="FFFFFF"/>
                </a:solidFill>
                <a:latin typeface="Segoe UI" pitchFamily="34" charset="0"/>
                <a:ea typeface="Segoe UI" pitchFamily="34" charset="-122"/>
                <a:cs typeface="Segoe UI" pitchFamily="34" charset="-120"/>
              </a:rPr>
              <a:t>API key</a:t>
            </a:r>
            <a:pPr algn="l" indent="0" marL="0">
              <a:buNone/>
            </a:pPr>
            <a:r>
              <a:rPr lang="en-US" sz="1720" dirty="0">
                <a:solidFill>
                  <a:srgbClr val="EEF6F3"/>
                </a:solidFill>
                <a:latin typeface="Segoe UI" pitchFamily="34" charset="0"/>
                <a:ea typeface="Segoe UI" pitchFamily="34" charset="-122"/>
                <a:cs typeface="Segoe UI" pitchFamily="34" charset="-120"/>
              </a:rPr>
              <a:t> is a long password that lets your code use a paid service. We'll see where it goes in a few minutes.</a:t>
            </a:r>
            <a:endParaRPr lang="en-US" sz="1720" dirty="0"/>
          </a:p>
        </p:txBody>
      </p:sp>
      <p:sp>
        <p:nvSpPr>
          <p:cNvPr id="11" name="Text 9"/>
          <p:cNvSpPr/>
          <p:nvPr/>
        </p:nvSpPr>
        <p:spPr>
          <a:xfrm>
            <a:off x="777240" y="4643018"/>
            <a:ext cx="10637215" cy="650748"/>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Everything here is in the kit, </a:t>
            </a:r>
            <a:pPr algn="l" indent="0" marL="0">
              <a:buNone/>
            </a:pPr>
            <a:r>
              <a:rPr lang="en-US" sz="1500" dirty="0">
                <a:solidFill>
                  <a:srgbClr val="D8FFF0"/>
                </a:solidFill>
                <a:latin typeface="Consolas" pitchFamily="34" charset="0"/>
                <a:ea typeface="Consolas" pitchFamily="34" charset="-122"/>
                <a:cs typeface="Consolas" pitchFamily="34" charset="-120"/>
              </a:rPr>
              <a:t>github.com/hasankanaan26/prep-kit</a:t>
            </a:r>
            <a:pPr algn="l" indent="0" marL="0">
              <a:buNone/>
            </a:pPr>
            <a:r>
              <a:rPr lang="en-US" sz="1700" dirty="0">
                <a:solidFill>
                  <a:srgbClr val="9DB5B1"/>
                </a:solidFill>
                <a:latin typeface="Segoe UI" pitchFamily="34" charset="0"/>
                <a:ea typeface="Segoe UI" pitchFamily="34" charset="-122"/>
                <a:cs typeface="Segoe UI" pitchFamily="34" charset="-120"/>
              </a:rPr>
              <a:t>, one short Markdown page per step.</a:t>
            </a:r>
            <a:endParaRPr lang="en-US" sz="1700" dirty="0"/>
          </a:p>
        </p:txBody>
      </p:sp>
      <p:sp>
        <p:nvSpPr>
          <p:cNvPr id="12"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3"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 / 32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STORY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you'll build in four weeks</a:t>
            </a:r>
            <a:endParaRPr lang="en-US" sz="3000" dirty="0"/>
          </a:p>
        </p:txBody>
      </p:sp>
      <p:sp>
        <p:nvSpPr>
          <p:cNvPr id="6" name="Text 4"/>
          <p:cNvSpPr/>
          <p:nvPr/>
        </p:nvSpPr>
        <p:spPr>
          <a:xfrm>
            <a:off x="777240" y="1577340"/>
            <a:ext cx="10637215" cy="1990344"/>
          </a:xfrm>
          <a:prstGeom prst="rect">
            <a:avLst/>
          </a:prstGeom>
          <a:noFill/>
          <a:ln/>
        </p:spPr>
        <p:txBody>
          <a:bodyPr wrap="square" lIns="0" tIns="0" rIns="0" bIns="0" rtlCol="0" anchor="t"/>
          <a:lstStyle/>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Nimbus Electronics</a:t>
            </a:r>
            <a:pPr indent="0" marL="0">
              <a:buNone/>
            </a:pPr>
            <a:r>
              <a:rPr lang="en-US" sz="2000" dirty="0">
                <a:solidFill>
                  <a:srgbClr val="EEF6F3"/>
                </a:solidFill>
                <a:latin typeface="Segoe UI" pitchFamily="34" charset="0"/>
                <a:ea typeface="Segoe UI" pitchFamily="34" charset="-122"/>
                <a:cs typeface="Segoe UI" pitchFamily="34" charset="-120"/>
              </a:rPr>
              <a:t> is a small online store. Customers send support tickets.</a:t>
            </a:r>
            <a:endParaRPr lang="en-US" sz="2000" dirty="0"/>
          </a:p>
          <a:p>
            <a:pPr marL="279400" indent="-279400">
              <a:spcAft>
                <a:spcPts val="500"/>
              </a:spcAft>
              <a:buSzPct val="100000"/>
              <a:buChar char="•"/>
            </a:pPr>
            <a:r>
              <a:rPr lang="en-US" sz="2000" b="1" dirty="0">
                <a:solidFill>
                  <a:srgbClr val="FFFFFF"/>
                </a:solidFill>
                <a:latin typeface="Segoe UI" pitchFamily="34" charset="0"/>
                <a:ea typeface="Segoe UI" pitchFamily="34" charset="-122"/>
                <a:cs typeface="Segoe UI" pitchFamily="34" charset="-120"/>
              </a:rPr>
              <a:t>Resolvo</a:t>
            </a:r>
            <a:pPr indent="0" marL="0">
              <a:buNone/>
            </a:pPr>
            <a:r>
              <a:rPr lang="en-US" sz="2000" dirty="0">
                <a:solidFill>
                  <a:srgbClr val="EEF6F3"/>
                </a:solidFill>
                <a:latin typeface="Segoe UI" pitchFamily="34" charset="0"/>
                <a:ea typeface="Segoe UI" pitchFamily="34" charset="-122"/>
                <a:cs typeface="Segoe UI" pitchFamily="34" charset="-120"/>
              </a:rPr>
              <a:t> reads each ticket, works out what the customer needs, checks the order and the store's policies, and drafts the fix.</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The first version, which you inherit on Monday, is broken in 10 ways. You fix one at a time.</a:t>
            </a:r>
            <a:endParaRPr lang="en-US" sz="2000" dirty="0"/>
          </a:p>
        </p:txBody>
      </p:sp>
      <p:sp>
        <p:nvSpPr>
          <p:cNvPr id="7" name="Shape 5"/>
          <p:cNvSpPr/>
          <p:nvPr/>
        </p:nvSpPr>
        <p:spPr>
          <a:xfrm>
            <a:off x="777240" y="3695700"/>
            <a:ext cx="10637215" cy="1169822"/>
          </a:xfrm>
          <a:prstGeom prst="roundRect">
            <a:avLst>
              <a:gd name="adj" fmla="val 7817"/>
            </a:avLst>
          </a:prstGeom>
          <a:solidFill>
            <a:srgbClr val="2E2A14"/>
          </a:solidFill>
          <a:ln w="12700">
            <a:solidFill>
              <a:srgbClr val="2E2A14"/>
            </a:solidFill>
            <a:prstDash val="solid"/>
          </a:ln>
        </p:spPr>
      </p:sp>
      <p:sp>
        <p:nvSpPr>
          <p:cNvPr id="8" name="Shape 6"/>
          <p:cNvSpPr/>
          <p:nvPr/>
        </p:nvSpPr>
        <p:spPr>
          <a:xfrm>
            <a:off x="777240" y="3695700"/>
            <a:ext cx="82296" cy="1169822"/>
          </a:xfrm>
          <a:prstGeom prst="rect">
            <a:avLst/>
          </a:prstGeom>
          <a:solidFill>
            <a:srgbClr val="FFC53D"/>
          </a:solidFill>
          <a:ln w="12700">
            <a:solidFill>
              <a:srgbClr val="FFC53D"/>
            </a:solidFill>
            <a:prstDash val="solid"/>
          </a:ln>
        </p:spPr>
      </p:sp>
      <p:sp>
        <p:nvSpPr>
          <p:cNvPr id="9" name="Text 7"/>
          <p:cNvSpPr/>
          <p:nvPr/>
        </p:nvSpPr>
        <p:spPr>
          <a:xfrm>
            <a:off x="1051560" y="380542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A REAL TICKET: T-1001</a:t>
            </a:r>
            <a:endParaRPr lang="en-US" sz="1050" dirty="0"/>
          </a:p>
        </p:txBody>
      </p:sp>
      <p:sp>
        <p:nvSpPr>
          <p:cNvPr id="10" name="Text 8"/>
          <p:cNvSpPr/>
          <p:nvPr/>
        </p:nvSpPr>
        <p:spPr>
          <a:xfrm>
            <a:off x="1051560" y="404317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ordered the wireless headphones two weeks ago, order #48291. They arrived with a cracked case. I want a refund or a replacement…"</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 / 32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56362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THE ROUTE</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Eight steps, just under four hours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3323844"/>
                <a:gridCol w="6515100"/>
                <a:gridCol w="797357"/>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Step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do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Time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01 Terminal, Python, venv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Install Python, make a private Python for the 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02 APIs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Talk to a small order API on your laptop</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03 Secrets and .env</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Keep keys out of your code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15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04 First LLM call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Free keys from Gemini and OpenRouter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05 Local models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Run a model on your own laptop with Ollama</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06 Tokens and cost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 a model reads, and what it costs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07 A taste of Resolvo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Ask a model to sort real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20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08 Get ready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Course key, course code, install, setup check</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50 min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8" name="Text 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4 / 32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The terminal: five commands are enough</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4254703"/>
                <a:gridCol w="3867912"/>
                <a:gridCol w="2514600"/>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What you want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Windows (PowerShell)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macOS / Linux</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Where am 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pwd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What's in this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into a folder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prep-kit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Go up one level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cd ..</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Clear the screen</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clear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Shape 4"/>
          <p:cNvSpPr/>
          <p:nvPr/>
        </p:nvSpPr>
        <p:spPr>
          <a:xfrm>
            <a:off x="777240" y="4043934"/>
            <a:ext cx="10637215" cy="1169822"/>
          </a:xfrm>
          <a:prstGeom prst="roundRect">
            <a:avLst>
              <a:gd name="adj" fmla="val 7817"/>
            </a:avLst>
          </a:prstGeom>
          <a:solidFill>
            <a:srgbClr val="3A1C1F"/>
          </a:solidFill>
          <a:ln w="12700">
            <a:solidFill>
              <a:srgbClr val="3A1C1F"/>
            </a:solidFill>
            <a:prstDash val="solid"/>
          </a:ln>
        </p:spPr>
      </p:sp>
      <p:sp>
        <p:nvSpPr>
          <p:cNvPr id="8" name="Shape 5"/>
          <p:cNvSpPr/>
          <p:nvPr/>
        </p:nvSpPr>
        <p:spPr>
          <a:xfrm>
            <a:off x="777240" y="4043934"/>
            <a:ext cx="82296" cy="1169822"/>
          </a:xfrm>
          <a:prstGeom prst="rect">
            <a:avLst/>
          </a:prstGeom>
          <a:solidFill>
            <a:srgbClr val="FF7A7A"/>
          </a:solidFill>
          <a:ln w="12700">
            <a:solidFill>
              <a:srgbClr val="FF7A7A"/>
            </a:solidFill>
            <a:prstDash val="solid"/>
          </a:ln>
        </p:spPr>
      </p:sp>
      <p:sp>
        <p:nvSpPr>
          <p:cNvPr id="9" name="Text 6"/>
          <p:cNvSpPr/>
          <p:nvPr/>
        </p:nvSpPr>
        <p:spPr>
          <a:xfrm>
            <a:off x="1051560" y="4153662"/>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0" name="Text 7"/>
          <p:cNvSpPr/>
          <p:nvPr/>
        </p:nvSpPr>
        <p:spPr>
          <a:xfrm>
            <a:off x="1051560" y="4391406"/>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folder you're in matters. Running a script from the wrong folder is the most common first-week mistake, and some scripts fail </a:t>
            </a:r>
            <a:pPr algn="l" indent="0" marL="0">
              <a:buNone/>
            </a:pPr>
            <a:r>
              <a:rPr lang="en-US" sz="1720" dirty="0">
                <a:solidFill>
                  <a:srgbClr val="01D294"/>
                </a:solidFill>
                <a:latin typeface="Segoe UI" pitchFamily="34" charset="0"/>
                <a:ea typeface="Segoe UI" pitchFamily="34" charset="-122"/>
                <a:cs typeface="Segoe UI" pitchFamily="34" charset="-120"/>
              </a:rPr>
              <a:t>silently</a:t>
            </a:r>
            <a:pPr algn="l" indent="0" marL="0">
              <a:buNone/>
            </a:pPr>
            <a:r>
              <a:rPr lang="en-US" sz="1720" dirty="0">
                <a:solidFill>
                  <a:srgbClr val="EEF6F3"/>
                </a:solidFill>
                <a:latin typeface="Segoe UI" pitchFamily="34" charset="0"/>
                <a:ea typeface="Segoe UI" pitchFamily="34" charset="-122"/>
                <a:cs typeface="Segoe UI" pitchFamily="34" charset="-120"/>
              </a:rPr>
              <a:t> when you do it.</a:t>
            </a:r>
            <a:endParaRPr lang="en-US" sz="1720" dirty="0"/>
          </a:p>
        </p:txBody>
      </p:sp>
      <p:sp>
        <p:nvSpPr>
          <p:cNvPr id="11" name="Text 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5 / 32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virtual environment is a toolbox per project</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Text 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8" name="Text 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6 / 32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01</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Make it, switch it on, fill it</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Windows</a:t>
            </a:r>
            <a:endParaRPr lang="en-US" sz="2100" dirty="0"/>
          </a:p>
        </p:txBody>
      </p:sp>
      <p:sp>
        <p:nvSpPr>
          <p:cNvPr id="7" name="Shape 5"/>
          <p:cNvSpPr/>
          <p:nvPr/>
        </p:nvSpPr>
        <p:spPr>
          <a:xfrm>
            <a:off x="777240" y="2091690"/>
            <a:ext cx="5135728" cy="1239012"/>
          </a:xfrm>
          <a:prstGeom prst="roundRect">
            <a:avLst>
              <a:gd name="adj" fmla="val 8856"/>
            </a:avLst>
          </a:prstGeom>
          <a:solidFill>
            <a:srgbClr val="13272B"/>
          </a:solidFill>
          <a:ln w="9525">
            <a:solidFill>
              <a:srgbClr val="24413F"/>
            </a:solidFill>
            <a:prstDash val="solid"/>
          </a:ln>
        </p:spPr>
      </p:sp>
      <p:sp>
        <p:nvSpPr>
          <p:cNvPr id="8" name="Text 6"/>
          <p:cNvSpPr/>
          <p:nvPr/>
        </p:nvSpPr>
        <p:spPr>
          <a:xfrm>
            <a:off x="960120"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.venv\Scripts\activate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macOS / Linux</a:t>
            </a:r>
            <a:endParaRPr lang="en-US" sz="2100" dirty="0"/>
          </a:p>
        </p:txBody>
      </p:sp>
      <p:sp>
        <p:nvSpPr>
          <p:cNvPr id="10" name="Shape 8"/>
          <p:cNvSpPr/>
          <p:nvPr/>
        </p:nvSpPr>
        <p:spPr>
          <a:xfrm>
            <a:off x="6278728" y="2091690"/>
            <a:ext cx="5135728" cy="1239012"/>
          </a:xfrm>
          <a:prstGeom prst="roundRect">
            <a:avLst>
              <a:gd name="adj" fmla="val 8856"/>
            </a:avLst>
          </a:prstGeom>
          <a:solidFill>
            <a:srgbClr val="13272B"/>
          </a:solidFill>
          <a:ln w="9525">
            <a:solidFill>
              <a:srgbClr val="24413F"/>
            </a:solidFill>
            <a:prstDash val="solid"/>
          </a:ln>
        </p:spPr>
      </p:sp>
      <p:sp>
        <p:nvSpPr>
          <p:cNvPr id="11" name="Text 9"/>
          <p:cNvSpPr/>
          <p:nvPr/>
        </p:nvSpPr>
        <p:spPr>
          <a:xfrm>
            <a:off x="6461608" y="2201418"/>
            <a:ext cx="4769968"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python3.12 -m venv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source .venv/bin/activate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a:t>
            </a:r>
            <a:endParaRPr lang="en-US" sz="1350" dirty="0"/>
          </a:p>
        </p:txBody>
      </p:sp>
      <p:sp>
        <p:nvSpPr>
          <p:cNvPr id="12" name="Text 10"/>
          <p:cNvSpPr/>
          <p:nvPr/>
        </p:nvSpPr>
        <p:spPr>
          <a:xfrm>
            <a:off x="777240" y="3550158"/>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Your prompt now starts with </a:t>
            </a:r>
            <a:pPr algn="l" indent="0" marL="0">
              <a:buNone/>
            </a:pPr>
            <a:r>
              <a:rPr lang="en-US" sz="1760" dirty="0">
                <a:solidFill>
                  <a:srgbClr val="D8FFF0"/>
                </a:solidFill>
                <a:latin typeface="Consolas" pitchFamily="34" charset="0"/>
                <a:ea typeface="Consolas" pitchFamily="34" charset="-122"/>
                <a:cs typeface="Consolas" pitchFamily="34" charset="-120"/>
              </a:rPr>
              <a:t>(.venv)</a:t>
            </a:r>
            <a:pPr algn="l" indent="0" marL="0">
              <a:buNone/>
            </a:pPr>
            <a:r>
              <a:rPr lang="en-US" sz="2000" dirty="0">
                <a:solidFill>
                  <a:srgbClr val="EEF6F3"/>
                </a:solidFill>
                <a:latin typeface="Segoe UI" pitchFamily="34" charset="0"/>
                <a:ea typeface="Segoe UI" pitchFamily="34" charset="-122"/>
                <a:cs typeface="Segoe UI" pitchFamily="34" charset="-120"/>
              </a:rPr>
              <a:t>. Activate again in every new terminal.</a:t>
            </a:r>
            <a:endParaRPr lang="en-US" sz="2000" dirty="0"/>
          </a:p>
        </p:txBody>
      </p:sp>
      <p:sp>
        <p:nvSpPr>
          <p:cNvPr id="13" name="Shape 11"/>
          <p:cNvSpPr/>
          <p:nvPr/>
        </p:nvSpPr>
        <p:spPr>
          <a:xfrm>
            <a:off x="777240" y="4083558"/>
            <a:ext cx="10637215" cy="1169822"/>
          </a:xfrm>
          <a:prstGeom prst="roundRect">
            <a:avLst>
              <a:gd name="adj" fmla="val 7817"/>
            </a:avLst>
          </a:prstGeom>
          <a:solidFill>
            <a:srgbClr val="112A45"/>
          </a:solidFill>
          <a:ln w="12700">
            <a:solidFill>
              <a:srgbClr val="112A45"/>
            </a:solidFill>
            <a:prstDash val="solid"/>
          </a:ln>
        </p:spPr>
      </p:sp>
      <p:sp>
        <p:nvSpPr>
          <p:cNvPr id="14" name="Shape 12"/>
          <p:cNvSpPr/>
          <p:nvPr/>
        </p:nvSpPr>
        <p:spPr>
          <a:xfrm>
            <a:off x="777240" y="4083558"/>
            <a:ext cx="82296" cy="1169822"/>
          </a:xfrm>
          <a:prstGeom prst="rect">
            <a:avLst/>
          </a:prstGeom>
          <a:solidFill>
            <a:srgbClr val="5AA2FF"/>
          </a:solidFill>
          <a:ln w="12700">
            <a:solidFill>
              <a:srgbClr val="5AA2FF"/>
            </a:solidFill>
            <a:prstDash val="solid"/>
          </a:ln>
        </p:spPr>
      </p:sp>
      <p:sp>
        <p:nvSpPr>
          <p:cNvPr id="15" name="Text 13"/>
          <p:cNvSpPr/>
          <p:nvPr/>
        </p:nvSpPr>
        <p:spPr>
          <a:xfrm>
            <a:off x="1051560" y="419328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6" name="Text 14"/>
          <p:cNvSpPr/>
          <p:nvPr/>
        </p:nvSpPr>
        <p:spPr>
          <a:xfrm>
            <a:off x="1051560" y="443103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PowerShell says "running scripts is disabled"? Run this once: </a:t>
            </a:r>
            <a:pPr algn="l" indent="0" marL="0">
              <a:buNone/>
            </a:pPr>
            <a:r>
              <a:rPr lang="en-US" sz="1510" dirty="0">
                <a:solidFill>
                  <a:srgbClr val="D8FFF0"/>
                </a:solidFill>
                <a:latin typeface="Consolas" pitchFamily="34" charset="0"/>
                <a:ea typeface="Consolas" pitchFamily="34" charset="-122"/>
                <a:cs typeface="Consolas" pitchFamily="34" charset="-120"/>
              </a:rPr>
              <a:t>Set-ExecutionPolicy -Scope CurrentUser RemoteSigned</a:t>
            </a:r>
            <a:endParaRPr lang="en-US" sz="1720" dirty="0"/>
          </a:p>
        </p:txBody>
      </p:sp>
      <p:sp>
        <p:nvSpPr>
          <p:cNvPr id="17" name="Text 1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8" name="Text 1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7 / 32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Which Python is running?</a:t>
            </a:r>
            <a:endParaRPr lang="en-US" sz="3000" dirty="0"/>
          </a:p>
        </p:txBody>
      </p:sp>
      <p:sp>
        <p:nvSpPr>
          <p:cNvPr id="8" name="Shape 6"/>
          <p:cNvSpPr/>
          <p:nvPr/>
        </p:nvSpPr>
        <p:spPr>
          <a:xfrm>
            <a:off x="777240" y="1577340"/>
            <a:ext cx="10637215" cy="2895219"/>
          </a:xfrm>
          <a:prstGeom prst="roundRect">
            <a:avLst>
              <a:gd name="adj" fmla="val 3790"/>
            </a:avLst>
          </a:prstGeom>
          <a:solidFill>
            <a:srgbClr val="13272B"/>
          </a:solidFill>
          <a:ln w="9525">
            <a:solidFill>
              <a:srgbClr val="24413F"/>
            </a:solidFill>
            <a:prstDash val="solid"/>
          </a:ln>
        </p:spPr>
      </p:sp>
      <p:sp>
        <p:nvSpPr>
          <p:cNvPr id="9" name="Text 7"/>
          <p:cNvSpPr/>
          <p:nvPr/>
        </p:nvSpPr>
        <p:spPr>
          <a:xfrm>
            <a:off x="960120" y="1687068"/>
            <a:ext cx="10271455" cy="271233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code\where_am_i.py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version : 3.12.7</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Running from   : C:\...\prep-kit\.venv\Scripts\python.exe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Virtual env    : YES  (C:\...\prep-kit\.venv)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Packages the prep kit needs: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openai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httpx</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dotenv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tiktoken</a:t>
            </a:r>
            <a:endParaRPr lang="en-US" sz="1350" dirty="0"/>
          </a:p>
        </p:txBody>
      </p:sp>
      <p:sp>
        <p:nvSpPr>
          <p:cNvPr id="10" name="Text 8"/>
          <p:cNvSpPr/>
          <p:nvPr/>
        </p:nvSpPr>
        <p:spPr>
          <a:xfrm>
            <a:off x="777240" y="4600575"/>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Now open a second terminal, </a:t>
            </a:r>
            <a:pPr algn="l" indent="0" marL="0">
              <a:buNone/>
            </a:pPr>
            <a:r>
              <a:rPr lang="en-US" sz="2000" b="1" dirty="0">
                <a:solidFill>
                  <a:srgbClr val="FFFFFF"/>
                </a:solidFill>
                <a:latin typeface="Segoe UI" pitchFamily="34" charset="0"/>
                <a:ea typeface="Segoe UI" pitchFamily="34" charset="-122"/>
                <a:cs typeface="Segoe UI" pitchFamily="34" charset="-120"/>
              </a:rPr>
              <a:t>don't</a:t>
            </a:r>
            <a:pPr algn="l" indent="0" marL="0">
              <a:buNone/>
            </a:pPr>
            <a:r>
              <a:rPr lang="en-US" sz="2000" dirty="0">
                <a:solidFill>
                  <a:srgbClr val="EEF6F3"/>
                </a:solidFill>
                <a:latin typeface="Segoe UI" pitchFamily="34" charset="0"/>
                <a:ea typeface="Segoe UI" pitchFamily="34" charset="-122"/>
                <a:cs typeface="Segoe UI" pitchFamily="34" charset="-120"/>
              </a:rPr>
              <a:t> activate, and run it again. Different Python, missing packages. That difference is the whole point.</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8 / 32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API call is a request and a response</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2764528"/>
          </a:xfrm>
          <a:prstGeom prst="rect">
            <a:avLst/>
          </a:prstGeom>
        </p:spPr>
      </p:pic>
      <p:sp>
        <p:nvSpPr>
          <p:cNvPr id="7" name="Text 4"/>
          <p:cNvSpPr/>
          <p:nvPr/>
        </p:nvSpPr>
        <p:spPr>
          <a:xfrm>
            <a:off x="777240" y="4561324"/>
            <a:ext cx="10637215"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GET</a:t>
            </a:r>
            <a:pPr algn="l" indent="0" marL="0">
              <a:buNone/>
            </a:pPr>
            <a:r>
              <a:rPr lang="en-US" sz="1700" dirty="0">
                <a:solidFill>
                  <a:srgbClr val="EEF6F3"/>
                </a:solidFill>
                <a:latin typeface="Segoe UI" pitchFamily="34" charset="0"/>
                <a:ea typeface="Segoe UI" pitchFamily="34" charset="-122"/>
                <a:cs typeface="Segoe UI" pitchFamily="34" charset="-120"/>
              </a:rPr>
              <a:t> reads something. </a:t>
            </a:r>
            <a:pPr algn="l" indent="0" marL="0">
              <a:buNone/>
            </a:pPr>
            <a:r>
              <a:rPr lang="en-US" sz="1500" dirty="0">
                <a:solidFill>
                  <a:srgbClr val="D8FFF0"/>
                </a:solidFill>
                <a:latin typeface="Consolas" pitchFamily="34" charset="0"/>
                <a:ea typeface="Consolas" pitchFamily="34" charset="-122"/>
                <a:cs typeface="Consolas" pitchFamily="34" charset="-120"/>
              </a:rPr>
              <a:t>POST</a:t>
            </a:r>
            <a:pPr algn="l" indent="0" marL="0">
              <a:buNone/>
            </a:pPr>
            <a:r>
              <a:rPr lang="en-US" sz="1700" dirty="0">
                <a:solidFill>
                  <a:srgbClr val="EEF6F3"/>
                </a:solidFill>
                <a:latin typeface="Segoe UI" pitchFamily="34" charset="0"/>
                <a:ea typeface="Segoe UI" pitchFamily="34" charset="-122"/>
                <a:cs typeface="Segoe UI" pitchFamily="34" charset="-120"/>
              </a:rPr>
              <a:t> creates or changes something. </a:t>
            </a:r>
            <a:pPr algn="l" indent="0" marL="0">
              <a:buNone/>
            </a:pPr>
            <a:r>
              <a:rPr lang="en-US" sz="1700" b="1" dirty="0">
                <a:solidFill>
                  <a:srgbClr val="FFFFFF"/>
                </a:solidFill>
                <a:latin typeface="Segoe UI" pitchFamily="34" charset="0"/>
                <a:ea typeface="Segoe UI" pitchFamily="34" charset="-122"/>
                <a:cs typeface="Segoe UI" pitchFamily="34" charset="-120"/>
              </a:rPr>
              <a:t>JSON</a:t>
            </a:r>
            <a:pPr algn="l" indent="0" marL="0">
              <a:buNone/>
            </a:pPr>
            <a:r>
              <a:rPr lang="en-US" sz="1700" dirty="0">
                <a:solidFill>
                  <a:srgbClr val="EEF6F3"/>
                </a:solidFill>
                <a:latin typeface="Segoe UI" pitchFamily="34" charset="0"/>
                <a:ea typeface="Segoe UI" pitchFamily="34" charset="-122"/>
                <a:cs typeface="Segoe UI" pitchFamily="34" charset="-120"/>
              </a:rPr>
              <a:t> is text that looks like a Python dict.</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9 / 32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status codes you'll actually see</a:t>
            </a:r>
            <a:endParaRPr lang="en-US" sz="3000" dirty="0"/>
          </a:p>
        </p:txBody>
      </p:sp>
      <p:sp>
        <p:nvSpPr>
          <p:cNvPr id="6" name="Shape 4"/>
          <p:cNvSpPr/>
          <p:nvPr/>
        </p:nvSpPr>
        <p:spPr>
          <a:xfrm>
            <a:off x="777240" y="1577340"/>
            <a:ext cx="2487854" cy="1675295"/>
          </a:xfrm>
          <a:prstGeom prst="roundRect">
            <a:avLst>
              <a:gd name="adj" fmla="val 5458"/>
            </a:avLst>
          </a:prstGeom>
          <a:solidFill>
            <a:srgbClr val="13272B"/>
          </a:solidFill>
          <a:ln w="12700">
            <a:solidFill>
              <a:srgbClr val="13272B"/>
            </a:solidFill>
            <a:prstDash val="solid"/>
          </a:ln>
        </p:spPr>
      </p:sp>
      <p:sp>
        <p:nvSpPr>
          <p:cNvPr id="7" name="Shape 5"/>
          <p:cNvSpPr/>
          <p:nvPr/>
        </p:nvSpPr>
        <p:spPr>
          <a:xfrm>
            <a:off x="777240" y="1577340"/>
            <a:ext cx="2487854" cy="64008"/>
          </a:xfrm>
          <a:prstGeom prst="rect">
            <a:avLst/>
          </a:prstGeom>
          <a:solidFill>
            <a:srgbClr val="B4F05A"/>
          </a:solidFill>
          <a:ln w="12700">
            <a:solidFill>
              <a:srgbClr val="B4F05A"/>
            </a:solidFill>
            <a:prstDash val="solid"/>
          </a:ln>
        </p:spPr>
      </p:sp>
      <p:sp>
        <p:nvSpPr>
          <p:cNvPr id="8" name="Text 6"/>
          <p:cNvSpPr/>
          <p:nvPr/>
        </p:nvSpPr>
        <p:spPr>
          <a:xfrm>
            <a:off x="905256" y="1769364"/>
            <a:ext cx="2231822" cy="367703"/>
          </a:xfrm>
          <a:prstGeom prst="rect">
            <a:avLst/>
          </a:prstGeom>
          <a:noFill/>
          <a:ln/>
        </p:spPr>
        <p:txBody>
          <a:bodyPr wrap="square" lIns="0" tIns="0" rIns="0" bIns="0" rtlCol="0" anchor="t"/>
          <a:lstStyle/>
          <a:p>
            <a:pPr algn="l" indent="0" marL="0">
              <a:buNone/>
            </a:pPr>
            <a:r>
              <a:rPr lang="en-US" sz="1785" b="1" dirty="0">
                <a:solidFill>
                  <a:srgbClr val="B4F05A"/>
                </a:solidFill>
                <a:latin typeface="Segoe UI" pitchFamily="34" charset="0"/>
                <a:ea typeface="Segoe UI" pitchFamily="34" charset="-122"/>
                <a:cs typeface="Segoe UI" pitchFamily="34" charset="-120"/>
              </a:rPr>
              <a:t>200 OK</a:t>
            </a:r>
            <a:endParaRPr lang="en-US" sz="1785" dirty="0"/>
          </a:p>
        </p:txBody>
      </p:sp>
      <p:sp>
        <p:nvSpPr>
          <p:cNvPr id="9" name="Text 7"/>
          <p:cNvSpPr/>
          <p:nvPr/>
        </p:nvSpPr>
        <p:spPr>
          <a:xfrm>
            <a:off x="905256"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Here's what you asked for.</a:t>
            </a:r>
            <a:endParaRPr lang="en-US" sz="1600" dirty="0"/>
          </a:p>
        </p:txBody>
      </p:sp>
      <p:sp>
        <p:nvSpPr>
          <p:cNvPr id="10" name="Shape 8"/>
          <p:cNvSpPr/>
          <p:nvPr/>
        </p:nvSpPr>
        <p:spPr>
          <a:xfrm>
            <a:off x="3493694" y="1577340"/>
            <a:ext cx="2487854" cy="1675295"/>
          </a:xfrm>
          <a:prstGeom prst="roundRect">
            <a:avLst>
              <a:gd name="adj" fmla="val 5458"/>
            </a:avLst>
          </a:prstGeom>
          <a:solidFill>
            <a:srgbClr val="13272B"/>
          </a:solidFill>
          <a:ln w="12700">
            <a:solidFill>
              <a:srgbClr val="13272B"/>
            </a:solidFill>
            <a:prstDash val="solid"/>
          </a:ln>
        </p:spPr>
      </p:sp>
      <p:sp>
        <p:nvSpPr>
          <p:cNvPr id="11" name="Shape 9"/>
          <p:cNvSpPr/>
          <p:nvPr/>
        </p:nvSpPr>
        <p:spPr>
          <a:xfrm>
            <a:off x="3493694" y="1577340"/>
            <a:ext cx="2487854" cy="64008"/>
          </a:xfrm>
          <a:prstGeom prst="rect">
            <a:avLst/>
          </a:prstGeom>
          <a:solidFill>
            <a:srgbClr val="5AA2FF"/>
          </a:solidFill>
          <a:ln w="12700">
            <a:solidFill>
              <a:srgbClr val="5AA2FF"/>
            </a:solidFill>
            <a:prstDash val="solid"/>
          </a:ln>
        </p:spPr>
      </p:sp>
      <p:sp>
        <p:nvSpPr>
          <p:cNvPr id="12" name="Text 10"/>
          <p:cNvSpPr/>
          <p:nvPr/>
        </p:nvSpPr>
        <p:spPr>
          <a:xfrm>
            <a:off x="3621710" y="176936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404 Not found</a:t>
            </a:r>
            <a:endParaRPr lang="en-US" sz="1785" dirty="0"/>
          </a:p>
        </p:txBody>
      </p:sp>
      <p:sp>
        <p:nvSpPr>
          <p:cNvPr id="13" name="Text 11"/>
          <p:cNvSpPr/>
          <p:nvPr/>
        </p:nvSpPr>
        <p:spPr>
          <a:xfrm>
            <a:off x="3621710"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I understood you, but that thing doesn't exist.</a:t>
            </a:r>
            <a:endParaRPr lang="en-US" sz="1600" dirty="0"/>
          </a:p>
        </p:txBody>
      </p:sp>
      <p:sp>
        <p:nvSpPr>
          <p:cNvPr id="14" name="Shape 12"/>
          <p:cNvSpPr/>
          <p:nvPr/>
        </p:nvSpPr>
        <p:spPr>
          <a:xfrm>
            <a:off x="6210148" y="1577340"/>
            <a:ext cx="2487854" cy="1675295"/>
          </a:xfrm>
          <a:prstGeom prst="roundRect">
            <a:avLst>
              <a:gd name="adj" fmla="val 5458"/>
            </a:avLst>
          </a:prstGeom>
          <a:solidFill>
            <a:srgbClr val="13272B"/>
          </a:solidFill>
          <a:ln w="12700">
            <a:solidFill>
              <a:srgbClr val="13272B"/>
            </a:solidFill>
            <a:prstDash val="solid"/>
          </a:ln>
        </p:spPr>
      </p:sp>
      <p:sp>
        <p:nvSpPr>
          <p:cNvPr id="15" name="Shape 13"/>
          <p:cNvSpPr/>
          <p:nvPr/>
        </p:nvSpPr>
        <p:spPr>
          <a:xfrm>
            <a:off x="6210148" y="1577340"/>
            <a:ext cx="2487854" cy="64008"/>
          </a:xfrm>
          <a:prstGeom prst="rect">
            <a:avLst/>
          </a:prstGeom>
          <a:solidFill>
            <a:srgbClr val="FFC53D"/>
          </a:solidFill>
          <a:ln w="12700">
            <a:solidFill>
              <a:srgbClr val="FFC53D"/>
            </a:solidFill>
            <a:prstDash val="solid"/>
          </a:ln>
        </p:spPr>
      </p:sp>
      <p:sp>
        <p:nvSpPr>
          <p:cNvPr id="16" name="Text 14"/>
          <p:cNvSpPr/>
          <p:nvPr/>
        </p:nvSpPr>
        <p:spPr>
          <a:xfrm>
            <a:off x="6338164" y="176936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429 Too many</a:t>
            </a:r>
            <a:endParaRPr lang="en-US" sz="1785" dirty="0"/>
          </a:p>
        </p:txBody>
      </p:sp>
      <p:sp>
        <p:nvSpPr>
          <p:cNvPr id="17" name="Text 15"/>
          <p:cNvSpPr/>
          <p:nvPr/>
        </p:nvSpPr>
        <p:spPr>
          <a:xfrm>
            <a:off x="6338164"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Slow down. You'll meet this on free LLM tiers.</a:t>
            </a:r>
            <a:endParaRPr lang="en-US" sz="1600" dirty="0"/>
          </a:p>
        </p:txBody>
      </p:sp>
      <p:sp>
        <p:nvSpPr>
          <p:cNvPr id="18" name="Shape 16"/>
          <p:cNvSpPr/>
          <p:nvPr/>
        </p:nvSpPr>
        <p:spPr>
          <a:xfrm>
            <a:off x="8926601" y="1577340"/>
            <a:ext cx="2487854" cy="1675295"/>
          </a:xfrm>
          <a:prstGeom prst="roundRect">
            <a:avLst>
              <a:gd name="adj" fmla="val 5458"/>
            </a:avLst>
          </a:prstGeom>
          <a:solidFill>
            <a:srgbClr val="13272B"/>
          </a:solidFill>
          <a:ln w="12700">
            <a:solidFill>
              <a:srgbClr val="13272B"/>
            </a:solidFill>
            <a:prstDash val="solid"/>
          </a:ln>
        </p:spPr>
      </p:sp>
      <p:sp>
        <p:nvSpPr>
          <p:cNvPr id="19" name="Shape 17"/>
          <p:cNvSpPr/>
          <p:nvPr/>
        </p:nvSpPr>
        <p:spPr>
          <a:xfrm>
            <a:off x="8926601" y="1577340"/>
            <a:ext cx="2487854" cy="64008"/>
          </a:xfrm>
          <a:prstGeom prst="rect">
            <a:avLst/>
          </a:prstGeom>
          <a:solidFill>
            <a:srgbClr val="FF7A7A"/>
          </a:solidFill>
          <a:ln w="12700">
            <a:solidFill>
              <a:srgbClr val="FF7A7A"/>
            </a:solidFill>
            <a:prstDash val="solid"/>
          </a:ln>
        </p:spPr>
      </p:sp>
      <p:sp>
        <p:nvSpPr>
          <p:cNvPr id="20" name="Text 18"/>
          <p:cNvSpPr/>
          <p:nvPr/>
        </p:nvSpPr>
        <p:spPr>
          <a:xfrm>
            <a:off x="9054617" y="1769364"/>
            <a:ext cx="2231822"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500 Server error</a:t>
            </a:r>
            <a:endParaRPr lang="en-US" sz="1785" dirty="0"/>
          </a:p>
        </p:txBody>
      </p:sp>
      <p:sp>
        <p:nvSpPr>
          <p:cNvPr id="21" name="Text 19"/>
          <p:cNvSpPr/>
          <p:nvPr/>
        </p:nvSpPr>
        <p:spPr>
          <a:xfrm>
            <a:off x="9054617" y="2173643"/>
            <a:ext cx="2231822"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Something broke on my side, not yours.</a:t>
            </a:r>
            <a:endParaRPr lang="en-US" sz="1600" dirty="0"/>
          </a:p>
        </p:txBody>
      </p:sp>
      <p:sp>
        <p:nvSpPr>
          <p:cNvPr id="22" name="Shape 20"/>
          <p:cNvSpPr/>
          <p:nvPr/>
        </p:nvSpPr>
        <p:spPr>
          <a:xfrm>
            <a:off x="777240" y="3380651"/>
            <a:ext cx="10637215" cy="1169822"/>
          </a:xfrm>
          <a:prstGeom prst="roundRect">
            <a:avLst>
              <a:gd name="adj" fmla="val 7817"/>
            </a:avLst>
          </a:prstGeom>
          <a:solidFill>
            <a:srgbClr val="0D3029"/>
          </a:solidFill>
          <a:ln w="12700">
            <a:solidFill>
              <a:srgbClr val="0D3029"/>
            </a:solidFill>
            <a:prstDash val="solid"/>
          </a:ln>
        </p:spPr>
      </p:sp>
      <p:sp>
        <p:nvSpPr>
          <p:cNvPr id="23" name="Shape 21"/>
          <p:cNvSpPr/>
          <p:nvPr/>
        </p:nvSpPr>
        <p:spPr>
          <a:xfrm>
            <a:off x="777240" y="3380651"/>
            <a:ext cx="82296" cy="1169822"/>
          </a:xfrm>
          <a:prstGeom prst="rect">
            <a:avLst/>
          </a:prstGeom>
          <a:solidFill>
            <a:srgbClr val="01D294"/>
          </a:solidFill>
          <a:ln w="12700">
            <a:solidFill>
              <a:srgbClr val="01D294"/>
            </a:solidFill>
            <a:prstDash val="solid"/>
          </a:ln>
        </p:spPr>
      </p:sp>
      <p:sp>
        <p:nvSpPr>
          <p:cNvPr id="24" name="Text 22"/>
          <p:cNvSpPr/>
          <p:nvPr/>
        </p:nvSpPr>
        <p:spPr>
          <a:xfrm>
            <a:off x="1051560" y="3490379"/>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5" name="Text 23"/>
          <p:cNvSpPr/>
          <p:nvPr/>
        </p:nvSpPr>
        <p:spPr>
          <a:xfrm>
            <a:off x="1051560" y="372812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404 is not a crash. The server answered fine; it's telling you something. Good code reads the status and decides what to do.</a:t>
            </a:r>
            <a:endParaRPr lang="en-US" sz="1720" dirty="0"/>
          </a:p>
        </p:txBody>
      </p:sp>
      <p:sp>
        <p:nvSpPr>
          <p:cNvPr id="26" name="Text 24"/>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7" name="Text 25"/>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10 / 32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real API, running on your laptop</a:t>
            </a:r>
            <a:endParaRPr lang="en-US" sz="3000" dirty="0"/>
          </a:p>
        </p:txBody>
      </p:sp>
      <p:sp>
        <p:nvSpPr>
          <p:cNvPr id="8" name="Shape 6"/>
          <p:cNvSpPr/>
          <p:nvPr/>
        </p:nvSpPr>
        <p:spPr>
          <a:xfrm>
            <a:off x="777240" y="1577340"/>
            <a:ext cx="10637215" cy="1475613"/>
          </a:xfrm>
          <a:prstGeom prst="roundRect">
            <a:avLst>
              <a:gd name="adj" fmla="val 7436"/>
            </a:avLst>
          </a:prstGeom>
          <a:solidFill>
            <a:srgbClr val="13272B"/>
          </a:solidFill>
          <a:ln w="9525">
            <a:solidFill>
              <a:srgbClr val="24413F"/>
            </a:solidFill>
            <a:prstDash val="solid"/>
          </a:ln>
        </p:spPr>
      </p:sp>
      <p:sp>
        <p:nvSpPr>
          <p:cNvPr id="9" name="Text 7"/>
          <p:cNvSpPr/>
          <p:nvPr/>
        </p:nvSpPr>
        <p:spPr>
          <a:xfrm>
            <a:off x="960120" y="1687068"/>
            <a:ext cx="10271455" cy="1292733"/>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1, from prep-kit/ (leave it running)</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uvicorn app:app --app-dir mock_api --port 9000</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terminal 2, from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code\hello_api.py</a:t>
            </a:r>
            <a:endParaRPr lang="en-US" sz="1350" dirty="0"/>
          </a:p>
        </p:txBody>
      </p:sp>
      <p:sp>
        <p:nvSpPr>
          <p:cNvPr id="10" name="Text 8"/>
          <p:cNvSpPr/>
          <p:nvPr/>
        </p:nvSpPr>
        <p:spPr>
          <a:xfrm>
            <a:off x="777240" y="3180969"/>
            <a:ext cx="10637215" cy="1225296"/>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Open </a:t>
            </a:r>
            <a:pPr indent="0" marL="0">
              <a:buNone/>
            </a:pPr>
            <a:r>
              <a:rPr lang="en-US" sz="2000" dirty="0">
                <a:solidFill>
                  <a:srgbClr val="D8FFF0"/>
                </a:solidFill>
                <a:latin typeface="Consolas" pitchFamily="34" charset="0"/>
                <a:ea typeface="Consolas" pitchFamily="34" charset="-122"/>
                <a:cs typeface="Consolas" pitchFamily="34" charset="-120"/>
              </a:rPr>
              <a:t>http://localhost:9000/docs</a:t>
            </a:r>
            <a:pPr indent="0" marL="0">
              <a:buNone/>
            </a:pPr>
            <a:r>
              <a:rPr lang="en-US" sz="2000" dirty="0">
                <a:solidFill>
                  <a:srgbClr val="EEF6F3"/>
                </a:solidFill>
                <a:latin typeface="Segoe UI" pitchFamily="34" charset="0"/>
                <a:ea typeface="Segoe UI" pitchFamily="34" charset="-122"/>
                <a:cs typeface="Segoe UI" pitchFamily="34" charset="-120"/>
              </a:rPr>
              <a:t>: every endpoint, with a "Try it out" button.</a:t>
            </a:r>
            <a:endParaRPr lang="en-US" sz="2000" dirty="0"/>
          </a:p>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hello_api.py</a:t>
            </a:r>
            <a:pPr indent="0" marL="0">
              <a:buNone/>
            </a:pPr>
            <a:r>
              <a:rPr lang="en-US" sz="2000" dirty="0">
                <a:solidFill>
                  <a:srgbClr val="EEF6F3"/>
                </a:solidFill>
                <a:latin typeface="Segoe UI" pitchFamily="34" charset="0"/>
                <a:ea typeface="Segoe UI" pitchFamily="34" charset="-122"/>
                <a:cs typeface="Segoe UI" pitchFamily="34" charset="-120"/>
              </a:rPr>
              <a:t> sends five requests: an order, a missing order (404), a refund, the same refund again, and a forced failure (500).</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11 / 32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02</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Same key, same refund</a:t>
            </a:r>
            <a:endParaRPr lang="en-US" sz="3000" dirty="0"/>
          </a:p>
        </p:txBody>
      </p:sp>
      <p:sp>
        <p:nvSpPr>
          <p:cNvPr id="6" name="Shape 4"/>
          <p:cNvSpPr/>
          <p:nvPr/>
        </p:nvSpPr>
        <p:spPr>
          <a:xfrm>
            <a:off x="777240" y="1577340"/>
            <a:ext cx="10637215" cy="1948815"/>
          </a:xfrm>
          <a:prstGeom prst="roundRect">
            <a:avLst>
              <a:gd name="adj" fmla="val 5630"/>
            </a:avLst>
          </a:prstGeom>
          <a:solidFill>
            <a:srgbClr val="13272B"/>
          </a:solidFill>
          <a:ln w="9525">
            <a:solidFill>
              <a:srgbClr val="24413F"/>
            </a:solidFill>
            <a:prstDash val="solid"/>
          </a:ln>
        </p:spPr>
      </p:sp>
      <p:sp>
        <p:nvSpPr>
          <p:cNvPr id="7" name="Text 5"/>
          <p:cNvSpPr/>
          <p:nvPr/>
        </p:nvSpPr>
        <p:spPr>
          <a:xfrm>
            <a:off x="960120" y="1687068"/>
            <a:ext cx="10271455" cy="1765935"/>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3. Issue a refund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4. Retry with the SAME 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POST http://localhost:9000/refunds        Idempotency-Key: prep-kit-1f2a9c3e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-&gt; status 200 OK      {"refund_id": "R-26762c6f", "amount_usd": 79.99}</a:t>
            </a:r>
            <a:endParaRPr lang="en-US" sz="1350" dirty="0"/>
          </a:p>
        </p:txBody>
      </p:sp>
      <p:sp>
        <p:nvSpPr>
          <p:cNvPr id="8" name="Shape 6"/>
          <p:cNvSpPr/>
          <p:nvPr/>
        </p:nvSpPr>
        <p:spPr>
          <a:xfrm>
            <a:off x="777240" y="3654171"/>
            <a:ext cx="10637215" cy="1169822"/>
          </a:xfrm>
          <a:prstGeom prst="roundRect">
            <a:avLst>
              <a:gd name="adj" fmla="val 7817"/>
            </a:avLst>
          </a:prstGeom>
          <a:solidFill>
            <a:srgbClr val="251F3D"/>
          </a:solidFill>
          <a:ln w="12700">
            <a:solidFill>
              <a:srgbClr val="251F3D"/>
            </a:solidFill>
            <a:prstDash val="solid"/>
          </a:ln>
        </p:spPr>
      </p:sp>
      <p:sp>
        <p:nvSpPr>
          <p:cNvPr id="9" name="Shape 7"/>
          <p:cNvSpPr/>
          <p:nvPr/>
        </p:nvSpPr>
        <p:spPr>
          <a:xfrm>
            <a:off x="777240" y="3654171"/>
            <a:ext cx="82296" cy="1169822"/>
          </a:xfrm>
          <a:prstGeom prst="rect">
            <a:avLst/>
          </a:prstGeom>
          <a:solidFill>
            <a:srgbClr val="B99CFF"/>
          </a:solidFill>
          <a:ln w="12700">
            <a:solidFill>
              <a:srgbClr val="B99CFF"/>
            </a:solidFill>
            <a:prstDash val="solid"/>
          </a:ln>
        </p:spPr>
      </p:sp>
      <p:sp>
        <p:nvSpPr>
          <p:cNvPr id="10" name="Text 8"/>
          <p:cNvSpPr/>
          <p:nvPr/>
        </p:nvSpPr>
        <p:spPr>
          <a:xfrm>
            <a:off x="1051560" y="3763899"/>
            <a:ext cx="10225735" cy="237744"/>
          </a:xfrm>
          <a:prstGeom prst="rect">
            <a:avLst/>
          </a:prstGeom>
          <a:noFill/>
          <a:ln/>
        </p:spPr>
        <p:txBody>
          <a:bodyPr wrap="square" lIns="0" tIns="0" rIns="0" bIns="0" rtlCol="0" anchor="t"/>
          <a:lstStyle/>
          <a:p>
            <a:pPr indent="0" marL="0">
              <a:buNone/>
            </a:pPr>
            <a:r>
              <a:rPr lang="en-US" sz="1050" b="1" spc="300" kern="0" dirty="0">
                <a:solidFill>
                  <a:srgbClr val="B99CFF"/>
                </a:solidFill>
                <a:latin typeface="Segoe UI" pitchFamily="34" charset="0"/>
                <a:ea typeface="Segoe UI" pitchFamily="34" charset="-122"/>
                <a:cs typeface="Segoe UI" pitchFamily="34" charset="-120"/>
              </a:rPr>
              <a:t>THINK OF IT LIKE</a:t>
            </a:r>
            <a:endParaRPr lang="en-US" sz="1050" dirty="0"/>
          </a:p>
        </p:txBody>
      </p:sp>
      <p:sp>
        <p:nvSpPr>
          <p:cNvPr id="11" name="Text 9"/>
          <p:cNvSpPr/>
          <p:nvPr/>
        </p:nvSpPr>
        <p:spPr>
          <a:xfrm>
            <a:off x="1051560" y="400164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receipt number on a bank transfer. Hand the clerk the same slip twice and you pay once, because they've already seen that number.</a:t>
            </a:r>
            <a:endParaRPr lang="en-US" sz="1720" dirty="0"/>
          </a:p>
        </p:txBody>
      </p:sp>
      <p:sp>
        <p:nvSpPr>
          <p:cNvPr id="12" name="Text 10"/>
          <p:cNvSpPr/>
          <p:nvPr/>
        </p:nvSpPr>
        <p:spPr>
          <a:xfrm>
            <a:off x="777240" y="4952009"/>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caller picks a unique key for "this one refund". A retry after a timeout reuses it, so the customer is refunded </a:t>
            </a:r>
            <a:pPr algn="l" indent="0" marL="0">
              <a:buNone/>
            </a:pPr>
            <a:r>
              <a:rPr lang="en-US" sz="1700" b="1" dirty="0">
                <a:solidFill>
                  <a:srgbClr val="FFFFFF"/>
                </a:solidFill>
                <a:latin typeface="Segoe UI" pitchFamily="34" charset="0"/>
                <a:ea typeface="Segoe UI" pitchFamily="34" charset="-122"/>
                <a:cs typeface="Segoe UI" pitchFamily="34" charset="-120"/>
              </a:rPr>
              <a:t>once</a:t>
            </a:r>
            <a:pPr algn="l" indent="0" marL="0">
              <a:buNone/>
            </a:pPr>
            <a:r>
              <a:rPr lang="en-US" sz="1700" dirty="0">
                <a:solidFill>
                  <a:srgbClr val="EEF6F3"/>
                </a:solidFill>
                <a:latin typeface="Segoe UI" pitchFamily="34" charset="0"/>
                <a:ea typeface="Segoe UI" pitchFamily="34" charset="-122"/>
                <a:cs typeface="Segoe UI" pitchFamily="34" charset="-120"/>
              </a:rPr>
              <a:t>. That's called </a:t>
            </a:r>
            <a:pPr algn="l" indent="0" marL="0">
              <a:buNone/>
            </a:pPr>
            <a:r>
              <a:rPr lang="en-US" sz="1700" b="1" dirty="0">
                <a:solidFill>
                  <a:srgbClr val="FFFFFF"/>
                </a:solidFill>
                <a:latin typeface="Segoe UI" pitchFamily="34" charset="0"/>
                <a:ea typeface="Segoe UI" pitchFamily="34" charset="-122"/>
                <a:cs typeface="Segoe UI" pitchFamily="34" charset="-120"/>
              </a:rPr>
              <a:t>idempotency</a:t>
            </a:r>
            <a:pPr algn="l" indent="0" marL="0">
              <a:buNone/>
            </a:pPr>
            <a:r>
              <a:rPr lang="en-US" sz="1700" dirty="0">
                <a:solidFill>
                  <a:srgbClr val="EEF6F3"/>
                </a:solidFill>
                <a:latin typeface="Segoe UI" pitchFamily="34" charset="0"/>
                <a:ea typeface="Segoe UI" pitchFamily="34" charset="-122"/>
                <a:cs typeface="Segoe UI" pitchFamily="34" charset="-120"/>
              </a:rPr>
              <a:t>.</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12 / 32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APIs</a:t>
            </a:r>
            <a:endParaRPr lang="en-US" sz="3000" dirty="0"/>
          </a:p>
        </p:txBody>
      </p:sp>
      <p:sp>
        <p:nvSpPr>
          <p:cNvPr id="8" name="Text 6"/>
          <p:cNvSpPr/>
          <p:nvPr/>
        </p:nvSpPr>
        <p:spPr>
          <a:xfrm>
            <a:off x="777240" y="1577340"/>
            <a:ext cx="10637215" cy="163982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ask for order O-00000 and get a </a:t>
            </a:r>
            <a:pPr indent="0" marL="0">
              <a:buNone/>
            </a:pPr>
            <a:r>
              <a:rPr lang="en-US" sz="2000" b="1" dirty="0">
                <a:solidFill>
                  <a:srgbClr val="FFFFFF"/>
                </a:solidFill>
                <a:latin typeface="Segoe UI" pitchFamily="34" charset="0"/>
                <a:ea typeface="Segoe UI" pitchFamily="34" charset="-122"/>
                <a:cs typeface="Segoe UI" pitchFamily="34" charset="-120"/>
              </a:rPr>
              <a:t>404</a:t>
            </a:r>
            <a:pPr indent="0" marL="0">
              <a:buNone/>
            </a:pPr>
            <a:r>
              <a:rPr lang="en-US" sz="2000" dirty="0">
                <a:solidFill>
                  <a:srgbClr val="EEF6F3"/>
                </a:solidFill>
                <a:latin typeface="Segoe UI" pitchFamily="34" charset="0"/>
                <a:ea typeface="Segoe UI" pitchFamily="34" charset="-122"/>
                <a:cs typeface="Segoe UI" pitchFamily="34" charset="-120"/>
              </a:rPr>
              <a:t>. Is the API broken?</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 refund request times out. Why is it safe to retry with the same </a:t>
            </a:r>
            <a:pPr indent="0" marL="0">
              <a:buNone/>
            </a:pPr>
            <a:r>
              <a:rPr lang="en-US" sz="2000" dirty="0">
                <a:solidFill>
                  <a:srgbClr val="D8FFF0"/>
                </a:solidFill>
                <a:latin typeface="Consolas" pitchFamily="34" charset="0"/>
                <a:ea typeface="Consolas" pitchFamily="34" charset="-122"/>
                <a:cs typeface="Consolas" pitchFamily="34" charset="-120"/>
              </a:rPr>
              <a:t>Idempotency-Key</a:t>
            </a:r>
            <a:pPr indent="0" marL="0">
              <a:buNone/>
            </a:pPr>
            <a:r>
              <a:rPr lang="en-US" sz="2000" dirty="0">
                <a:solidFill>
                  <a:srgbClr val="EEF6F3"/>
                </a:solidFill>
                <a:latin typeface="Segoe UI" pitchFamily="34" charset="0"/>
                <a:ea typeface="Segoe UI" pitchFamily="34" charset="-122"/>
                <a:cs typeface="Segoe UI" pitchFamily="34" charset="-120"/>
              </a:rPr>
              <a: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Your script prints </a:t>
            </a:r>
            <a:pPr indent="0" marL="0">
              <a:buNone/>
            </a:pPr>
            <a:r>
              <a:rPr lang="en-US" sz="2000" dirty="0">
                <a:solidFill>
                  <a:srgbClr val="D8FFF0"/>
                </a:solidFill>
                <a:latin typeface="Consolas" pitchFamily="34" charset="0"/>
                <a:ea typeface="Consolas" pitchFamily="34" charset="-122"/>
                <a:cs typeface="Consolas" pitchFamily="34" charset="-120"/>
              </a:rPr>
              <a:t>Virtual env : NO</a:t>
            </a:r>
            <a:pPr indent="0" marL="0">
              <a:buNone/>
            </a:pPr>
            <a:r>
              <a:rPr lang="en-US" sz="2000" dirty="0">
                <a:solidFill>
                  <a:srgbClr val="EEF6F3"/>
                </a:solidFill>
                <a:latin typeface="Segoe UI" pitchFamily="34" charset="0"/>
                <a:ea typeface="Segoe UI" pitchFamily="34" charset="-122"/>
                <a:cs typeface="Segoe UI" pitchFamily="34" charset="-120"/>
              </a:rPr>
              <a:t>. What did you forget?</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13 / 32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never go in your code</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.env</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7" name="Shape 5"/>
          <p:cNvSpPr/>
          <p:nvPr/>
        </p:nvSpPr>
        <p:spPr>
          <a:xfrm>
            <a:off x="777240" y="2091690"/>
            <a:ext cx="5135728" cy="765810"/>
          </a:xfrm>
          <a:prstGeom prst="roundRect">
            <a:avLst>
              <a:gd name="adj" fmla="val 14328"/>
            </a:avLst>
          </a:prstGeom>
          <a:solidFill>
            <a:srgbClr val="13272B"/>
          </a:solidFill>
          <a:ln w="9525">
            <a:solidFill>
              <a:srgbClr val="24413F"/>
            </a:solidFill>
            <a:prstDash val="solid"/>
          </a:ln>
        </p:spPr>
      </p:sp>
      <p:sp>
        <p:nvSpPr>
          <p:cNvPr id="8" name="Text 6"/>
          <p:cNvSpPr/>
          <p:nvPr/>
        </p:nvSpPr>
        <p:spPr>
          <a:xfrm>
            <a:off x="960120" y="2201418"/>
            <a:ext cx="4769968"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GEMINI_API_KEY=AIza...</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GEMINI_MODEL=gemini-3.5-flash-lite</a:t>
            </a:r>
            <a:endParaRPr lang="en-US" sz="1350" dirty="0"/>
          </a:p>
        </p:txBody>
      </p:sp>
      <p:sp>
        <p:nvSpPr>
          <p:cNvPr id="9" name="Text 7"/>
          <p:cNvSpPr/>
          <p:nvPr/>
        </p:nvSpPr>
        <p:spPr>
          <a:xfrm>
            <a:off x="777240" y="2948940"/>
            <a:ext cx="5135728" cy="650748"/>
          </a:xfrm>
          <a:prstGeom prst="rect">
            <a:avLst/>
          </a:prstGeom>
          <a:noFill/>
          <a:ln/>
        </p:spPr>
        <p:txBody>
          <a:bodyPr wrap="square" lIns="0" tIns="0" rIns="0" bIns="0" rtlCol="0" anchor="t"/>
          <a:lstStyle/>
          <a:p>
            <a:pPr algn="l" indent="0" marL="0">
              <a:buNone/>
            </a:pPr>
            <a:r>
              <a:rPr lang="en-US" sz="1500" dirty="0">
                <a:solidFill>
                  <a:srgbClr val="D8FFF0"/>
                </a:solidFill>
                <a:latin typeface="Consolas" pitchFamily="34" charset="0"/>
                <a:ea typeface="Consolas" pitchFamily="34" charset="-122"/>
                <a:cs typeface="Consolas" pitchFamily="34" charset="-120"/>
              </a:rPr>
              <a:t>python-dotenv</a:t>
            </a:r>
            <a:pPr algn="l" indent="0" marL="0">
              <a:buNone/>
            </a:pPr>
            <a:r>
              <a:rPr lang="en-US" sz="1700" dirty="0">
                <a:solidFill>
                  <a:srgbClr val="EEF6F3"/>
                </a:solidFill>
                <a:latin typeface="Segoe UI" pitchFamily="34" charset="0"/>
                <a:ea typeface="Segoe UI" pitchFamily="34" charset="-122"/>
                <a:cs typeface="Segoe UI" pitchFamily="34" charset="-120"/>
              </a:rPr>
              <a:t> reads it at startup and Python sees each line as an environment variable.</a:t>
            </a:r>
            <a:endParaRPr lang="en-US" sz="1700" dirty="0"/>
          </a:p>
        </p:txBody>
      </p:sp>
      <p:sp>
        <p:nvSpPr>
          <p:cNvPr id="10" name="Text 8"/>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The </a:t>
            </a:r>
            <a:pPr algn="l" indent="0" marL="0">
              <a:buNone/>
            </a:pPr>
            <a:r>
              <a:rPr lang="en-US" sz="1850" dirty="0">
                <a:solidFill>
                  <a:srgbClr val="D8FFF0"/>
                </a:solidFill>
                <a:latin typeface="Consolas" pitchFamily="34" charset="0"/>
                <a:ea typeface="Consolas" pitchFamily="34" charset="-122"/>
                <a:cs typeface="Consolas" pitchFamily="34" charset="-120"/>
              </a:rPr>
              <a:t>.gitignore</a:t>
            </a:r>
            <a:pPr algn="l" indent="0" marL="0">
              <a:buNone/>
            </a:pPr>
            <a:r>
              <a:rPr lang="en-US" sz="2100" dirty="0">
                <a:solidFill>
                  <a:srgbClr val="01D294"/>
                </a:solidFill>
                <a:latin typeface="Segoe UI" pitchFamily="34" charset="0"/>
                <a:ea typeface="Segoe UI" pitchFamily="34" charset="-122"/>
                <a:cs typeface="Segoe UI" pitchFamily="34" charset="-120"/>
              </a:rPr>
              <a:t> file</a:t>
            </a:r>
            <a:endParaRPr lang="en-US" sz="2100" dirty="0"/>
          </a:p>
        </p:txBody>
      </p:sp>
      <p:sp>
        <p:nvSpPr>
          <p:cNvPr id="11" name="Shape 9"/>
          <p:cNvSpPr/>
          <p:nvPr/>
        </p:nvSpPr>
        <p:spPr>
          <a:xfrm>
            <a:off x="6278728" y="2091690"/>
            <a:ext cx="5135728" cy="765810"/>
          </a:xfrm>
          <a:prstGeom prst="roundRect">
            <a:avLst>
              <a:gd name="adj" fmla="val 14328"/>
            </a:avLst>
          </a:prstGeom>
          <a:solidFill>
            <a:srgbClr val="13272B"/>
          </a:solidFill>
          <a:ln w="9525">
            <a:solidFill>
              <a:srgbClr val="24413F"/>
            </a:solidFill>
            <a:prstDash val="solid"/>
          </a:ln>
        </p:spPr>
      </p:sp>
      <p:sp>
        <p:nvSpPr>
          <p:cNvPr id="12" name="Text 10"/>
          <p:cNvSpPr/>
          <p:nvPr/>
        </p:nvSpPr>
        <p:spPr>
          <a:xfrm>
            <a:off x="6461608" y="2201418"/>
            <a:ext cx="4769968"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Secrets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.env</a:t>
            </a:r>
            <a:endParaRPr lang="en-US" sz="1350" dirty="0"/>
          </a:p>
        </p:txBody>
      </p:sp>
      <p:sp>
        <p:nvSpPr>
          <p:cNvPr id="13" name="Text 11"/>
          <p:cNvSpPr/>
          <p:nvPr/>
        </p:nvSpPr>
        <p:spPr>
          <a:xfrm>
            <a:off x="6278728" y="2948940"/>
            <a:ext cx="5135728" cy="948690"/>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Git never sees </a:t>
            </a:r>
            <a:pPr algn="l" indent="0" marL="0">
              <a:buNone/>
            </a:pPr>
            <a:r>
              <a:rPr lang="en-US" sz="1500" dirty="0">
                <a:solidFill>
                  <a:srgbClr val="D8FFF0"/>
                </a:solidFill>
                <a:latin typeface="Consolas" pitchFamily="34" charset="0"/>
                <a:ea typeface="Consolas" pitchFamily="34" charset="-122"/>
                <a:cs typeface="Consolas" pitchFamily="34" charset="-120"/>
              </a:rPr>
              <a:t>.env</a:t>
            </a:r>
            <a:pPr algn="l" indent="0" marL="0">
              <a:buNone/>
            </a:pPr>
            <a:r>
              <a:rPr lang="en-US" sz="1700" dirty="0">
                <a:solidFill>
                  <a:srgbClr val="EEF6F3"/>
                </a:solidFill>
                <a:latin typeface="Segoe UI" pitchFamily="34" charset="0"/>
                <a:ea typeface="Segoe UI" pitchFamily="34" charset="-122"/>
                <a:cs typeface="Segoe UI" pitchFamily="34" charset="-120"/>
              </a:rPr>
              <a:t>, so you can't commit it by accident. The repo ships </a:t>
            </a:r>
            <a:pPr algn="l" indent="0" marL="0">
              <a:buNone/>
            </a:pPr>
            <a:r>
              <a:rPr lang="en-US" sz="1500" dirty="0">
                <a:solidFill>
                  <a:srgbClr val="D8FFF0"/>
                </a:solidFill>
                <a:latin typeface="Consolas" pitchFamily="34" charset="0"/>
                <a:ea typeface="Consolas" pitchFamily="34" charset="-122"/>
                <a:cs typeface="Consolas" pitchFamily="34" charset="-120"/>
              </a:rPr>
              <a:t>.env.example</a:t>
            </a:r>
            <a:pPr algn="l" indent="0" marL="0">
              <a:buNone/>
            </a:pPr>
            <a:r>
              <a:rPr lang="en-US" sz="1700" dirty="0">
                <a:solidFill>
                  <a:srgbClr val="EEF6F3"/>
                </a:solidFill>
                <a:latin typeface="Segoe UI" pitchFamily="34" charset="0"/>
                <a:ea typeface="Segoe UI" pitchFamily="34" charset="-122"/>
                <a:cs typeface="Segoe UI" pitchFamily="34" charset="-120"/>
              </a:rPr>
              <a:t> with the values empty.</a:t>
            </a:r>
            <a:endParaRPr lang="en-US" sz="1700" dirty="0"/>
          </a:p>
        </p:txBody>
      </p:sp>
      <p:sp>
        <p:nvSpPr>
          <p:cNvPr id="14" name="Shape 12"/>
          <p:cNvSpPr/>
          <p:nvPr/>
        </p:nvSpPr>
        <p:spPr>
          <a:xfrm>
            <a:off x="777240" y="4117086"/>
            <a:ext cx="10637215" cy="1169822"/>
          </a:xfrm>
          <a:prstGeom prst="roundRect">
            <a:avLst>
              <a:gd name="adj" fmla="val 7817"/>
            </a:avLst>
          </a:prstGeom>
          <a:solidFill>
            <a:srgbClr val="3A1C1F"/>
          </a:solidFill>
          <a:ln w="12700">
            <a:solidFill>
              <a:srgbClr val="3A1C1F"/>
            </a:solidFill>
            <a:prstDash val="solid"/>
          </a:ln>
        </p:spPr>
      </p:sp>
      <p:sp>
        <p:nvSpPr>
          <p:cNvPr id="15" name="Shape 13"/>
          <p:cNvSpPr/>
          <p:nvPr/>
        </p:nvSpPr>
        <p:spPr>
          <a:xfrm>
            <a:off x="777240" y="4117086"/>
            <a:ext cx="82296" cy="1169822"/>
          </a:xfrm>
          <a:prstGeom prst="rect">
            <a:avLst/>
          </a:prstGeom>
          <a:solidFill>
            <a:srgbClr val="FF7A7A"/>
          </a:solidFill>
          <a:ln w="12700">
            <a:solidFill>
              <a:srgbClr val="FF7A7A"/>
            </a:solidFill>
            <a:prstDash val="solid"/>
          </a:ln>
        </p:spPr>
      </p:sp>
      <p:sp>
        <p:nvSpPr>
          <p:cNvPr id="16" name="Text 14"/>
          <p:cNvSpPr/>
          <p:nvPr/>
        </p:nvSpPr>
        <p:spPr>
          <a:xfrm>
            <a:off x="1051560" y="4226814"/>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17" name="Text 15"/>
          <p:cNvSpPr/>
          <p:nvPr/>
        </p:nvSpPr>
        <p:spPr>
          <a:xfrm>
            <a:off x="1051560" y="4464558"/>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Bots scan public GitHub for leaked keys within minutes. A key in your code is a key on the internet.</a:t>
            </a:r>
            <a:endParaRPr lang="en-US" sz="1720" dirty="0"/>
          </a:p>
        </p:txBody>
      </p:sp>
      <p:sp>
        <p:nvSpPr>
          <p:cNvPr id="18" name="Text 1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9" name="Text 1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14 / 32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03</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Four habits that save you money</a:t>
            </a:r>
            <a:endParaRPr lang="en-US" sz="3000" dirty="0"/>
          </a:p>
        </p:txBody>
      </p:sp>
      <p:sp>
        <p:nvSpPr>
          <p:cNvPr id="6" name="Text 4"/>
          <p:cNvSpPr/>
          <p:nvPr/>
        </p:nvSpPr>
        <p:spPr>
          <a:xfrm>
            <a:off x="777240" y="1577340"/>
            <a:ext cx="10637215" cy="2404872"/>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Never paste a key into code, a chat (AI assistants included), a screenshot or a slide.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Set a </a:t>
            </a:r>
            <a:pPr indent="0" marL="0">
              <a:buNone/>
            </a:pPr>
            <a:r>
              <a:rPr lang="en-US" sz="2000" b="1" dirty="0">
                <a:solidFill>
                  <a:srgbClr val="FFFFFF"/>
                </a:solidFill>
                <a:latin typeface="Segoe UI" pitchFamily="34" charset="0"/>
                <a:ea typeface="Segoe UI" pitchFamily="34" charset="-122"/>
                <a:cs typeface="Segoe UI" pitchFamily="34" charset="-120"/>
              </a:rPr>
              <a:t>monthly spending limit</a:t>
            </a:r>
            <a:pPr indent="0" marL="0">
              <a:buNone/>
            </a:pPr>
            <a:r>
              <a:rPr lang="en-US" sz="2000" dirty="0">
                <a:solidFill>
                  <a:srgbClr val="EEF6F3"/>
                </a:solidFill>
                <a:latin typeface="Segoe UI" pitchFamily="34" charset="0"/>
                <a:ea typeface="Segoe UI" pitchFamily="34" charset="-122"/>
                <a:cs typeface="Segoe UI" pitchFamily="34" charset="-120"/>
              </a:rPr>
              <a:t> the day you create a paid key.</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Leaked a key? Revoke it in the provider's dashboard and make a new one. It takes a minute.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One key per project, so you can revoke one without breaking the others.</a:t>
            </a:r>
            <a:endParaRPr lang="en-US" sz="2000" dirty="0"/>
          </a:p>
        </p:txBody>
      </p:sp>
      <p:sp>
        <p:nvSpPr>
          <p:cNvPr id="7" name="Shape 5"/>
          <p:cNvSpPr/>
          <p:nvPr/>
        </p:nvSpPr>
        <p:spPr>
          <a:xfrm>
            <a:off x="777240" y="4110228"/>
            <a:ext cx="10637215" cy="1169822"/>
          </a:xfrm>
          <a:prstGeom prst="roundRect">
            <a:avLst>
              <a:gd name="adj" fmla="val 7817"/>
            </a:avLst>
          </a:prstGeom>
          <a:solidFill>
            <a:srgbClr val="112A45"/>
          </a:solidFill>
          <a:ln w="12700">
            <a:solidFill>
              <a:srgbClr val="112A45"/>
            </a:solidFill>
            <a:prstDash val="solid"/>
          </a:ln>
        </p:spPr>
      </p:sp>
      <p:sp>
        <p:nvSpPr>
          <p:cNvPr id="8" name="Shape 6"/>
          <p:cNvSpPr/>
          <p:nvPr/>
        </p:nvSpPr>
        <p:spPr>
          <a:xfrm>
            <a:off x="777240" y="4110228"/>
            <a:ext cx="82296" cy="1169822"/>
          </a:xfrm>
          <a:prstGeom prst="rect">
            <a:avLst/>
          </a:prstGeom>
          <a:solidFill>
            <a:srgbClr val="5AA2FF"/>
          </a:solidFill>
          <a:ln w="12700">
            <a:solidFill>
              <a:srgbClr val="5AA2FF"/>
            </a:solidFill>
            <a:prstDash val="solid"/>
          </a:ln>
        </p:spPr>
      </p:sp>
      <p:sp>
        <p:nvSpPr>
          <p:cNvPr id="9" name="Text 7"/>
          <p:cNvSpPr/>
          <p:nvPr/>
        </p:nvSpPr>
        <p:spPr>
          <a:xfrm>
            <a:off x="1051560" y="421995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0" name="Text 8"/>
          <p:cNvSpPr/>
          <p:nvPr/>
        </p:nvSpPr>
        <p:spPr>
          <a:xfrm>
            <a:off x="1051560" y="4457700"/>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Two </a:t>
            </a:r>
            <a:pPr algn="l" indent="0" marL="0">
              <a:buNone/>
            </a:pPr>
            <a:r>
              <a:rPr lang="en-US" sz="1510" dirty="0">
                <a:solidFill>
                  <a:srgbClr val="D8FFF0"/>
                </a:solidFill>
                <a:latin typeface="Consolas" pitchFamily="34" charset="0"/>
                <a:ea typeface="Consolas" pitchFamily="34" charset="-122"/>
                <a:cs typeface="Consolas" pitchFamily="34" charset="-120"/>
              </a:rPr>
              <a:t>.env</a:t>
            </a:r>
            <a:pPr algn="l" indent="0" marL="0">
              <a:buNone/>
            </a:pPr>
            <a:r>
              <a:rPr lang="en-US" sz="1720" dirty="0">
                <a:solidFill>
                  <a:srgbClr val="EEF6F3"/>
                </a:solidFill>
                <a:latin typeface="Segoe UI" pitchFamily="34" charset="0"/>
                <a:ea typeface="Segoe UI" pitchFamily="34" charset="-122"/>
                <a:cs typeface="Segoe UI" pitchFamily="34" charset="-120"/>
              </a:rPr>
              <a:t> files, on purpose: </a:t>
            </a:r>
            <a:pPr algn="l" indent="0" marL="0">
              <a:buNone/>
            </a:pPr>
            <a:r>
              <a:rPr lang="en-US" sz="1510" dirty="0">
                <a:solidFill>
                  <a:srgbClr val="D8FFF0"/>
                </a:solidFill>
                <a:latin typeface="Consolas" pitchFamily="34" charset="0"/>
                <a:ea typeface="Consolas" pitchFamily="34" charset="-122"/>
                <a:cs typeface="Consolas" pitchFamily="34" charset="-120"/>
              </a:rPr>
              <a:t>prep-kit/.env</a:t>
            </a:r>
            <a:pPr algn="l" indent="0" marL="0">
              <a:buNone/>
            </a:pPr>
            <a:r>
              <a:rPr lang="en-US" sz="1720" dirty="0">
                <a:solidFill>
                  <a:srgbClr val="EEF6F3"/>
                </a:solidFill>
                <a:latin typeface="Segoe UI" pitchFamily="34" charset="0"/>
                <a:ea typeface="Segoe UI" pitchFamily="34" charset="-122"/>
                <a:cs typeface="Segoe UI" pitchFamily="34" charset="-120"/>
              </a:rPr>
              <a:t> for free practice keys, </a:t>
            </a:r>
            <a:pPr algn="l" indent="0" marL="0">
              <a:buNone/>
            </a:pPr>
            <a:r>
              <a:rPr lang="en-US" sz="1510" dirty="0">
                <a:solidFill>
                  <a:srgbClr val="D8FFF0"/>
                </a:solidFill>
                <a:latin typeface="Consolas" pitchFamily="34" charset="0"/>
                <a:ea typeface="Consolas" pitchFamily="34" charset="-122"/>
                <a:cs typeface="Consolas" pitchFamily="34" charset="-120"/>
              </a:rPr>
              <a:t>resolvo-workshop/.env</a:t>
            </a:r>
            <a:pPr algn="l" indent="0" marL="0">
              <a:buNone/>
            </a:pPr>
            <a:r>
              <a:rPr lang="en-US" sz="1720" dirty="0">
                <a:solidFill>
                  <a:srgbClr val="EEF6F3"/>
                </a:solidFill>
                <a:latin typeface="Segoe UI" pitchFamily="34" charset="0"/>
                <a:ea typeface="Segoe UI" pitchFamily="34" charset="-122"/>
                <a:cs typeface="Segoe UI" pitchFamily="34" charset="-120"/>
              </a:rPr>
              <a:t> for the course key.</a:t>
            </a:r>
            <a:endParaRPr lang="en-US" sz="172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15 / 32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EXTRA READING</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Where LLMs came from, in four steps</a:t>
            </a:r>
            <a:endParaRPr lang="en-US" sz="3000" dirty="0"/>
          </a:p>
        </p:txBody>
      </p:sp>
      <p:sp>
        <p:nvSpPr>
          <p:cNvPr id="6" name="Shape 4"/>
          <p:cNvSpPr/>
          <p:nvPr/>
        </p:nvSpPr>
        <p:spPr>
          <a:xfrm>
            <a:off x="777240" y="1577340"/>
            <a:ext cx="2487854" cy="2626271"/>
          </a:xfrm>
          <a:prstGeom prst="roundRect">
            <a:avLst>
              <a:gd name="adj" fmla="val 3675"/>
            </a:avLst>
          </a:prstGeom>
          <a:solidFill>
            <a:srgbClr val="13272B"/>
          </a:solidFill>
          <a:ln w="12700">
            <a:solidFill>
              <a:srgbClr val="13272B"/>
            </a:solidFill>
            <a:prstDash val="solid"/>
          </a:ln>
        </p:spPr>
      </p:sp>
      <p:sp>
        <p:nvSpPr>
          <p:cNvPr id="7" name="Shape 5"/>
          <p:cNvSpPr/>
          <p:nvPr/>
        </p:nvSpPr>
        <p:spPr>
          <a:xfrm>
            <a:off x="777240" y="1577340"/>
            <a:ext cx="2487854" cy="64008"/>
          </a:xfrm>
          <a:prstGeom prst="rect">
            <a:avLst/>
          </a:prstGeom>
          <a:solidFill>
            <a:srgbClr val="01D294"/>
          </a:solidFill>
          <a:ln w="12700">
            <a:solidFill>
              <a:srgbClr val="01D294"/>
            </a:solidFill>
            <a:prstDash val="solid"/>
          </a:ln>
        </p:spPr>
      </p:sp>
      <p:sp>
        <p:nvSpPr>
          <p:cNvPr id="8" name="Text 6"/>
          <p:cNvSpPr/>
          <p:nvPr/>
        </p:nvSpPr>
        <p:spPr>
          <a:xfrm>
            <a:off x="905256" y="1769364"/>
            <a:ext cx="2231822"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Classic ML</a:t>
            </a:r>
            <a:endParaRPr lang="en-US" sz="1785" dirty="0"/>
          </a:p>
        </p:txBody>
      </p:sp>
      <p:sp>
        <p:nvSpPr>
          <p:cNvPr id="9" name="Text 7"/>
          <p:cNvSpPr/>
          <p:nvPr/>
        </p:nvSpPr>
        <p:spPr>
          <a:xfrm>
            <a:off x="905256" y="2173643"/>
            <a:ext cx="2231822" cy="1176528"/>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person picks the clues. The computer learns how much each counts.</a:t>
            </a:r>
            <a:endParaRPr lang="en-US" sz="1600" dirty="0"/>
          </a:p>
        </p:txBody>
      </p:sp>
      <p:sp>
        <p:nvSpPr>
          <p:cNvPr id="10" name="Text 8"/>
          <p:cNvSpPr/>
          <p:nvPr/>
        </p:nvSpPr>
        <p:spPr>
          <a:xfrm>
            <a:off x="905256" y="3405035"/>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A spam filter counting "free".</a:t>
            </a:r>
            <a:endParaRPr lang="en-US" sz="1600" dirty="0"/>
          </a:p>
        </p:txBody>
      </p:sp>
      <p:sp>
        <p:nvSpPr>
          <p:cNvPr id="11" name="Shape 9"/>
          <p:cNvSpPr/>
          <p:nvPr/>
        </p:nvSpPr>
        <p:spPr>
          <a:xfrm>
            <a:off x="3493694" y="1577340"/>
            <a:ext cx="2487854" cy="2626271"/>
          </a:xfrm>
          <a:prstGeom prst="roundRect">
            <a:avLst>
              <a:gd name="adj" fmla="val 3675"/>
            </a:avLst>
          </a:prstGeom>
          <a:solidFill>
            <a:srgbClr val="13272B"/>
          </a:solidFill>
          <a:ln w="12700">
            <a:solidFill>
              <a:srgbClr val="13272B"/>
            </a:solidFill>
            <a:prstDash val="solid"/>
          </a:ln>
        </p:spPr>
      </p:sp>
      <p:sp>
        <p:nvSpPr>
          <p:cNvPr id="12" name="Shape 10"/>
          <p:cNvSpPr/>
          <p:nvPr/>
        </p:nvSpPr>
        <p:spPr>
          <a:xfrm>
            <a:off x="3493694" y="1577340"/>
            <a:ext cx="2487854" cy="64008"/>
          </a:xfrm>
          <a:prstGeom prst="rect">
            <a:avLst/>
          </a:prstGeom>
          <a:solidFill>
            <a:srgbClr val="5AA2FF"/>
          </a:solidFill>
          <a:ln w="12700">
            <a:solidFill>
              <a:srgbClr val="5AA2FF"/>
            </a:solidFill>
            <a:prstDash val="solid"/>
          </a:ln>
        </p:spPr>
      </p:sp>
      <p:sp>
        <p:nvSpPr>
          <p:cNvPr id="13" name="Text 11"/>
          <p:cNvSpPr/>
          <p:nvPr/>
        </p:nvSpPr>
        <p:spPr>
          <a:xfrm>
            <a:off x="3621710" y="1769364"/>
            <a:ext cx="2231822"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Deep learning</a:t>
            </a:r>
            <a:endParaRPr lang="en-US" sz="1785" dirty="0"/>
          </a:p>
        </p:txBody>
      </p:sp>
      <p:sp>
        <p:nvSpPr>
          <p:cNvPr id="14" name="Text 12"/>
          <p:cNvSpPr/>
          <p:nvPr/>
        </p:nvSpPr>
        <p:spPr>
          <a:xfrm>
            <a:off x="3621710"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Millions of examples. It finds the clues itself.</a:t>
            </a:r>
            <a:endParaRPr lang="en-US" sz="1600" dirty="0"/>
          </a:p>
        </p:txBody>
      </p:sp>
      <p:sp>
        <p:nvSpPr>
          <p:cNvPr id="15" name="Text 13"/>
          <p:cNvSpPr/>
          <p:nvPr/>
        </p:nvSpPr>
        <p:spPr>
          <a:xfrm>
            <a:off x="3621710" y="3124619"/>
            <a:ext cx="2231822" cy="615696"/>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Finding your dog in your photos.</a:t>
            </a:r>
            <a:endParaRPr lang="en-US" sz="1600" dirty="0"/>
          </a:p>
        </p:txBody>
      </p:sp>
      <p:sp>
        <p:nvSpPr>
          <p:cNvPr id="16" name="Shape 14"/>
          <p:cNvSpPr/>
          <p:nvPr/>
        </p:nvSpPr>
        <p:spPr>
          <a:xfrm>
            <a:off x="6210148" y="1577340"/>
            <a:ext cx="2487854" cy="2626271"/>
          </a:xfrm>
          <a:prstGeom prst="roundRect">
            <a:avLst>
              <a:gd name="adj" fmla="val 3675"/>
            </a:avLst>
          </a:prstGeom>
          <a:solidFill>
            <a:srgbClr val="13272B"/>
          </a:solidFill>
          <a:ln w="12700">
            <a:solidFill>
              <a:srgbClr val="13272B"/>
            </a:solidFill>
            <a:prstDash val="solid"/>
          </a:ln>
        </p:spPr>
      </p:sp>
      <p:sp>
        <p:nvSpPr>
          <p:cNvPr id="17" name="Shape 15"/>
          <p:cNvSpPr/>
          <p:nvPr/>
        </p:nvSpPr>
        <p:spPr>
          <a:xfrm>
            <a:off x="6210148" y="1577340"/>
            <a:ext cx="2487854" cy="64008"/>
          </a:xfrm>
          <a:prstGeom prst="rect">
            <a:avLst/>
          </a:prstGeom>
          <a:solidFill>
            <a:srgbClr val="FFC53D"/>
          </a:solidFill>
          <a:ln w="12700">
            <a:solidFill>
              <a:srgbClr val="FFC53D"/>
            </a:solidFill>
            <a:prstDash val="solid"/>
          </a:ln>
        </p:spPr>
      </p:sp>
      <p:sp>
        <p:nvSpPr>
          <p:cNvPr id="18" name="Text 16"/>
          <p:cNvSpPr/>
          <p:nvPr/>
        </p:nvSpPr>
        <p:spPr>
          <a:xfrm>
            <a:off x="6338164" y="1769364"/>
            <a:ext cx="2231822"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Transformers</a:t>
            </a:r>
            <a:endParaRPr lang="en-US" sz="1785" dirty="0"/>
          </a:p>
        </p:txBody>
      </p:sp>
      <p:sp>
        <p:nvSpPr>
          <p:cNvPr id="19" name="Text 17"/>
          <p:cNvSpPr/>
          <p:nvPr/>
        </p:nvSpPr>
        <p:spPr>
          <a:xfrm>
            <a:off x="6338164"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word can "look at" every other word. (2017)</a:t>
            </a:r>
            <a:endParaRPr lang="en-US" sz="1600" dirty="0"/>
          </a:p>
        </p:txBody>
      </p:sp>
      <p:sp>
        <p:nvSpPr>
          <p:cNvPr id="20" name="Text 18"/>
          <p:cNvSpPr/>
          <p:nvPr/>
        </p:nvSpPr>
        <p:spPr>
          <a:xfrm>
            <a:off x="6338164" y="3124619"/>
            <a:ext cx="2231822" cy="896112"/>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"I want </a:t>
            </a:r>
            <a:pPr algn="l" indent="0" marL="0">
              <a:buNone/>
            </a:pPr>
            <a:r>
              <a:rPr lang="en-US" sz="1600" dirty="0">
                <a:solidFill>
                  <a:srgbClr val="01D294"/>
                </a:solidFill>
                <a:latin typeface="Segoe UI" pitchFamily="34" charset="0"/>
                <a:ea typeface="Segoe UI" pitchFamily="34" charset="-122"/>
                <a:cs typeface="Segoe UI" pitchFamily="34" charset="-120"/>
              </a:rPr>
              <a:t>them</a:t>
            </a:r>
            <a:pPr algn="l" indent="0" marL="0">
              <a:buNone/>
            </a:pPr>
            <a:r>
              <a:rPr lang="en-US" sz="1600" dirty="0">
                <a:solidFill>
                  <a:srgbClr val="9DB5B1"/>
                </a:solidFill>
                <a:latin typeface="Segoe UI" pitchFamily="34" charset="0"/>
                <a:ea typeface="Segoe UI" pitchFamily="34" charset="-122"/>
                <a:cs typeface="Segoe UI" pitchFamily="34" charset="-120"/>
              </a:rPr>
              <a:t> replaced": them = the headphones.</a:t>
            </a:r>
            <a:endParaRPr lang="en-US" sz="1600" dirty="0"/>
          </a:p>
        </p:txBody>
      </p:sp>
      <p:sp>
        <p:nvSpPr>
          <p:cNvPr id="21" name="Shape 19"/>
          <p:cNvSpPr/>
          <p:nvPr/>
        </p:nvSpPr>
        <p:spPr>
          <a:xfrm>
            <a:off x="8926601" y="1577340"/>
            <a:ext cx="2487854" cy="2626271"/>
          </a:xfrm>
          <a:prstGeom prst="roundRect">
            <a:avLst>
              <a:gd name="adj" fmla="val 3675"/>
            </a:avLst>
          </a:prstGeom>
          <a:solidFill>
            <a:srgbClr val="13272B"/>
          </a:solidFill>
          <a:ln w="12700">
            <a:solidFill>
              <a:srgbClr val="13272B"/>
            </a:solidFill>
            <a:prstDash val="solid"/>
          </a:ln>
        </p:spPr>
      </p:sp>
      <p:sp>
        <p:nvSpPr>
          <p:cNvPr id="22" name="Shape 20"/>
          <p:cNvSpPr/>
          <p:nvPr/>
        </p:nvSpPr>
        <p:spPr>
          <a:xfrm>
            <a:off x="8926601" y="1577340"/>
            <a:ext cx="2487854" cy="64008"/>
          </a:xfrm>
          <a:prstGeom prst="rect">
            <a:avLst/>
          </a:prstGeom>
          <a:solidFill>
            <a:srgbClr val="B99CFF"/>
          </a:solidFill>
          <a:ln w="12700">
            <a:solidFill>
              <a:srgbClr val="B99CFF"/>
            </a:solidFill>
            <a:prstDash val="solid"/>
          </a:ln>
        </p:spPr>
      </p:sp>
      <p:sp>
        <p:nvSpPr>
          <p:cNvPr id="23" name="Text 21"/>
          <p:cNvSpPr/>
          <p:nvPr/>
        </p:nvSpPr>
        <p:spPr>
          <a:xfrm>
            <a:off x="9054617" y="1769364"/>
            <a:ext cx="2231822" cy="367703"/>
          </a:xfrm>
          <a:prstGeom prst="rect">
            <a:avLst/>
          </a:prstGeom>
          <a:noFill/>
          <a:ln/>
        </p:spPr>
        <p:txBody>
          <a:bodyPr wrap="square" lIns="0" tIns="0" rIns="0" bIns="0" rtlCol="0" anchor="t"/>
          <a:lstStyle/>
          <a:p>
            <a:pPr algn="l" indent="0" marL="0">
              <a:buNone/>
            </a:pPr>
            <a:r>
              <a:rPr lang="en-US" sz="1785" b="1" dirty="0">
                <a:solidFill>
                  <a:srgbClr val="B99CFF"/>
                </a:solidFill>
                <a:latin typeface="Segoe UI" pitchFamily="34" charset="0"/>
                <a:ea typeface="Segoe UI" pitchFamily="34" charset="-122"/>
                <a:cs typeface="Segoe UI" pitchFamily="34" charset="-120"/>
              </a:rPr>
              <a:t>Instruction tuning</a:t>
            </a:r>
            <a:endParaRPr lang="en-US" sz="1785" dirty="0"/>
          </a:p>
        </p:txBody>
      </p:sp>
      <p:sp>
        <p:nvSpPr>
          <p:cNvPr id="24" name="Text 22"/>
          <p:cNvSpPr/>
          <p:nvPr/>
        </p:nvSpPr>
        <p:spPr>
          <a:xfrm>
            <a:off x="9054617" y="2173643"/>
            <a:ext cx="2231822"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Trained on questions and good answers. (about 2022)</a:t>
            </a:r>
            <a:endParaRPr lang="en-US" sz="1600" dirty="0"/>
          </a:p>
        </p:txBody>
      </p:sp>
      <p:sp>
        <p:nvSpPr>
          <p:cNvPr id="25" name="Text 23"/>
          <p:cNvSpPr/>
          <p:nvPr/>
        </p:nvSpPr>
        <p:spPr>
          <a:xfrm>
            <a:off x="9054617" y="3124619"/>
            <a:ext cx="2231822" cy="335280"/>
          </a:xfrm>
          <a:prstGeom prst="rect">
            <a:avLst/>
          </a:prstGeom>
          <a:noFill/>
          <a:ln/>
        </p:spPr>
        <p:txBody>
          <a:bodyPr wrap="square" lIns="0" tIns="0" rIns="0" bIns="0" rtlCol="0" anchor="t"/>
          <a:lstStyle/>
          <a:p>
            <a:pPr algn="l" indent="0" marL="0">
              <a:buNone/>
            </a:pPr>
            <a:r>
              <a:rPr lang="en-US" sz="1600" dirty="0">
                <a:solidFill>
                  <a:srgbClr val="9DB5B1"/>
                </a:solidFill>
                <a:latin typeface="Segoe UI" pitchFamily="34" charset="0"/>
                <a:ea typeface="Segoe UI" pitchFamily="34" charset="-122"/>
                <a:cs typeface="Segoe UI" pitchFamily="34" charset="-120"/>
              </a:rPr>
              <a:t>ChatGPT.</a:t>
            </a:r>
            <a:endParaRPr lang="en-US" sz="1600" dirty="0"/>
          </a:p>
        </p:txBody>
      </p:sp>
      <p:sp>
        <p:nvSpPr>
          <p:cNvPr id="26" name="Shape 24"/>
          <p:cNvSpPr/>
          <p:nvPr/>
        </p:nvSpPr>
        <p:spPr>
          <a:xfrm>
            <a:off x="777240" y="4331627"/>
            <a:ext cx="10637215" cy="868375"/>
          </a:xfrm>
          <a:prstGeom prst="roundRect">
            <a:avLst>
              <a:gd name="adj" fmla="val 10530"/>
            </a:avLst>
          </a:prstGeom>
          <a:solidFill>
            <a:srgbClr val="0D3029"/>
          </a:solidFill>
          <a:ln w="12700">
            <a:solidFill>
              <a:srgbClr val="0D3029"/>
            </a:solidFill>
            <a:prstDash val="solid"/>
          </a:ln>
        </p:spPr>
      </p:sp>
      <p:sp>
        <p:nvSpPr>
          <p:cNvPr id="27" name="Shape 25"/>
          <p:cNvSpPr/>
          <p:nvPr/>
        </p:nvSpPr>
        <p:spPr>
          <a:xfrm>
            <a:off x="777240" y="4331627"/>
            <a:ext cx="82296" cy="868375"/>
          </a:xfrm>
          <a:prstGeom prst="rect">
            <a:avLst/>
          </a:prstGeom>
          <a:solidFill>
            <a:srgbClr val="01D294"/>
          </a:solidFill>
          <a:ln w="12700">
            <a:solidFill>
              <a:srgbClr val="01D294"/>
            </a:solidFill>
            <a:prstDash val="solid"/>
          </a:ln>
        </p:spPr>
      </p:sp>
      <p:sp>
        <p:nvSpPr>
          <p:cNvPr id="28" name="Text 26"/>
          <p:cNvSpPr/>
          <p:nvPr/>
        </p:nvSpPr>
        <p:spPr>
          <a:xfrm>
            <a:off x="1051560" y="4441355"/>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29" name="Text 27"/>
          <p:cNvSpPr/>
          <p:nvPr/>
        </p:nvSpPr>
        <p:spPr>
          <a:xfrm>
            <a:off x="1051560" y="4679099"/>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Behind the API is a </a:t>
            </a:r>
            <a:pPr algn="l" indent="0" marL="0">
              <a:buNone/>
            </a:pPr>
            <a:r>
              <a:rPr lang="en-US" sz="1720" b="1" dirty="0">
                <a:solidFill>
                  <a:srgbClr val="FFFFFF"/>
                </a:solidFill>
                <a:latin typeface="Segoe UI" pitchFamily="34" charset="0"/>
                <a:ea typeface="Segoe UI" pitchFamily="34" charset="-122"/>
                <a:cs typeface="Segoe UI" pitchFamily="34" charset="-120"/>
              </a:rPr>
              <a:t>text predictor trained to be helpful</a:t>
            </a:r>
            <a:pPr algn="l" indent="0" marL="0">
              <a:buNone/>
            </a:pPr>
            <a:r>
              <a:rPr lang="en-US" sz="1720" dirty="0">
                <a:solidFill>
                  <a:srgbClr val="EEF6F3"/>
                </a:solidFill>
                <a:latin typeface="Segoe UI" pitchFamily="34" charset="0"/>
                <a:ea typeface="Segoe UI" pitchFamily="34" charset="-122"/>
                <a:cs typeface="Segoe UI" pitchFamily="34" charset="-120"/>
              </a:rPr>
              <a:t>. Session 1 starts from exactly that.</a:t>
            </a:r>
            <a:endParaRPr lang="en-US" sz="1720" dirty="0"/>
          </a:p>
        </p:txBody>
      </p:sp>
      <p:sp>
        <p:nvSpPr>
          <p:cNvPr id="30" name="Text 2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31" name="Text 2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16 / 32</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An LLM call is just another API call</a:t>
            </a:r>
            <a:endParaRPr lang="en-US" sz="3000" dirty="0"/>
          </a:p>
        </p:txBody>
      </p:sp>
      <p:sp>
        <p:nvSpPr>
          <p:cNvPr id="6" name="Text 4"/>
          <p:cNvSpPr/>
          <p:nvPr/>
        </p:nvSpPr>
        <p:spPr>
          <a:xfrm>
            <a:off x="777240"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send</a:t>
            </a:r>
            <a:endParaRPr lang="en-US" sz="2100" dirty="0"/>
          </a:p>
        </p:txBody>
      </p:sp>
      <p:sp>
        <p:nvSpPr>
          <p:cNvPr id="7" name="Shape 5"/>
          <p:cNvSpPr/>
          <p:nvPr/>
        </p:nvSpPr>
        <p:spPr>
          <a:xfrm>
            <a:off x="777240" y="2091690"/>
            <a:ext cx="5135728" cy="2658618"/>
          </a:xfrm>
          <a:prstGeom prst="roundRect">
            <a:avLst>
              <a:gd name="adj" fmla="val 4127"/>
            </a:avLst>
          </a:prstGeom>
          <a:solidFill>
            <a:srgbClr val="13272B"/>
          </a:solidFill>
          <a:ln w="9525">
            <a:solidFill>
              <a:srgbClr val="24413F"/>
            </a:solidFill>
            <a:prstDash val="solid"/>
          </a:ln>
        </p:spPr>
      </p:sp>
      <p:sp>
        <p:nvSpPr>
          <p:cNvPr id="8" name="Text 6"/>
          <p:cNvSpPr/>
          <p:nvPr/>
        </p:nvSpPr>
        <p:spPr>
          <a:xfrm>
            <a:off x="960120" y="2201418"/>
            <a:ext cx="4769968" cy="2475738"/>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"model": "gemini-3.5-flash-lite",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"messages":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"system",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"Keep answers short."},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"user",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"What is an API?"}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"temperature": 0.2</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9" name="Text 7"/>
          <p:cNvSpPr/>
          <p:nvPr/>
        </p:nvSpPr>
        <p:spPr>
          <a:xfrm>
            <a:off x="6278728" y="1577340"/>
            <a:ext cx="5135728" cy="422910"/>
          </a:xfrm>
          <a:prstGeom prst="rect">
            <a:avLst/>
          </a:prstGeom>
          <a:noFill/>
          <a:ln/>
        </p:spPr>
        <p:txBody>
          <a:bodyPr wrap="square" lIns="0" tIns="0" rIns="0" bIns="0" rtlCol="0" anchor="t"/>
          <a:lstStyle/>
          <a:p>
            <a:pPr algn="l" indent="0" marL="0">
              <a:buNone/>
            </a:pPr>
            <a:r>
              <a:rPr lang="en-US" sz="2100" dirty="0">
                <a:solidFill>
                  <a:srgbClr val="01D294"/>
                </a:solidFill>
                <a:latin typeface="Segoe UI" pitchFamily="34" charset="0"/>
                <a:ea typeface="Segoe UI" pitchFamily="34" charset="-122"/>
                <a:cs typeface="Segoe UI" pitchFamily="34" charset="-120"/>
              </a:rPr>
              <a:t>You get back</a:t>
            </a:r>
            <a:endParaRPr lang="en-US" sz="2100" dirty="0"/>
          </a:p>
        </p:txBody>
      </p:sp>
      <p:sp>
        <p:nvSpPr>
          <p:cNvPr id="10" name="Shape 8"/>
          <p:cNvSpPr/>
          <p:nvPr/>
        </p:nvSpPr>
        <p:spPr>
          <a:xfrm>
            <a:off x="6278728" y="2091690"/>
            <a:ext cx="5135728" cy="2422017"/>
          </a:xfrm>
          <a:prstGeom prst="roundRect">
            <a:avLst>
              <a:gd name="adj" fmla="val 4530"/>
            </a:avLst>
          </a:prstGeom>
          <a:solidFill>
            <a:srgbClr val="13272B"/>
          </a:solidFill>
          <a:ln w="9525">
            <a:solidFill>
              <a:srgbClr val="24413F"/>
            </a:solidFill>
            <a:prstDash val="solid"/>
          </a:ln>
        </p:spPr>
      </p:sp>
      <p:sp>
        <p:nvSpPr>
          <p:cNvPr id="11" name="Text 9"/>
          <p:cNvSpPr/>
          <p:nvPr/>
        </p:nvSpPr>
        <p:spPr>
          <a:xfrm>
            <a:off x="6461608" y="2201418"/>
            <a:ext cx="4769968" cy="2239137"/>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"choices": [{"message":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"content": "A set of rules that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lets programs talk..."}}],</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"usage":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"prompt_tokens": 31,</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"completion_tokens": 24</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p:txBody>
      </p:sp>
      <p:sp>
        <p:nvSpPr>
          <p:cNvPr id="12" name="Text 10"/>
          <p:cNvSpPr/>
          <p:nvPr/>
        </p:nvSpPr>
        <p:spPr>
          <a:xfrm>
            <a:off x="777240" y="4969764"/>
            <a:ext cx="10637215" cy="650748"/>
          </a:xfrm>
          <a:prstGeom prst="rect">
            <a:avLst/>
          </a:prstGeom>
          <a:noFill/>
          <a:ln/>
        </p:spPr>
        <p:txBody>
          <a:bodyPr wrap="square" lIns="0" tIns="0" rIns="0" bIns="0" rtlCol="0" anchor="t"/>
          <a:lstStyle/>
          <a:p>
            <a:pPr algn="l" indent="0" marL="0">
              <a:buNone/>
            </a:pPr>
            <a:r>
              <a:rPr lang="en-US" sz="1700" b="1" dirty="0">
                <a:solidFill>
                  <a:srgbClr val="FFFFFF"/>
                </a:solidFill>
                <a:latin typeface="Segoe UI" pitchFamily="34" charset="0"/>
                <a:ea typeface="Segoe UI" pitchFamily="34" charset="-122"/>
                <a:cs typeface="Segoe UI" pitchFamily="34" charset="-120"/>
              </a:rPr>
              <a:t>system</a:t>
            </a:r>
            <a:pPr algn="l" indent="0" marL="0">
              <a:buNone/>
            </a:pPr>
            <a:r>
              <a:rPr lang="en-US" sz="1700" dirty="0">
                <a:solidFill>
                  <a:srgbClr val="EEF6F3"/>
                </a:solidFill>
                <a:latin typeface="Segoe UI" pitchFamily="34" charset="0"/>
                <a:ea typeface="Segoe UI" pitchFamily="34" charset="-122"/>
                <a:cs typeface="Segoe UI" pitchFamily="34" charset="-120"/>
              </a:rPr>
              <a:t> sets the rules · </a:t>
            </a:r>
            <a:pPr algn="l" indent="0" marL="0">
              <a:buNone/>
            </a:pPr>
            <a:r>
              <a:rPr lang="en-US" sz="1700" b="1" dirty="0">
                <a:solidFill>
                  <a:srgbClr val="FFFFFF"/>
                </a:solidFill>
                <a:latin typeface="Segoe UI" pitchFamily="34" charset="0"/>
                <a:ea typeface="Segoe UI" pitchFamily="34" charset="-122"/>
                <a:cs typeface="Segoe UI" pitchFamily="34" charset="-120"/>
              </a:rPr>
              <a:t>user</a:t>
            </a:r>
            <a:pPr algn="l" indent="0" marL="0">
              <a:buNone/>
            </a:pPr>
            <a:r>
              <a:rPr lang="en-US" sz="1700" dirty="0">
                <a:solidFill>
                  <a:srgbClr val="EEF6F3"/>
                </a:solidFill>
                <a:latin typeface="Segoe UI" pitchFamily="34" charset="0"/>
                <a:ea typeface="Segoe UI" pitchFamily="34" charset="-122"/>
                <a:cs typeface="Segoe UI" pitchFamily="34" charset="-120"/>
              </a:rPr>
              <a:t> asks · </a:t>
            </a:r>
            <a:pPr algn="l" indent="0" marL="0">
              <a:buNone/>
            </a:pPr>
            <a:r>
              <a:rPr lang="en-US" sz="1700" b="1" dirty="0">
                <a:solidFill>
                  <a:srgbClr val="FFFFFF"/>
                </a:solidFill>
                <a:latin typeface="Segoe UI" pitchFamily="34" charset="0"/>
                <a:ea typeface="Segoe UI" pitchFamily="34" charset="-122"/>
                <a:cs typeface="Segoe UI" pitchFamily="34" charset="-120"/>
              </a:rPr>
              <a:t>temperature</a:t>
            </a:r>
            <a:pPr algn="l" indent="0" marL="0">
              <a:buNone/>
            </a:pPr>
            <a:r>
              <a:rPr lang="en-US" sz="1700" dirty="0">
                <a:solidFill>
                  <a:srgbClr val="EEF6F3"/>
                </a:solidFill>
                <a:latin typeface="Segoe UI" pitchFamily="34" charset="0"/>
                <a:ea typeface="Segoe UI" pitchFamily="34" charset="-122"/>
                <a:cs typeface="Segoe UI" pitchFamily="34" charset="-120"/>
              </a:rPr>
              <a:t> is randomness (0 = steady) · </a:t>
            </a:r>
            <a:pPr algn="l" indent="0" marL="0">
              <a:buNone/>
            </a:pPr>
            <a:r>
              <a:rPr lang="en-US" sz="1700" b="1" dirty="0">
                <a:solidFill>
                  <a:srgbClr val="FFFFFF"/>
                </a:solidFill>
                <a:latin typeface="Segoe UI" pitchFamily="34" charset="0"/>
                <a:ea typeface="Segoe UI" pitchFamily="34" charset="-122"/>
                <a:cs typeface="Segoe UI" pitchFamily="34" charset="-120"/>
              </a:rPr>
              <a:t>usage</a:t>
            </a:r>
            <a:pPr algn="l" indent="0" marL="0">
              <a:buNone/>
            </a:pPr>
            <a:r>
              <a:rPr lang="en-US" sz="1700" dirty="0">
                <a:solidFill>
                  <a:srgbClr val="EEF6F3"/>
                </a:solidFill>
                <a:latin typeface="Segoe UI" pitchFamily="34" charset="0"/>
                <a:ea typeface="Segoe UI" pitchFamily="34" charset="-122"/>
                <a:cs typeface="Segoe UI" pitchFamily="34" charset="-120"/>
              </a:rPr>
              <a:t> is what you pay for</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17 / 32</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One SDK, three addresses</a:t>
            </a:r>
            <a:endParaRPr lang="en-US" sz="3000" dirty="0"/>
          </a:p>
        </p:txBody>
      </p:sp>
      <p:pic>
        <p:nvPicPr>
          <p:cNvPr id="6"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25952" y="1577340"/>
            <a:ext cx="10139791" cy="3041937"/>
          </a:xfrm>
          <a:prstGeom prst="rect">
            <a:avLst/>
          </a:prstGeom>
        </p:spPr>
      </p:pic>
      <p:sp>
        <p:nvSpPr>
          <p:cNvPr id="7" name="Text 4"/>
          <p:cNvSpPr/>
          <p:nvPr/>
        </p:nvSpPr>
        <p:spPr>
          <a:xfrm>
            <a:off x="777240" y="4838733"/>
            <a:ext cx="10637215" cy="650748"/>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 provider is </a:t>
            </a:r>
            <a:pPr algn="l" indent="0" marL="0">
              <a:buNone/>
            </a:pPr>
            <a:r>
              <a:rPr lang="en-US" sz="1700" b="1" dirty="0">
                <a:solidFill>
                  <a:srgbClr val="FFFFFF"/>
                </a:solidFill>
                <a:latin typeface="Segoe UI" pitchFamily="34" charset="0"/>
                <a:ea typeface="Segoe UI" pitchFamily="34" charset="-122"/>
                <a:cs typeface="Segoe UI" pitchFamily="34" charset="-120"/>
              </a:rPr>
              <a:t>an address plus a key</a:t>
            </a:r>
            <a:pPr algn="l" indent="0" marL="0">
              <a:buNone/>
            </a:pPr>
            <a:r>
              <a:rPr lang="en-US" sz="1700" dirty="0">
                <a:solidFill>
                  <a:srgbClr val="EEF6F3"/>
                </a:solidFill>
                <a:latin typeface="Segoe UI" pitchFamily="34" charset="0"/>
                <a:ea typeface="Segoe UI" pitchFamily="34" charset="-122"/>
                <a:cs typeface="Segoe UI" pitchFamily="34" charset="-120"/>
              </a:rPr>
              <a:t>. Change those two and the same code talks to a different company's model.</a:t>
            </a:r>
            <a:endParaRPr lang="en-US" sz="1700" dirty="0"/>
          </a:p>
        </p:txBody>
      </p:sp>
      <p:sp>
        <p:nvSpPr>
          <p:cNvPr id="8" name="Text 5"/>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6"/>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18 / 32</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All the code it takes</a:t>
            </a:r>
            <a:endParaRPr lang="en-US" sz="3000" dirty="0"/>
          </a:p>
        </p:txBody>
      </p:sp>
      <p:sp>
        <p:nvSpPr>
          <p:cNvPr id="6" name="Shape 4"/>
          <p:cNvSpPr/>
          <p:nvPr/>
        </p:nvSpPr>
        <p:spPr>
          <a:xfrm>
            <a:off x="777240" y="1577340"/>
            <a:ext cx="10637215" cy="2895219"/>
          </a:xfrm>
          <a:prstGeom prst="roundRect">
            <a:avLst>
              <a:gd name="adj" fmla="val 3790"/>
            </a:avLst>
          </a:prstGeom>
          <a:solidFill>
            <a:srgbClr val="13272B"/>
          </a:solidFill>
          <a:ln w="9525">
            <a:solidFill>
              <a:srgbClr val="24413F"/>
            </a:solidFill>
            <a:prstDash val="solid"/>
          </a:ln>
        </p:spPr>
      </p:sp>
      <p:sp>
        <p:nvSpPr>
          <p:cNvPr id="7" name="Text 5"/>
          <p:cNvSpPr/>
          <p:nvPr/>
        </p:nvSpPr>
        <p:spPr>
          <a:xfrm>
            <a:off x="960120" y="1687068"/>
            <a:ext cx="10271455" cy="2712339"/>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from openai import OpenAI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client = OpenAI(base_url="https://openrouter.ai/api/v1", api_key=key)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response = client.chat.completions.create(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model="openrouter/free",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messages=[{"role": "system", "content": "Keep answers short."},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{"role": "user", "content": "Explain an API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print(response.choices[0].message.content)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print(response.usage.prompt_tokens, response.usage.completion_tokens)</a:t>
            </a:r>
            <a:endParaRPr lang="en-US" sz="1350" dirty="0"/>
          </a:p>
        </p:txBody>
      </p:sp>
      <p:sp>
        <p:nvSpPr>
          <p:cNvPr id="8" name="Text 6"/>
          <p:cNvSpPr/>
          <p:nvPr/>
        </p:nvSpPr>
        <p:spPr>
          <a:xfrm>
            <a:off x="777240" y="4600575"/>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kit wraps this in </a:t>
            </a:r>
            <a:pPr algn="l" indent="0" marL="0">
              <a:buNone/>
            </a:pPr>
            <a:r>
              <a:rPr lang="en-US" sz="1500" dirty="0">
                <a:solidFill>
                  <a:srgbClr val="D8FFF0"/>
                </a:solidFill>
                <a:latin typeface="Consolas" pitchFamily="34" charset="0"/>
                <a:ea typeface="Consolas" pitchFamily="34" charset="-122"/>
                <a:cs typeface="Consolas" pitchFamily="34" charset="-120"/>
              </a:rPr>
              <a:t>code/chat.py</a:t>
            </a:r>
            <a:pPr algn="l" indent="0" marL="0">
              <a:buNone/>
            </a:pPr>
            <a:r>
              <a:rPr lang="en-US" sz="1700" dirty="0">
                <a:solidFill>
                  <a:srgbClr val="EEF6F3"/>
                </a:solidFill>
                <a:latin typeface="Segoe UI" pitchFamily="34" charset="0"/>
                <a:ea typeface="Segoe UI" pitchFamily="34" charset="-122"/>
                <a:cs typeface="Segoe UI" pitchFamily="34" charset="-120"/>
              </a:rPr>
              <a:t> with a </a:t>
            </a:r>
            <a:pPr algn="l" indent="0" marL="0">
              <a:buNone/>
            </a:pPr>
            <a:r>
              <a:rPr lang="en-US" sz="1500" dirty="0">
                <a:solidFill>
                  <a:srgbClr val="D8FFF0"/>
                </a:solidFill>
                <a:latin typeface="Consolas" pitchFamily="34" charset="0"/>
                <a:ea typeface="Consolas" pitchFamily="34" charset="-122"/>
                <a:cs typeface="Consolas" pitchFamily="34" charset="-120"/>
              </a:rPr>
              <a:t>--provider</a:t>
            </a:r>
            <a:pPr algn="l" indent="0" marL="0">
              <a:buNone/>
            </a:pPr>
            <a:r>
              <a:rPr lang="en-US" sz="1700" dirty="0">
                <a:solidFill>
                  <a:srgbClr val="EEF6F3"/>
                </a:solidFill>
                <a:latin typeface="Segoe UI" pitchFamily="34" charset="0"/>
                <a:ea typeface="Segoe UI" pitchFamily="34" charset="-122"/>
                <a:cs typeface="Segoe UI" pitchFamily="34" charset="-120"/>
              </a:rPr>
              <a:t> switch and friendly error messages.</a:t>
            </a:r>
            <a:endParaRPr lang="en-US" sz="17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19 / 32</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203704"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04 AND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Three free ways to practise</a:t>
            </a:r>
            <a:endParaRPr lang="en-US" sz="3000" dirty="0"/>
          </a:p>
        </p:txBody>
      </p:sp>
      <p:sp>
        <p:nvSpPr>
          <p:cNvPr id="6" name="Shape 4"/>
          <p:cNvSpPr/>
          <p:nvPr/>
        </p:nvSpPr>
        <p:spPr>
          <a:xfrm>
            <a:off x="777240" y="1577340"/>
            <a:ext cx="3393338" cy="2261730"/>
          </a:xfrm>
          <a:prstGeom prst="roundRect">
            <a:avLst>
              <a:gd name="adj" fmla="val 4043"/>
            </a:avLst>
          </a:prstGeom>
          <a:solidFill>
            <a:srgbClr val="13272B"/>
          </a:solidFill>
          <a:ln w="12700">
            <a:solidFill>
              <a:srgbClr val="13272B"/>
            </a:solidFill>
            <a:prstDash val="solid"/>
          </a:ln>
        </p:spPr>
      </p:sp>
      <p:sp>
        <p:nvSpPr>
          <p:cNvPr id="7" name="Shape 5"/>
          <p:cNvSpPr/>
          <p:nvPr/>
        </p:nvSpPr>
        <p:spPr>
          <a:xfrm>
            <a:off x="777240" y="1577340"/>
            <a:ext cx="3393338" cy="64008"/>
          </a:xfrm>
          <a:prstGeom prst="rect">
            <a:avLst/>
          </a:prstGeom>
          <a:solidFill>
            <a:srgbClr val="01D294"/>
          </a:solidFill>
          <a:ln w="12700">
            <a:solidFill>
              <a:srgbClr val="01D294"/>
            </a:solidFill>
            <a:prstDash val="solid"/>
          </a:ln>
        </p:spPr>
      </p:sp>
      <p:sp>
        <p:nvSpPr>
          <p:cNvPr id="8" name="Text 6"/>
          <p:cNvSpPr/>
          <p:nvPr/>
        </p:nvSpPr>
        <p:spPr>
          <a:xfrm>
            <a:off x="905256" y="1769364"/>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Gemini</a:t>
            </a:r>
            <a:endParaRPr lang="en-US" sz="1785" dirty="0"/>
          </a:p>
        </p:txBody>
      </p:sp>
      <p:sp>
        <p:nvSpPr>
          <p:cNvPr id="9" name="Text 7"/>
          <p:cNvSpPr/>
          <p:nvPr/>
        </p:nvSpPr>
        <p:spPr>
          <a:xfrm>
            <a:off x="905256"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Key from </a:t>
            </a:r>
            <a:pPr algn="l" indent="0" marL="0">
              <a:buNone/>
            </a:pPr>
            <a:r>
              <a:rPr lang="en-US" sz="1410" dirty="0">
                <a:solidFill>
                  <a:srgbClr val="D8FFF0"/>
                </a:solidFill>
                <a:latin typeface="Consolas" pitchFamily="34" charset="0"/>
                <a:ea typeface="Consolas" pitchFamily="34" charset="-122"/>
                <a:cs typeface="Consolas" pitchFamily="34" charset="-120"/>
              </a:rPr>
              <a:t>aistudio.google.com/apikey</a:t>
            </a:r>
            <a:pPr algn="l" indent="0" marL="0">
              <a:buNone/>
            </a:pPr>
            <a:r>
              <a:rPr lang="en-US" sz="1600" dirty="0">
                <a:solidFill>
                  <a:srgbClr val="EEF6F3"/>
                </a:solidFill>
                <a:latin typeface="Segoe UI" pitchFamily="34" charset="0"/>
                <a:ea typeface="Segoe UI" pitchFamily="34" charset="-122"/>
                <a:cs typeface="Segoe UI" pitchFamily="34" charset="-120"/>
              </a:rPr>
              <a:t>. No card needed.</a:t>
            </a:r>
            <a:endParaRPr lang="en-US" sz="1600" dirty="0"/>
          </a:p>
        </p:txBody>
      </p:sp>
      <p:sp>
        <p:nvSpPr>
          <p:cNvPr id="10" name="Text 8"/>
          <p:cNvSpPr/>
          <p:nvPr/>
        </p:nvSpPr>
        <p:spPr>
          <a:xfrm>
            <a:off x="905256" y="2844203"/>
            <a:ext cx="3137306" cy="769925"/>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Free tier: Google may use what you send. Practise only on the Nimbus tickets.</a:t>
            </a:r>
            <a:endParaRPr lang="en-US" sz="1360" dirty="0"/>
          </a:p>
        </p:txBody>
      </p:sp>
      <p:sp>
        <p:nvSpPr>
          <p:cNvPr id="11" name="Shape 9"/>
          <p:cNvSpPr/>
          <p:nvPr/>
        </p:nvSpPr>
        <p:spPr>
          <a:xfrm>
            <a:off x="4399178" y="1577340"/>
            <a:ext cx="3393338" cy="2261730"/>
          </a:xfrm>
          <a:prstGeom prst="roundRect">
            <a:avLst>
              <a:gd name="adj" fmla="val 4043"/>
            </a:avLst>
          </a:prstGeom>
          <a:solidFill>
            <a:srgbClr val="13272B"/>
          </a:solidFill>
          <a:ln w="12700">
            <a:solidFill>
              <a:srgbClr val="13272B"/>
            </a:solidFill>
            <a:prstDash val="solid"/>
          </a:ln>
        </p:spPr>
      </p:sp>
      <p:sp>
        <p:nvSpPr>
          <p:cNvPr id="12" name="Shape 10"/>
          <p:cNvSpPr/>
          <p:nvPr/>
        </p:nvSpPr>
        <p:spPr>
          <a:xfrm>
            <a:off x="4399178" y="1577340"/>
            <a:ext cx="3393338" cy="64008"/>
          </a:xfrm>
          <a:prstGeom prst="rect">
            <a:avLst/>
          </a:prstGeom>
          <a:solidFill>
            <a:srgbClr val="5AA2FF"/>
          </a:solidFill>
          <a:ln w="12700">
            <a:solidFill>
              <a:srgbClr val="5AA2FF"/>
            </a:solidFill>
            <a:prstDash val="solid"/>
          </a:ln>
        </p:spPr>
      </p:sp>
      <p:sp>
        <p:nvSpPr>
          <p:cNvPr id="13" name="Text 11"/>
          <p:cNvSpPr/>
          <p:nvPr/>
        </p:nvSpPr>
        <p:spPr>
          <a:xfrm>
            <a:off x="4527194" y="1769364"/>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OpenRouter</a:t>
            </a:r>
            <a:endParaRPr lang="en-US" sz="1785" dirty="0"/>
          </a:p>
        </p:txBody>
      </p:sp>
      <p:sp>
        <p:nvSpPr>
          <p:cNvPr id="14" name="Text 12"/>
          <p:cNvSpPr/>
          <p:nvPr/>
        </p:nvSpPr>
        <p:spPr>
          <a:xfrm>
            <a:off x="4527194" y="2173643"/>
            <a:ext cx="3137306" cy="896112"/>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One key, hundreds of models. </a:t>
            </a:r>
            <a:pPr algn="l" indent="0" marL="0">
              <a:buNone/>
            </a:pPr>
            <a:r>
              <a:rPr lang="en-US" sz="1410" dirty="0">
                <a:solidFill>
                  <a:srgbClr val="D8FFF0"/>
                </a:solidFill>
                <a:latin typeface="Consolas" pitchFamily="34" charset="0"/>
                <a:ea typeface="Consolas" pitchFamily="34" charset="-122"/>
                <a:cs typeface="Consolas" pitchFamily="34" charset="-120"/>
              </a:rPr>
              <a:t>openrouter/free</a:t>
            </a:r>
            <a:pPr algn="l" indent="0" marL="0">
              <a:buNone/>
            </a:pPr>
            <a:r>
              <a:rPr lang="en-US" sz="1600" dirty="0">
                <a:solidFill>
                  <a:srgbClr val="EEF6F3"/>
                </a:solidFill>
                <a:latin typeface="Segoe UI" pitchFamily="34" charset="0"/>
                <a:ea typeface="Segoe UI" pitchFamily="34" charset="-122"/>
                <a:cs typeface="Segoe UI" pitchFamily="34" charset="-120"/>
              </a:rPr>
              <a:t> picks a free one.</a:t>
            </a:r>
            <a:endParaRPr lang="en-US" sz="1600" dirty="0"/>
          </a:p>
        </p:txBody>
      </p:sp>
      <p:sp>
        <p:nvSpPr>
          <p:cNvPr id="15" name="Text 13"/>
          <p:cNvSpPr/>
          <p:nvPr/>
        </p:nvSpPr>
        <p:spPr>
          <a:xfrm>
            <a:off x="4527194" y="3124619"/>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About 50 free requests a day without credit.</a:t>
            </a:r>
            <a:endParaRPr lang="en-US" sz="1360" dirty="0"/>
          </a:p>
        </p:txBody>
      </p:sp>
      <p:sp>
        <p:nvSpPr>
          <p:cNvPr id="16" name="Shape 14"/>
          <p:cNvSpPr/>
          <p:nvPr/>
        </p:nvSpPr>
        <p:spPr>
          <a:xfrm>
            <a:off x="8021117" y="1577340"/>
            <a:ext cx="3393338" cy="2261730"/>
          </a:xfrm>
          <a:prstGeom prst="roundRect">
            <a:avLst>
              <a:gd name="adj" fmla="val 4043"/>
            </a:avLst>
          </a:prstGeom>
          <a:solidFill>
            <a:srgbClr val="13272B"/>
          </a:solidFill>
          <a:ln w="12700">
            <a:solidFill>
              <a:srgbClr val="13272B"/>
            </a:solidFill>
            <a:prstDash val="solid"/>
          </a:ln>
        </p:spPr>
      </p:sp>
      <p:sp>
        <p:nvSpPr>
          <p:cNvPr id="17" name="Shape 15"/>
          <p:cNvSpPr/>
          <p:nvPr/>
        </p:nvSpPr>
        <p:spPr>
          <a:xfrm>
            <a:off x="8021117" y="1577340"/>
            <a:ext cx="3393338" cy="64008"/>
          </a:xfrm>
          <a:prstGeom prst="rect">
            <a:avLst/>
          </a:prstGeom>
          <a:solidFill>
            <a:srgbClr val="FFC53D"/>
          </a:solidFill>
          <a:ln w="12700">
            <a:solidFill>
              <a:srgbClr val="FFC53D"/>
            </a:solidFill>
            <a:prstDash val="solid"/>
          </a:ln>
        </p:spPr>
      </p:sp>
      <p:sp>
        <p:nvSpPr>
          <p:cNvPr id="18" name="Text 16"/>
          <p:cNvSpPr/>
          <p:nvPr/>
        </p:nvSpPr>
        <p:spPr>
          <a:xfrm>
            <a:off x="8149133" y="1769364"/>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Ollama</a:t>
            </a:r>
            <a:endParaRPr lang="en-US" sz="1785" dirty="0"/>
          </a:p>
        </p:txBody>
      </p:sp>
      <p:sp>
        <p:nvSpPr>
          <p:cNvPr id="19" name="Text 17"/>
          <p:cNvSpPr/>
          <p:nvPr/>
        </p:nvSpPr>
        <p:spPr>
          <a:xfrm>
            <a:off x="8149133" y="2173643"/>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Runs on your laptop. No key, works offline, costs nothing.</a:t>
            </a:r>
            <a:endParaRPr lang="en-US" sz="1600" dirty="0"/>
          </a:p>
        </p:txBody>
      </p:sp>
      <p:sp>
        <p:nvSpPr>
          <p:cNvPr id="20" name="Text 18"/>
          <p:cNvSpPr/>
          <p:nvPr/>
        </p:nvSpPr>
        <p:spPr>
          <a:xfrm>
            <a:off x="8149133" y="2844203"/>
            <a:ext cx="3137306" cy="531571"/>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Much weaker than the cloud models, and slower on old laptops.</a:t>
            </a:r>
            <a:endParaRPr lang="en-US" sz="1360" dirty="0"/>
          </a:p>
        </p:txBody>
      </p:sp>
      <p:sp>
        <p:nvSpPr>
          <p:cNvPr id="21" name="Shape 19"/>
          <p:cNvSpPr/>
          <p:nvPr/>
        </p:nvSpPr>
        <p:spPr>
          <a:xfrm>
            <a:off x="777240" y="3967086"/>
            <a:ext cx="10637215" cy="868375"/>
          </a:xfrm>
          <a:prstGeom prst="roundRect">
            <a:avLst>
              <a:gd name="adj" fmla="val 10530"/>
            </a:avLst>
          </a:prstGeom>
          <a:solidFill>
            <a:srgbClr val="3A1C1F"/>
          </a:solidFill>
          <a:ln w="12700">
            <a:solidFill>
              <a:srgbClr val="3A1C1F"/>
            </a:solidFill>
            <a:prstDash val="solid"/>
          </a:ln>
        </p:spPr>
      </p:sp>
      <p:sp>
        <p:nvSpPr>
          <p:cNvPr id="22" name="Shape 20"/>
          <p:cNvSpPr/>
          <p:nvPr/>
        </p:nvSpPr>
        <p:spPr>
          <a:xfrm>
            <a:off x="777240" y="3967086"/>
            <a:ext cx="82296" cy="868375"/>
          </a:xfrm>
          <a:prstGeom prst="rect">
            <a:avLst/>
          </a:prstGeom>
          <a:solidFill>
            <a:srgbClr val="FF7A7A"/>
          </a:solidFill>
          <a:ln w="12700">
            <a:solidFill>
              <a:srgbClr val="FF7A7A"/>
            </a:solidFill>
            <a:prstDash val="solid"/>
          </a:ln>
        </p:spPr>
      </p:sp>
      <p:sp>
        <p:nvSpPr>
          <p:cNvPr id="23" name="Text 21"/>
          <p:cNvSpPr/>
          <p:nvPr/>
        </p:nvSpPr>
        <p:spPr>
          <a:xfrm>
            <a:off x="1051560" y="4076814"/>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WATCH OUT</a:t>
            </a:r>
            <a:endParaRPr lang="en-US" sz="1050" dirty="0"/>
          </a:p>
        </p:txBody>
      </p:sp>
      <p:sp>
        <p:nvSpPr>
          <p:cNvPr id="24" name="Text 22"/>
          <p:cNvSpPr/>
          <p:nvPr/>
        </p:nvSpPr>
        <p:spPr>
          <a:xfrm>
            <a:off x="1051560" y="4314558"/>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These are for practice. The course code needs OpenAI, Azure or Anthropic (step 08).</a:t>
            </a:r>
            <a:endParaRPr lang="en-US" sz="1720" dirty="0"/>
          </a:p>
        </p:txBody>
      </p:sp>
      <p:sp>
        <p:nvSpPr>
          <p:cNvPr id="25" name="Text 23"/>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6" name="Text 24"/>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20 / 32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FFC53D"/>
          </a:solidFill>
          <a:ln w="12700">
            <a:solidFill>
              <a:srgbClr val="FFC53D"/>
            </a:solidFill>
            <a:prstDash val="solid"/>
          </a:ln>
        </p:spPr>
      </p:sp>
      <p:sp>
        <p:nvSpPr>
          <p:cNvPr id="5" name="Text 3"/>
          <p:cNvSpPr/>
          <p:nvPr/>
        </p:nvSpPr>
        <p:spPr>
          <a:xfrm>
            <a:off x="10408615" y="411480"/>
            <a:ext cx="1005840" cy="329184"/>
          </a:xfrm>
          <a:prstGeom prst="roundRect">
            <a:avLst>
              <a:gd name="adj" fmla="val 22222"/>
            </a:avLst>
          </a:prstGeom>
          <a:solidFill>
            <a:srgbClr val="FFC53D"/>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LAB</a:t>
            </a:r>
            <a:endParaRPr lang="en-US" sz="1200" dirty="0"/>
          </a:p>
        </p:txBody>
      </p:sp>
      <p:sp>
        <p:nvSpPr>
          <p:cNvPr id="6" name="Text 4"/>
          <p:cNvSpPr/>
          <p:nvPr/>
        </p:nvSpPr>
        <p:spPr>
          <a:xfrm>
            <a:off x="777240" y="457200"/>
            <a:ext cx="1179576" cy="274320"/>
          </a:xfrm>
          <a:prstGeom prst="roundRect">
            <a:avLst>
              <a:gd name="adj" fmla="val 50000"/>
            </a:avLst>
          </a:prstGeom>
          <a:solidFill>
            <a:srgbClr val="FFC53D"/>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TRY IT</a:t>
            </a:r>
            <a:endParaRPr lang="en-US" sz="1100" dirty="0"/>
          </a:p>
        </p:txBody>
      </p:sp>
      <p:sp>
        <p:nvSpPr>
          <p:cNvPr id="7" name="Text 5"/>
          <p:cNvSpPr/>
          <p:nvPr/>
        </p:nvSpPr>
        <p:spPr>
          <a:xfrm>
            <a:off x="777240" y="841248"/>
            <a:ext cx="944849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first LLM calls</a:t>
            </a:r>
            <a:endParaRPr lang="en-US" sz="3000" dirty="0"/>
          </a:p>
        </p:txBody>
      </p:sp>
      <p:sp>
        <p:nvSpPr>
          <p:cNvPr id="8" name="Shape 6"/>
          <p:cNvSpPr/>
          <p:nvPr/>
        </p:nvSpPr>
        <p:spPr>
          <a:xfrm>
            <a:off x="777240" y="1577340"/>
            <a:ext cx="10637215" cy="2185416"/>
          </a:xfrm>
          <a:prstGeom prst="roundRect">
            <a:avLst>
              <a:gd name="adj" fmla="val 5021"/>
            </a:avLst>
          </a:prstGeom>
          <a:solidFill>
            <a:srgbClr val="13272B"/>
          </a:solidFill>
          <a:ln w="9525">
            <a:solidFill>
              <a:srgbClr val="24413F"/>
            </a:solidFill>
            <a:prstDash val="solid"/>
          </a:ln>
        </p:spPr>
      </p:sp>
      <p:sp>
        <p:nvSpPr>
          <p:cNvPr id="9" name="Text 7"/>
          <p:cNvSpPr/>
          <p:nvPr/>
        </p:nvSpPr>
        <p:spPr>
          <a:xfrm>
            <a:off x="960120" y="1687068"/>
            <a:ext cx="10271455" cy="2002536"/>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code\show_env.py                  # are the keys set? (never prints them)</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gemini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openrouter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"Explain what an API is in one sentence."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An API is a set of rules that lets different programs talk to each other.</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[gemini | gemini-3.5-flash-lite | 31 tokens in, 24 out | 870 ms]</a:t>
            </a:r>
            <a:endParaRPr lang="en-US" sz="1350" dirty="0"/>
          </a:p>
        </p:txBody>
      </p:sp>
      <p:sp>
        <p:nvSpPr>
          <p:cNvPr id="10" name="Text 8"/>
          <p:cNvSpPr/>
          <p:nvPr/>
        </p:nvSpPr>
        <p:spPr>
          <a:xfrm>
            <a:off x="777240" y="3890772"/>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Then: the same joke at </a:t>
            </a:r>
            <a:pPr algn="l" indent="0" marL="0">
              <a:buNone/>
            </a:pPr>
            <a:r>
              <a:rPr lang="en-US" sz="1760" dirty="0">
                <a:solidFill>
                  <a:srgbClr val="D8FFF0"/>
                </a:solidFill>
                <a:latin typeface="Consolas" pitchFamily="34" charset="0"/>
                <a:ea typeface="Consolas" pitchFamily="34" charset="-122"/>
                <a:cs typeface="Consolas" pitchFamily="34" charset="-120"/>
              </a:rPr>
              <a:t>--temperature 0</a:t>
            </a:r>
            <a:pPr algn="l" indent="0" marL="0">
              <a:buNone/>
            </a:pPr>
            <a:r>
              <a:rPr lang="en-US" sz="2000" dirty="0">
                <a:solidFill>
                  <a:srgbClr val="EEF6F3"/>
                </a:solidFill>
                <a:latin typeface="Segoe UI" pitchFamily="34" charset="0"/>
                <a:ea typeface="Segoe UI" pitchFamily="34" charset="-122"/>
                <a:cs typeface="Segoe UI" pitchFamily="34" charset="-120"/>
              </a:rPr>
              <a:t> three times, and at </a:t>
            </a:r>
            <a:pPr algn="l" indent="0" marL="0">
              <a:buNone/>
            </a:pPr>
            <a:r>
              <a:rPr lang="en-US" sz="1760" dirty="0">
                <a:solidFill>
                  <a:srgbClr val="D8FFF0"/>
                </a:solidFill>
                <a:latin typeface="Consolas" pitchFamily="34" charset="0"/>
                <a:ea typeface="Consolas" pitchFamily="34" charset="-122"/>
                <a:cs typeface="Consolas" pitchFamily="34" charset="-120"/>
              </a:rPr>
              <a:t>1.5</a:t>
            </a:r>
            <a:pPr algn="l" indent="0" marL="0">
              <a:buNone/>
            </a:pPr>
            <a:r>
              <a:rPr lang="en-US" sz="2000" dirty="0">
                <a:solidFill>
                  <a:srgbClr val="EEF6F3"/>
                </a:solidFill>
                <a:latin typeface="Segoe UI" pitchFamily="34" charset="0"/>
                <a:ea typeface="Segoe UI" pitchFamily="34" charset="-122"/>
                <a:cs typeface="Segoe UI" pitchFamily="34" charset="-120"/>
              </a:rPr>
              <a:t> three times.</a:t>
            </a:r>
            <a:endParaRPr lang="en-US" sz="2000" dirty="0"/>
          </a:p>
        </p:txBody>
      </p:sp>
      <p:sp>
        <p:nvSpPr>
          <p:cNvPr id="11"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2"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21 / 32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05</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model on your own laptop</a:t>
            </a:r>
            <a:endParaRPr lang="en-US" sz="3000" dirty="0"/>
          </a:p>
        </p:txBody>
      </p:sp>
      <p:sp>
        <p:nvSpPr>
          <p:cNvPr id="6" name="Shape 4"/>
          <p:cNvSpPr/>
          <p:nvPr/>
        </p:nvSpPr>
        <p:spPr>
          <a:xfrm>
            <a:off x="777240" y="1577340"/>
            <a:ext cx="10637215" cy="765810"/>
          </a:xfrm>
          <a:prstGeom prst="roundRect">
            <a:avLst>
              <a:gd name="adj" fmla="val 14328"/>
            </a:avLst>
          </a:prstGeom>
          <a:solidFill>
            <a:srgbClr val="13272B"/>
          </a:solidFill>
          <a:ln w="9525">
            <a:solidFill>
              <a:srgbClr val="24413F"/>
            </a:solidFill>
            <a:prstDash val="solid"/>
          </a:ln>
        </p:spPr>
      </p:sp>
      <p:sp>
        <p:nvSpPr>
          <p:cNvPr id="7" name="Text 5"/>
          <p:cNvSpPr/>
          <p:nvPr/>
        </p:nvSpPr>
        <p:spPr>
          <a:xfrm>
            <a:off x="960120" y="1687068"/>
            <a:ext cx="10271455" cy="582930"/>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ollama pull llama3.2          # about 2 GB, 3 billion parameters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code\chat.py --provider ollama "Say hello in five words."</a:t>
            </a:r>
            <a:endParaRPr lang="en-US" sz="13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2471166"/>
          <a:ext cx="10637215" cy="914400"/>
        </p:xfrm>
        <a:graphic>
          <a:graphicData uri="http://schemas.openxmlformats.org/drawingml/2006/table">
            <a:tbl>
              <a:tblPr/>
              <a:tblGrid>
                <a:gridCol w="3128162"/>
                <a:gridCol w="7509053"/>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Your laptop has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8 GB of memory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llama3.2</a:t>
                      </a:r>
                      <a:pPr indent="0" marL="0">
                        <a:buNone/>
                      </a:pPr>
                      <a:r>
                        <a:rPr lang="en-US" sz="1450" dirty="0">
                          <a:solidFill>
                            <a:srgbClr val="EEF6F3"/>
                          </a:solidFill>
                          <a:latin typeface="Segoe UI" pitchFamily="34" charset="0"/>
                          <a:ea typeface="Segoe UI" pitchFamily="34" charset="-122"/>
                          <a:cs typeface="Segoe UI" pitchFamily="34" charset="-120"/>
                        </a:rPr>
                        <a:t> (2 GB)</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16 GB or more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also </a:t>
                      </a:r>
                      <a:pPr indent="0" marL="0">
                        <a:buNone/>
                      </a:pPr>
                      <a:r>
                        <a:rPr lang="en-US" sz="1280" dirty="0">
                          <a:solidFill>
                            <a:srgbClr val="D8FFF0"/>
                          </a:solidFill>
                          <a:latin typeface="Consolas" pitchFamily="34" charset="0"/>
                          <a:ea typeface="Consolas" pitchFamily="34" charset="-122"/>
                          <a:cs typeface="Consolas" pitchFamily="34" charset="-120"/>
                        </a:rPr>
                        <a:t>gemma3:4b</a:t>
                      </a:r>
                      <a:pPr indent="0" marL="0">
                        <a:buNone/>
                      </a:pPr>
                      <a:r>
                        <a:rPr lang="en-US" sz="1450" dirty="0">
                          <a:solidFill>
                            <a:srgbClr val="EEF6F3"/>
                          </a:solidFill>
                          <a:latin typeface="Segoe UI" pitchFamily="34" charset="0"/>
                          <a:ea typeface="Segoe UI" pitchFamily="34" charset="-122"/>
                          <a:cs typeface="Segoe UI" pitchFamily="34" charset="-120"/>
                        </a:rPr>
                        <a:t> (3.3 GB), and compare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9" name="Shape 6"/>
          <p:cNvSpPr/>
          <p:nvPr/>
        </p:nvSpPr>
        <p:spPr>
          <a:xfrm>
            <a:off x="777240" y="3791331"/>
            <a:ext cx="10637215" cy="1169822"/>
          </a:xfrm>
          <a:prstGeom prst="roundRect">
            <a:avLst>
              <a:gd name="adj" fmla="val 7817"/>
            </a:avLst>
          </a:prstGeom>
          <a:solidFill>
            <a:srgbClr val="3A1C1F"/>
          </a:solidFill>
          <a:ln w="12700">
            <a:solidFill>
              <a:srgbClr val="3A1C1F"/>
            </a:solidFill>
            <a:prstDash val="solid"/>
          </a:ln>
        </p:spPr>
      </p:sp>
      <p:sp>
        <p:nvSpPr>
          <p:cNvPr id="10" name="Shape 7"/>
          <p:cNvSpPr/>
          <p:nvPr/>
        </p:nvSpPr>
        <p:spPr>
          <a:xfrm>
            <a:off x="777240" y="3791331"/>
            <a:ext cx="82296" cy="1169822"/>
          </a:xfrm>
          <a:prstGeom prst="rect">
            <a:avLst/>
          </a:prstGeom>
          <a:solidFill>
            <a:srgbClr val="FF7A7A"/>
          </a:solidFill>
          <a:ln w="12700">
            <a:solidFill>
              <a:srgbClr val="FF7A7A"/>
            </a:solidFill>
            <a:prstDash val="solid"/>
          </a:ln>
        </p:spPr>
      </p:sp>
      <p:sp>
        <p:nvSpPr>
          <p:cNvPr id="11" name="Text 8"/>
          <p:cNvSpPr/>
          <p:nvPr/>
        </p:nvSpPr>
        <p:spPr>
          <a:xfrm>
            <a:off x="1051560" y="3901059"/>
            <a:ext cx="10225735" cy="237744"/>
          </a:xfrm>
          <a:prstGeom prst="rect">
            <a:avLst/>
          </a:prstGeom>
          <a:noFill/>
          <a:ln/>
        </p:spPr>
        <p:txBody>
          <a:bodyPr wrap="square" lIns="0" tIns="0" rIns="0" bIns="0" rtlCol="0" anchor="t"/>
          <a:lstStyle/>
          <a:p>
            <a:pPr indent="0" marL="0">
              <a:buNone/>
            </a:pPr>
            <a:r>
              <a:rPr lang="en-US" sz="1050" b="1" spc="300" kern="0" dirty="0">
                <a:solidFill>
                  <a:srgbClr val="FF7A7A"/>
                </a:solidFill>
                <a:latin typeface="Segoe UI" pitchFamily="34" charset="0"/>
                <a:ea typeface="Segoe UI" pitchFamily="34" charset="-122"/>
                <a:cs typeface="Segoe UI" pitchFamily="34" charset="-120"/>
              </a:rPr>
              <a:t>IF OLLAMA CRASHES (500, OFTEN MENTIONING CUDA)</a:t>
            </a:r>
            <a:endParaRPr lang="en-US" sz="1050" dirty="0"/>
          </a:p>
        </p:txBody>
      </p:sp>
      <p:sp>
        <p:nvSpPr>
          <p:cNvPr id="12" name="Text 9"/>
          <p:cNvSpPr/>
          <p:nvPr/>
        </p:nvSpPr>
        <p:spPr>
          <a:xfrm>
            <a:off x="1051560" y="4138803"/>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The graphics driver is the usual cause. Quit Ollama, then run it on the CPU: </a:t>
            </a:r>
            <a:pPr algn="l" indent="0" marL="0">
              <a:buNone/>
            </a:pPr>
            <a:r>
              <a:rPr lang="en-US" sz="1510" dirty="0">
                <a:solidFill>
                  <a:srgbClr val="D8FFF0"/>
                </a:solidFill>
                <a:latin typeface="Consolas" pitchFamily="34" charset="0"/>
                <a:ea typeface="Consolas" pitchFamily="34" charset="-122"/>
                <a:cs typeface="Consolas" pitchFamily="34" charset="-120"/>
              </a:rPr>
              <a:t>$env:CUDA_VISIBLE_DEVICES="-1"; ollama serve</a:t>
            </a:r>
            <a:endParaRPr lang="en-US" sz="1720" dirty="0"/>
          </a:p>
        </p:txBody>
      </p:sp>
      <p:sp>
        <p:nvSpPr>
          <p:cNvPr id="13" name="Text 10"/>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1"/>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22 / 32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Models read tokens, not words</a:t>
            </a:r>
            <a:endParaRPr lang="en-US" sz="3000" dirty="0"/>
          </a:p>
        </p:txBody>
      </p:sp>
      <p:sp>
        <p:nvSpPr>
          <p:cNvPr id="6" name="Shape 4"/>
          <p:cNvSpPr/>
          <p:nvPr/>
        </p:nvSpPr>
        <p:spPr>
          <a:xfrm>
            <a:off x="777240" y="1577340"/>
            <a:ext cx="10637215" cy="1712214"/>
          </a:xfrm>
          <a:prstGeom prst="roundRect">
            <a:avLst>
              <a:gd name="adj" fmla="val 6409"/>
            </a:avLst>
          </a:prstGeom>
          <a:solidFill>
            <a:srgbClr val="13272B"/>
          </a:solidFill>
          <a:ln w="9525">
            <a:solidFill>
              <a:srgbClr val="24413F"/>
            </a:solidFill>
            <a:prstDash val="solid"/>
          </a:ln>
        </p:spPr>
      </p:sp>
      <p:sp>
        <p:nvSpPr>
          <p:cNvPr id="7" name="Text 5"/>
          <p:cNvSpPr/>
          <p:nvPr/>
        </p:nvSpPr>
        <p:spPr>
          <a:xfrm>
            <a:off x="960120" y="1687068"/>
            <a:ext cx="10271455" cy="1529334"/>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code\count_tokens.py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Ticket T-1001: 217 characters, 40 words, 47 tokens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'I' | ' ordered' | ' the' | ' wireless' | ' headphones' | ' two' | ' weeks'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ago' | ',' | ' order' | ' #' | '482' | '91' | '.' | ' They' | ' arrived' | ...</a:t>
            </a:r>
            <a:endParaRPr lang="en-US" sz="1350" dirty="0"/>
          </a:p>
        </p:txBody>
      </p:sp>
      <p:sp>
        <p:nvSpPr>
          <p:cNvPr id="8" name="Shape 6"/>
          <p:cNvSpPr/>
          <p:nvPr/>
        </p:nvSpPr>
        <p:spPr>
          <a:xfrm>
            <a:off x="777240" y="3417570"/>
            <a:ext cx="10637215" cy="1169822"/>
          </a:xfrm>
          <a:prstGeom prst="roundRect">
            <a:avLst>
              <a:gd name="adj" fmla="val 7817"/>
            </a:avLst>
          </a:prstGeom>
          <a:solidFill>
            <a:srgbClr val="0D3029"/>
          </a:solidFill>
          <a:ln w="12700">
            <a:solidFill>
              <a:srgbClr val="0D3029"/>
            </a:solidFill>
            <a:prstDash val="solid"/>
          </a:ln>
        </p:spPr>
      </p:sp>
      <p:sp>
        <p:nvSpPr>
          <p:cNvPr id="9" name="Shape 7"/>
          <p:cNvSpPr/>
          <p:nvPr/>
        </p:nvSpPr>
        <p:spPr>
          <a:xfrm>
            <a:off x="777240" y="3417570"/>
            <a:ext cx="82296" cy="1169822"/>
          </a:xfrm>
          <a:prstGeom prst="rect">
            <a:avLst/>
          </a:prstGeom>
          <a:solidFill>
            <a:srgbClr val="01D294"/>
          </a:solidFill>
          <a:ln w="12700">
            <a:solidFill>
              <a:srgbClr val="01D294"/>
            </a:solidFill>
            <a:prstDash val="solid"/>
          </a:ln>
        </p:spPr>
      </p:sp>
      <p:sp>
        <p:nvSpPr>
          <p:cNvPr id="10" name="Text 8"/>
          <p:cNvSpPr/>
          <p:nvPr/>
        </p:nvSpPr>
        <p:spPr>
          <a:xfrm>
            <a:off x="1051560" y="3527298"/>
            <a:ext cx="10225735" cy="237744"/>
          </a:xfrm>
          <a:prstGeom prst="rect">
            <a:avLst/>
          </a:prstGeom>
          <a:noFill/>
          <a:ln/>
        </p:spPr>
        <p:txBody>
          <a:bodyPr wrap="square" lIns="0" tIns="0" rIns="0" bIns="0" rtlCol="0" anchor="t"/>
          <a:lstStyle/>
          <a:p>
            <a:pPr indent="0" marL="0">
              <a:buNone/>
            </a:pPr>
            <a:r>
              <a:rPr lang="en-US" sz="1050" b="1" spc="300" kern="0" dirty="0">
                <a:solidFill>
                  <a:srgbClr val="01D294"/>
                </a:solidFill>
                <a:latin typeface="Segoe UI" pitchFamily="34" charset="0"/>
                <a:ea typeface="Segoe UI" pitchFamily="34" charset="-122"/>
                <a:cs typeface="Segoe UI" pitchFamily="34" charset="-120"/>
              </a:rPr>
              <a:t>IN PLAIN WORDS</a:t>
            </a:r>
            <a:endParaRPr lang="en-US" sz="1050" dirty="0"/>
          </a:p>
        </p:txBody>
      </p:sp>
      <p:sp>
        <p:nvSpPr>
          <p:cNvPr id="11" name="Text 9"/>
          <p:cNvSpPr/>
          <p:nvPr/>
        </p:nvSpPr>
        <p:spPr>
          <a:xfrm>
            <a:off x="1051560" y="376504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A </a:t>
            </a:r>
            <a:pPr algn="l" indent="0" marL="0">
              <a:buNone/>
            </a:pPr>
            <a:r>
              <a:rPr lang="en-US" sz="1720" b="1" dirty="0">
                <a:solidFill>
                  <a:srgbClr val="FFFFFF"/>
                </a:solidFill>
                <a:latin typeface="Segoe UI" pitchFamily="34" charset="0"/>
                <a:ea typeface="Segoe UI" pitchFamily="34" charset="-122"/>
                <a:cs typeface="Segoe UI" pitchFamily="34" charset="-120"/>
              </a:rPr>
              <a:t>token</a:t>
            </a:r>
            <a:pPr algn="l" indent="0" marL="0">
              <a:buNone/>
            </a:pPr>
            <a:r>
              <a:rPr lang="en-US" sz="1720" dirty="0">
                <a:solidFill>
                  <a:srgbClr val="EEF6F3"/>
                </a:solidFill>
                <a:latin typeface="Segoe UI" pitchFamily="34" charset="0"/>
                <a:ea typeface="Segoe UI" pitchFamily="34" charset="-122"/>
                <a:cs typeface="Segoe UI" pitchFamily="34" charset="-120"/>
              </a:rPr>
              <a:t> is a chunk of text: often a short word, sometimes part of a word or a number. English is about 3 tokens per 4 words.</a:t>
            </a:r>
            <a:endParaRPr lang="en-US" sz="1720" dirty="0"/>
          </a:p>
        </p:txBody>
      </p:sp>
      <p:sp>
        <p:nvSpPr>
          <p:cNvPr id="12" name="Text 10"/>
          <p:cNvSpPr/>
          <p:nvPr/>
        </p:nvSpPr>
        <p:spPr>
          <a:xfrm>
            <a:off x="777240" y="4715408"/>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The order number </a:t>
            </a:r>
            <a:pPr algn="l" indent="0" marL="0">
              <a:buNone/>
            </a:pPr>
            <a:r>
              <a:rPr lang="en-US" sz="1500" dirty="0">
                <a:solidFill>
                  <a:srgbClr val="D8FFF0"/>
                </a:solidFill>
                <a:latin typeface="Consolas" pitchFamily="34" charset="0"/>
                <a:ea typeface="Consolas" pitchFamily="34" charset="-122"/>
                <a:cs typeface="Consolas" pitchFamily="34" charset="-120"/>
              </a:rPr>
              <a:t>48291</a:t>
            </a:r>
            <a:pPr algn="l" indent="0" marL="0">
              <a:buNone/>
            </a:pPr>
            <a:r>
              <a:rPr lang="en-US" sz="1700" dirty="0">
                <a:solidFill>
                  <a:srgbClr val="EEF6F3"/>
                </a:solidFill>
                <a:latin typeface="Segoe UI" pitchFamily="34" charset="0"/>
                <a:ea typeface="Segoe UI" pitchFamily="34" charset="-122"/>
                <a:cs typeface="Segoe UI" pitchFamily="34" charset="-120"/>
              </a:rPr>
              <a:t> became two tokens. The model never sees it as one thing.</a:t>
            </a:r>
            <a:endParaRPr lang="en-US" sz="1700" dirty="0"/>
          </a:p>
        </p:txBody>
      </p:sp>
      <p:sp>
        <p:nvSpPr>
          <p:cNvPr id="13" name="Text 11"/>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4" name="Text 12"/>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23 / 32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Same request, different price per language</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7637069"/>
                <a:gridCol w="1363370"/>
                <a:gridCol w="1636776"/>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The same request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Words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Tokens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 want a refund for my order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أريد استرداد المبلغ لطلبي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4</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10</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بدي رجّع المصاري</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279648"/>
            <a:ext cx="10637215" cy="75590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The tokenizer learned mostly from English, so other languages get cut into more pieces. </a:t>
            </a:r>
            <a:pPr algn="l" indent="0" marL="0">
              <a:buNone/>
            </a:pPr>
            <a:r>
              <a:rPr lang="en-US" sz="1760" dirty="0">
                <a:solidFill>
                  <a:srgbClr val="D8FFF0"/>
                </a:solidFill>
                <a:latin typeface="Consolas" pitchFamily="34" charset="0"/>
                <a:ea typeface="Consolas" pitchFamily="34" charset="-122"/>
                <a:cs typeface="Consolas" pitchFamily="34" charset="-120"/>
              </a:rPr>
              <a:t>refund</a:t>
            </a:r>
            <a:pPr algn="l" indent="0" marL="0">
              <a:buNone/>
            </a:pPr>
            <a:r>
              <a:rPr lang="en-US" sz="2000" dirty="0">
                <a:solidFill>
                  <a:srgbClr val="EEF6F3"/>
                </a:solidFill>
                <a:latin typeface="Segoe UI" pitchFamily="34" charset="0"/>
                <a:ea typeface="Segoe UI" pitchFamily="34" charset="-122"/>
                <a:cs typeface="Segoe UI" pitchFamily="34" charset="-120"/>
              </a:rPr>
              <a:t> is 1 token; استرداد is 3.</a:t>
            </a:r>
            <a:endParaRPr lang="en-US" sz="2000" dirty="0"/>
          </a:p>
        </p:txBody>
      </p:sp>
      <p:sp>
        <p:nvSpPr>
          <p:cNvPr id="8" name="Shape 5"/>
          <p:cNvSpPr/>
          <p:nvPr/>
        </p:nvSpPr>
        <p:spPr>
          <a:xfrm>
            <a:off x="777240" y="4163568"/>
            <a:ext cx="10637215" cy="868375"/>
          </a:xfrm>
          <a:prstGeom prst="roundRect">
            <a:avLst>
              <a:gd name="adj" fmla="val 10530"/>
            </a:avLst>
          </a:prstGeom>
          <a:solidFill>
            <a:srgbClr val="112A45"/>
          </a:solidFill>
          <a:ln w="12700">
            <a:solidFill>
              <a:srgbClr val="112A45"/>
            </a:solidFill>
            <a:prstDash val="solid"/>
          </a:ln>
        </p:spPr>
      </p:sp>
      <p:sp>
        <p:nvSpPr>
          <p:cNvPr id="9" name="Shape 6"/>
          <p:cNvSpPr/>
          <p:nvPr/>
        </p:nvSpPr>
        <p:spPr>
          <a:xfrm>
            <a:off x="777240" y="4163568"/>
            <a:ext cx="82296" cy="868375"/>
          </a:xfrm>
          <a:prstGeom prst="rect">
            <a:avLst/>
          </a:prstGeom>
          <a:solidFill>
            <a:srgbClr val="5AA2FF"/>
          </a:solidFill>
          <a:ln w="12700">
            <a:solidFill>
              <a:srgbClr val="5AA2FF"/>
            </a:solidFill>
            <a:prstDash val="solid"/>
          </a:ln>
        </p:spPr>
      </p:sp>
      <p:sp>
        <p:nvSpPr>
          <p:cNvPr id="10" name="Text 7"/>
          <p:cNvSpPr/>
          <p:nvPr/>
        </p:nvSpPr>
        <p:spPr>
          <a:xfrm>
            <a:off x="1051560" y="4273296"/>
            <a:ext cx="10225735" cy="237744"/>
          </a:xfrm>
          <a:prstGeom prst="rect">
            <a:avLst/>
          </a:prstGeom>
          <a:noFill/>
          <a:ln/>
        </p:spPr>
        <p:txBody>
          <a:bodyPr wrap="square" lIns="0" tIns="0" rIns="0" bIns="0" rtlCol="0" anchor="t"/>
          <a:lstStyle/>
          <a:p>
            <a:pPr indent="0" marL="0">
              <a:buNone/>
            </a:pPr>
            <a:r>
              <a:rPr lang="en-US" sz="1050" b="1" spc="300" kern="0" dirty="0">
                <a:solidFill>
                  <a:srgbClr val="5AA2FF"/>
                </a:solidFill>
                <a:latin typeface="Segoe UI" pitchFamily="34" charset="0"/>
                <a:ea typeface="Segoe UI" pitchFamily="34" charset="-122"/>
                <a:cs typeface="Segoe UI" pitchFamily="34" charset="-120"/>
              </a:rPr>
              <a:t>GOOD TO KNOW</a:t>
            </a:r>
            <a:endParaRPr lang="en-US" sz="1050" dirty="0"/>
          </a:p>
        </p:txBody>
      </p:sp>
      <p:sp>
        <p:nvSpPr>
          <p:cNvPr id="11" name="Text 8"/>
          <p:cNvSpPr/>
          <p:nvPr/>
        </p:nvSpPr>
        <p:spPr>
          <a:xfrm>
            <a:off x="1051560" y="4511040"/>
            <a:ext cx="10225735" cy="356311"/>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Try yours: </a:t>
            </a:r>
            <a:pPr algn="l" indent="0" marL="0">
              <a:buNone/>
            </a:pPr>
            <a:r>
              <a:rPr lang="en-US" sz="1510" dirty="0">
                <a:solidFill>
                  <a:srgbClr val="D8FFF0"/>
                </a:solidFill>
                <a:latin typeface="Consolas" pitchFamily="34" charset="0"/>
                <a:ea typeface="Consolas" pitchFamily="34" charset="-122"/>
                <a:cs typeface="Consolas" pitchFamily="34" charset="-120"/>
              </a:rPr>
              <a:t>py code\count_tokens.py --text "your sentence"</a:t>
            </a:r>
            <a:endParaRPr lang="en-US" sz="1720" dirty="0"/>
          </a:p>
        </p:txBody>
      </p:sp>
      <p:sp>
        <p:nvSpPr>
          <p:cNvPr id="12" name="Text 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3" name="Text 1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24 / 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06</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What one ticket costs</a:t>
            </a:r>
            <a:endParaRPr lang="en-US" sz="3000" dirty="0"/>
          </a:p>
        </p:txBody>
      </p:sp>
      <p:sp>
        <p:nvSpPr>
          <p:cNvPr id="6" name="Text 4"/>
          <p:cNvSpPr/>
          <p:nvPr/>
        </p:nvSpPr>
        <p:spPr>
          <a:xfrm>
            <a:off x="777240" y="1577340"/>
            <a:ext cx="10637215" cy="405384"/>
          </a:xfrm>
          <a:prstGeom prst="rect">
            <a:avLst/>
          </a:prstGeom>
          <a:noFill/>
          <a:ln/>
        </p:spPr>
        <p:txBody>
          <a:bodyPr wrap="square" lIns="0" tIns="0" rIns="0" bIns="0" rtlCol="0" anchor="t"/>
          <a:lstStyle/>
          <a:p>
            <a:pPr algn="l" indent="0" marL="0">
              <a:buNone/>
            </a:pPr>
            <a:r>
              <a:rPr lang="en-US" sz="2000" dirty="0">
                <a:solidFill>
                  <a:srgbClr val="EEF6F3"/>
                </a:solidFill>
                <a:latin typeface="Segoe UI" pitchFamily="34" charset="0"/>
                <a:ea typeface="Segoe UI" pitchFamily="34" charset="-122"/>
                <a:cs typeface="Segoe UI" pitchFamily="34" charset="-120"/>
              </a:rPr>
              <a:t>Read ticket T-1001 (47 tokens) and write a 150-token reply:</a:t>
            </a:r>
            <a:endParaRPr lang="en-US" sz="2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77240" y="2110740"/>
          <a:ext cx="10637215" cy="914400"/>
        </p:xfrm>
        <a:graphic>
          <a:graphicData uri="http://schemas.openxmlformats.org/drawingml/2006/table">
            <a:tbl>
              <a:tblPr/>
              <a:tblGrid>
                <a:gridCol w="5754319"/>
                <a:gridCol w="1743761"/>
                <a:gridCol w="3139135"/>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Model</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ticket</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Per 10,000 tickets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gpt-4o-mini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B4F05A"/>
                          </a:solidFill>
                          <a:latin typeface="Segoe UI" pitchFamily="34" charset="0"/>
                          <a:ea typeface="Segoe UI" pitchFamily="34" charset="-122"/>
                          <a:cs typeface="Segoe UI" pitchFamily="34" charset="-120"/>
                        </a:rPr>
                        <a:t>$0.97</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gemini-3.5-flash-lite</a:t>
                      </a:r>
                      <a:pPr indent="0" marL="0">
                        <a:buNone/>
                      </a:pPr>
                      <a:r>
                        <a:rPr lang="en-US" sz="1450" dirty="0">
                          <a:solidFill>
                            <a:srgbClr val="EEF6F3"/>
                          </a:solidFill>
                          <a:latin typeface="Segoe UI" pitchFamily="34" charset="0"/>
                          <a:ea typeface="Segoe UI" pitchFamily="34" charset="-122"/>
                          <a:cs typeface="Segoe UI" pitchFamily="34" charset="-120"/>
                        </a:rPr>
                        <a:t> (paid tier)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$0.000389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$3.89</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280" dirty="0">
                          <a:solidFill>
                            <a:srgbClr val="D8FFF0"/>
                          </a:solidFill>
                          <a:latin typeface="Consolas" pitchFamily="34" charset="0"/>
                          <a:ea typeface="Consolas" pitchFamily="34" charset="-122"/>
                          <a:cs typeface="Consolas" pitchFamily="34" charset="-120"/>
                        </a:rPr>
                        <a:t>gpt-4o</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$0.001618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FF7A7A"/>
                          </a:solidFill>
                          <a:latin typeface="Segoe UI" pitchFamily="34" charset="0"/>
                          <a:ea typeface="Segoe UI" pitchFamily="34" charset="-122"/>
                          <a:cs typeface="Segoe UI" pitchFamily="34" charset="-120"/>
                        </a:rPr>
                        <a:t>$16.18</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8" name="Text 5"/>
          <p:cNvSpPr/>
          <p:nvPr/>
        </p:nvSpPr>
        <p:spPr>
          <a:xfrm>
            <a:off x="777240" y="3813048"/>
            <a:ext cx="10637215" cy="1225296"/>
          </a:xfrm>
          <a:prstGeom prst="rect">
            <a:avLst/>
          </a:prstGeom>
          <a:noFill/>
          <a:ln/>
        </p:spPr>
        <p:txBody>
          <a:bodyPr wrap="square" lIns="0" tIns="0" rIns="0" bIns="0" rtlCol="0" anchor="t"/>
          <a:lstStyle/>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Priced per million tokens. </a:t>
            </a:r>
            <a:pPr indent="0" marL="0">
              <a:buNone/>
            </a:pPr>
            <a:r>
              <a:rPr lang="en-US" sz="2000" b="1" dirty="0">
                <a:solidFill>
                  <a:srgbClr val="FFFFFF"/>
                </a:solidFill>
                <a:latin typeface="Segoe UI" pitchFamily="34" charset="0"/>
                <a:ea typeface="Segoe UI" pitchFamily="34" charset="-122"/>
                <a:cs typeface="Segoe UI" pitchFamily="34" charset="-120"/>
              </a:rPr>
              <a:t>Output</a:t>
            </a:r>
            <a:pPr indent="0" marL="0">
              <a:buNone/>
            </a:pPr>
            <a:r>
              <a:rPr lang="en-US" sz="2000" dirty="0">
                <a:solidFill>
                  <a:srgbClr val="EEF6F3"/>
                </a:solidFill>
                <a:latin typeface="Segoe UI" pitchFamily="34" charset="0"/>
                <a:ea typeface="Segoe UI" pitchFamily="34" charset="-122"/>
                <a:cs typeface="Segoe UI" pitchFamily="34" charset="-120"/>
              </a:rPr>
              <a:t> costs more than input.</a:t>
            </a:r>
            <a:endParaRPr lang="en-US" sz="2000" dirty="0"/>
          </a:p>
          <a:p>
            <a:pPr marL="279400" indent="-279400">
              <a:spcAft>
                <a:spcPts val="500"/>
              </a:spcAft>
              <a:buSzPct val="100000"/>
              <a:buChar char="•"/>
            </a:pPr>
            <a:r>
              <a:rPr lang="en-US" sz="2000" dirty="0">
                <a:solidFill>
                  <a:srgbClr val="EEF6F3"/>
                </a:solidFill>
                <a:latin typeface="Segoe UI" pitchFamily="34" charset="0"/>
                <a:ea typeface="Segoe UI" pitchFamily="34" charset="-122"/>
                <a:cs typeface="Segoe UI" pitchFamily="34" charset="-120"/>
              </a:rPr>
              <a:t>One call is a fraction of a cent. The choice of model is a </a:t>
            </a:r>
            <a:pPr indent="0" marL="0">
              <a:buNone/>
            </a:pPr>
            <a:r>
              <a:rPr lang="en-US" sz="2000" b="1" dirty="0">
                <a:solidFill>
                  <a:srgbClr val="FFFFFF"/>
                </a:solidFill>
                <a:latin typeface="Segoe UI" pitchFamily="34" charset="0"/>
                <a:ea typeface="Segoe UI" pitchFamily="34" charset="-122"/>
                <a:cs typeface="Segoe UI" pitchFamily="34" charset="-120"/>
              </a:rPr>
              <a:t>16×</a:t>
            </a:r>
            <a:pPr indent="0" marL="0">
              <a:buNone/>
            </a:pPr>
            <a:r>
              <a:rPr lang="en-US" sz="2000" dirty="0">
                <a:solidFill>
                  <a:srgbClr val="EEF6F3"/>
                </a:solidFill>
                <a:latin typeface="Segoe UI" pitchFamily="34" charset="0"/>
                <a:ea typeface="Segoe UI" pitchFamily="34" charset="-122"/>
                <a:cs typeface="Segoe UI" pitchFamily="34" charset="-120"/>
              </a:rPr>
              <a:t> difference in the bill.</a:t>
            </a:r>
            <a:endParaRPr lang="en-US" sz="2000" dirty="0"/>
          </a:p>
        </p:txBody>
      </p:sp>
      <p:sp>
        <p:nvSpPr>
          <p:cNvPr id="9" name="Text 6"/>
          <p:cNvSpPr/>
          <p:nvPr/>
        </p:nvSpPr>
        <p:spPr>
          <a:xfrm>
            <a:off x="777240" y="5166360"/>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Prices checked October 2026. They change: always check the provider's pricing page.</a:t>
            </a:r>
            <a:endParaRPr lang="en-US" sz="1700" dirty="0"/>
          </a:p>
        </p:txBody>
      </p:sp>
      <p:sp>
        <p:nvSpPr>
          <p:cNvPr id="10"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1"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25 / 32</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Shape 2"/>
          <p:cNvSpPr/>
          <p:nvPr/>
        </p:nvSpPr>
        <p:spPr>
          <a:xfrm>
            <a:off x="0" y="0"/>
            <a:ext cx="118872" cy="6858000"/>
          </a:xfrm>
          <a:prstGeom prst="rect">
            <a:avLst/>
          </a:prstGeom>
          <a:solidFill>
            <a:srgbClr val="5AA2FF"/>
          </a:solidFill>
          <a:ln w="12700">
            <a:solidFill>
              <a:srgbClr val="5AA2FF"/>
            </a:solidFill>
            <a:prstDash val="solid"/>
          </a:ln>
        </p:spPr>
      </p:sp>
      <p:sp>
        <p:nvSpPr>
          <p:cNvPr id="5" name="Text 3"/>
          <p:cNvSpPr/>
          <p:nvPr/>
        </p:nvSpPr>
        <p:spPr>
          <a:xfrm>
            <a:off x="9585655" y="411480"/>
            <a:ext cx="1828800" cy="329184"/>
          </a:xfrm>
          <a:prstGeom prst="roundRect">
            <a:avLst>
              <a:gd name="adj" fmla="val 22222"/>
            </a:avLst>
          </a:prstGeom>
          <a:solidFill>
            <a:srgbClr val="5AA2FF"/>
          </a:solidFill>
          <a:ln/>
        </p:spPr>
        <p:txBody>
          <a:bodyPr wrap="square" lIns="0" tIns="0" rIns="0" bIns="0" rtlCol="0" anchor="ctr"/>
          <a:lstStyle/>
          <a:p>
            <a:pPr algn="ctr" indent="0" marL="0">
              <a:buNone/>
            </a:pPr>
            <a:r>
              <a:rPr lang="en-US" sz="1200" b="1" spc="400" kern="0" dirty="0">
                <a:solidFill>
                  <a:srgbClr val="0C1A1D"/>
                </a:solidFill>
                <a:latin typeface="Segoe UI" pitchFamily="34" charset="0"/>
                <a:ea typeface="Segoe UI" pitchFamily="34" charset="-122"/>
                <a:cs typeface="Segoe UI" pitchFamily="34" charset="-120"/>
              </a:rPr>
              <a:t>QUICK CHECK</a:t>
            </a:r>
            <a:endParaRPr lang="en-US" sz="1200" dirty="0"/>
          </a:p>
        </p:txBody>
      </p:sp>
      <p:sp>
        <p:nvSpPr>
          <p:cNvPr id="6" name="Text 4"/>
          <p:cNvSpPr/>
          <p:nvPr/>
        </p:nvSpPr>
        <p:spPr>
          <a:xfrm>
            <a:off x="777240" y="457200"/>
            <a:ext cx="1819656" cy="274320"/>
          </a:xfrm>
          <a:prstGeom prst="roundRect">
            <a:avLst>
              <a:gd name="adj" fmla="val 50000"/>
            </a:avLst>
          </a:prstGeom>
          <a:solidFill>
            <a:srgbClr val="5AA2FF"/>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QUICK CHECK</a:t>
            </a:r>
            <a:endParaRPr lang="en-US" sz="1100" dirty="0"/>
          </a:p>
        </p:txBody>
      </p:sp>
      <p:sp>
        <p:nvSpPr>
          <p:cNvPr id="7" name="Text 5"/>
          <p:cNvSpPr/>
          <p:nvPr/>
        </p:nvSpPr>
        <p:spPr>
          <a:xfrm>
            <a:off x="777240" y="841248"/>
            <a:ext cx="862553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Keys, providers, tokens</a:t>
            </a:r>
            <a:endParaRPr lang="en-US" sz="3000" dirty="0"/>
          </a:p>
        </p:txBody>
      </p:sp>
      <p:sp>
        <p:nvSpPr>
          <p:cNvPr id="8" name="Text 6"/>
          <p:cNvSpPr/>
          <p:nvPr/>
        </p:nvSpPr>
        <p:spPr>
          <a:xfrm>
            <a:off x="777240" y="1577340"/>
            <a:ext cx="10637215" cy="128930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To switch </a:t>
            </a:r>
            <a:pPr indent="0" marL="0">
              <a:buNone/>
            </a:pPr>
            <a:r>
              <a:rPr lang="en-US" sz="2000" dirty="0">
                <a:solidFill>
                  <a:srgbClr val="D8FFF0"/>
                </a:solidFill>
                <a:latin typeface="Consolas" pitchFamily="34" charset="0"/>
                <a:ea typeface="Consolas" pitchFamily="34" charset="-122"/>
                <a:cs typeface="Consolas" pitchFamily="34" charset="-120"/>
              </a:rPr>
              <a:t>chat.py</a:t>
            </a:r>
            <a:pPr indent="0" marL="0">
              <a:buNone/>
            </a:pPr>
            <a:r>
              <a:rPr lang="en-US" sz="2000" dirty="0">
                <a:solidFill>
                  <a:srgbClr val="EEF6F3"/>
                </a:solidFill>
                <a:latin typeface="Segoe UI" pitchFamily="34" charset="0"/>
                <a:ea typeface="Segoe UI" pitchFamily="34" charset="-122"/>
                <a:cs typeface="Segoe UI" pitchFamily="34" charset="-120"/>
              </a:rPr>
              <a:t> from Gemini to OpenRouter, which </a:t>
            </a:r>
            <a:pPr indent="0" marL="0">
              <a:buNone/>
            </a:pPr>
            <a:r>
              <a:rPr lang="en-US" sz="2000" b="1" dirty="0">
                <a:solidFill>
                  <a:srgbClr val="FFFFFF"/>
                </a:solidFill>
                <a:latin typeface="Segoe UI" pitchFamily="34" charset="0"/>
                <a:ea typeface="Segoe UI" pitchFamily="34" charset="-122"/>
                <a:cs typeface="Segoe UI" pitchFamily="34" charset="-120"/>
              </a:rPr>
              <a:t>two</a:t>
            </a:r>
            <a:pPr indent="0" marL="0">
              <a:buNone/>
            </a:pPr>
            <a:r>
              <a:rPr lang="en-US" sz="2000" dirty="0">
                <a:solidFill>
                  <a:srgbClr val="EEF6F3"/>
                </a:solidFill>
                <a:latin typeface="Segoe UI" pitchFamily="34" charset="0"/>
                <a:ea typeface="Segoe UI" pitchFamily="34" charset="-122"/>
                <a:cs typeface="Segoe UI" pitchFamily="34" charset="-120"/>
              </a:rPr>
              <a:t> things change?</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You pushed a key to GitHub by mistake. What do you do first?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Which costs more per token: what you send, or what the model writes?</a:t>
            </a:r>
            <a:endParaRPr lang="en-US" sz="20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26 / 32</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109728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A taste of Resolvo: the model suggests, your code decides</a:t>
            </a:r>
            <a:endParaRPr lang="en-US" sz="3000" dirty="0"/>
          </a:p>
        </p:txBody>
      </p:sp>
      <p:sp>
        <p:nvSpPr>
          <p:cNvPr id="6" name="Shape 4"/>
          <p:cNvSpPr/>
          <p:nvPr/>
        </p:nvSpPr>
        <p:spPr>
          <a:xfrm>
            <a:off x="777240" y="2103120"/>
            <a:ext cx="10637215" cy="1239012"/>
          </a:xfrm>
          <a:prstGeom prst="roundRect">
            <a:avLst>
              <a:gd name="adj" fmla="val 8856"/>
            </a:avLst>
          </a:prstGeom>
          <a:solidFill>
            <a:srgbClr val="13272B"/>
          </a:solidFill>
          <a:ln w="9525">
            <a:solidFill>
              <a:srgbClr val="24413F"/>
            </a:solidFill>
            <a:prstDash val="solid"/>
          </a:ln>
        </p:spPr>
      </p:sp>
      <p:sp>
        <p:nvSpPr>
          <p:cNvPr id="7" name="Text 5"/>
          <p:cNvSpPr/>
          <p:nvPr/>
        </p:nvSpPr>
        <p:spPr>
          <a:xfrm>
            <a:off x="960120" y="2212848"/>
            <a:ext cx="10271455" cy="105613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 code\taste_of_resolvo.py --provider gemini</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T-1002: Hi, checking on order O-58204 (SoundBar Mini). It says shipped...</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{'category': 'shipping_delay', 'priority': 'low', 'sentiment': 'calm'}</a:t>
            </a:r>
            <a:endParaRPr lang="en-US" sz="1350" dirty="0"/>
          </a:p>
        </p:txBody>
      </p:sp>
      <p:sp>
        <p:nvSpPr>
          <p:cNvPr id="8" name="Shape 6"/>
          <p:cNvSpPr/>
          <p:nvPr/>
        </p:nvSpPr>
        <p:spPr>
          <a:xfrm>
            <a:off x="777240" y="3470148"/>
            <a:ext cx="3393338" cy="1394879"/>
          </a:xfrm>
          <a:prstGeom prst="roundRect">
            <a:avLst>
              <a:gd name="adj" fmla="val 6555"/>
            </a:avLst>
          </a:prstGeom>
          <a:solidFill>
            <a:srgbClr val="13272B"/>
          </a:solidFill>
          <a:ln w="12700">
            <a:solidFill>
              <a:srgbClr val="13272B"/>
            </a:solidFill>
            <a:prstDash val="solid"/>
          </a:ln>
        </p:spPr>
      </p:sp>
      <p:sp>
        <p:nvSpPr>
          <p:cNvPr id="9" name="Shape 7"/>
          <p:cNvSpPr/>
          <p:nvPr/>
        </p:nvSpPr>
        <p:spPr>
          <a:xfrm>
            <a:off x="777240" y="3470148"/>
            <a:ext cx="3393338" cy="64008"/>
          </a:xfrm>
          <a:prstGeom prst="rect">
            <a:avLst/>
          </a:prstGeom>
          <a:solidFill>
            <a:srgbClr val="01D294"/>
          </a:solidFill>
          <a:ln w="12700">
            <a:solidFill>
              <a:srgbClr val="01D294"/>
            </a:solidFill>
            <a:prstDash val="solid"/>
          </a:ln>
        </p:spPr>
      </p:sp>
      <p:sp>
        <p:nvSpPr>
          <p:cNvPr id="10" name="Text 8"/>
          <p:cNvSpPr/>
          <p:nvPr/>
        </p:nvSpPr>
        <p:spPr>
          <a:xfrm>
            <a:off x="905256" y="3662172"/>
            <a:ext cx="3137306" cy="367703"/>
          </a:xfrm>
          <a:prstGeom prst="rect">
            <a:avLst/>
          </a:prstGeom>
          <a:noFill/>
          <a:ln/>
        </p:spPr>
        <p:txBody>
          <a:bodyPr wrap="square" lIns="0" tIns="0" rIns="0" bIns="0" rtlCol="0" anchor="t"/>
          <a:lstStyle/>
          <a:p>
            <a:pPr algn="l" indent="0" marL="0">
              <a:buNone/>
            </a:pPr>
            <a:r>
              <a:rPr lang="en-US" sz="1785" b="1" dirty="0">
                <a:solidFill>
                  <a:srgbClr val="01D294"/>
                </a:solidFill>
                <a:latin typeface="Segoe UI" pitchFamily="34" charset="0"/>
                <a:ea typeface="Segoe UI" pitchFamily="34" charset="-122"/>
                <a:cs typeface="Segoe UI" pitchFamily="34" charset="-120"/>
              </a:rPr>
              <a:t>1. Valid JSON?</a:t>
            </a:r>
            <a:endParaRPr lang="en-US" sz="1785" dirty="0"/>
          </a:p>
        </p:txBody>
      </p:sp>
      <p:sp>
        <p:nvSpPr>
          <p:cNvPr id="11" name="Text 9"/>
          <p:cNvSpPr/>
          <p:nvPr/>
        </p:nvSpPr>
        <p:spPr>
          <a:xfrm>
            <a:off x="905256"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"Sure! Here's the JSON…"</a:t>
            </a:r>
            <a:endParaRPr lang="en-US" sz="1600" dirty="0"/>
          </a:p>
        </p:txBody>
      </p:sp>
      <p:sp>
        <p:nvSpPr>
          <p:cNvPr id="12" name="Shape 10"/>
          <p:cNvSpPr/>
          <p:nvPr/>
        </p:nvSpPr>
        <p:spPr>
          <a:xfrm>
            <a:off x="4399178" y="3470148"/>
            <a:ext cx="3393338" cy="1394879"/>
          </a:xfrm>
          <a:prstGeom prst="roundRect">
            <a:avLst>
              <a:gd name="adj" fmla="val 6555"/>
            </a:avLst>
          </a:prstGeom>
          <a:solidFill>
            <a:srgbClr val="13272B"/>
          </a:solidFill>
          <a:ln w="12700">
            <a:solidFill>
              <a:srgbClr val="13272B"/>
            </a:solidFill>
            <a:prstDash val="solid"/>
          </a:ln>
        </p:spPr>
      </p:sp>
      <p:sp>
        <p:nvSpPr>
          <p:cNvPr id="13" name="Shape 11"/>
          <p:cNvSpPr/>
          <p:nvPr/>
        </p:nvSpPr>
        <p:spPr>
          <a:xfrm>
            <a:off x="4399178" y="3470148"/>
            <a:ext cx="3393338" cy="64008"/>
          </a:xfrm>
          <a:prstGeom prst="rect">
            <a:avLst/>
          </a:prstGeom>
          <a:solidFill>
            <a:srgbClr val="5AA2FF"/>
          </a:solidFill>
          <a:ln w="12700">
            <a:solidFill>
              <a:srgbClr val="5AA2FF"/>
            </a:solidFill>
            <a:prstDash val="solid"/>
          </a:ln>
        </p:spPr>
      </p:sp>
      <p:sp>
        <p:nvSpPr>
          <p:cNvPr id="14" name="Text 12"/>
          <p:cNvSpPr/>
          <p:nvPr/>
        </p:nvSpPr>
        <p:spPr>
          <a:xfrm>
            <a:off x="4527194" y="3662172"/>
            <a:ext cx="3137306" cy="367703"/>
          </a:xfrm>
          <a:prstGeom prst="rect">
            <a:avLst/>
          </a:prstGeom>
          <a:noFill/>
          <a:ln/>
        </p:spPr>
        <p:txBody>
          <a:bodyPr wrap="square" lIns="0" tIns="0" rIns="0" bIns="0" rtlCol="0" anchor="t"/>
          <a:lstStyle/>
          <a:p>
            <a:pPr algn="l" indent="0" marL="0">
              <a:buNone/>
            </a:pPr>
            <a:r>
              <a:rPr lang="en-US" sz="1785" b="1" dirty="0">
                <a:solidFill>
                  <a:srgbClr val="5AA2FF"/>
                </a:solidFill>
                <a:latin typeface="Segoe UI" pitchFamily="34" charset="0"/>
                <a:ea typeface="Segoe UI" pitchFamily="34" charset="-122"/>
                <a:cs typeface="Segoe UI" pitchFamily="34" charset="-120"/>
              </a:rPr>
              <a:t>2. An object?</a:t>
            </a:r>
            <a:endParaRPr lang="en-US" sz="1785" dirty="0"/>
          </a:p>
        </p:txBody>
      </p:sp>
      <p:sp>
        <p:nvSpPr>
          <p:cNvPr id="15" name="Text 13"/>
          <p:cNvSpPr/>
          <p:nvPr/>
        </p:nvSpPr>
        <p:spPr>
          <a:xfrm>
            <a:off x="4527194" y="4066451"/>
            <a:ext cx="313730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A dict, not a list or a string.</a:t>
            </a:r>
            <a:endParaRPr lang="en-US" sz="1600" dirty="0"/>
          </a:p>
        </p:txBody>
      </p:sp>
      <p:sp>
        <p:nvSpPr>
          <p:cNvPr id="16" name="Shape 14"/>
          <p:cNvSpPr/>
          <p:nvPr/>
        </p:nvSpPr>
        <p:spPr>
          <a:xfrm>
            <a:off x="8021117" y="3470148"/>
            <a:ext cx="3393338" cy="1394879"/>
          </a:xfrm>
          <a:prstGeom prst="roundRect">
            <a:avLst>
              <a:gd name="adj" fmla="val 6555"/>
            </a:avLst>
          </a:prstGeom>
          <a:solidFill>
            <a:srgbClr val="13272B"/>
          </a:solidFill>
          <a:ln w="12700">
            <a:solidFill>
              <a:srgbClr val="13272B"/>
            </a:solidFill>
            <a:prstDash val="solid"/>
          </a:ln>
        </p:spPr>
      </p:sp>
      <p:sp>
        <p:nvSpPr>
          <p:cNvPr id="17" name="Shape 15"/>
          <p:cNvSpPr/>
          <p:nvPr/>
        </p:nvSpPr>
        <p:spPr>
          <a:xfrm>
            <a:off x="8021117" y="3470148"/>
            <a:ext cx="3393338" cy="64008"/>
          </a:xfrm>
          <a:prstGeom prst="rect">
            <a:avLst/>
          </a:prstGeom>
          <a:solidFill>
            <a:srgbClr val="FFC53D"/>
          </a:solidFill>
          <a:ln w="12700">
            <a:solidFill>
              <a:srgbClr val="FFC53D"/>
            </a:solidFill>
            <a:prstDash val="solid"/>
          </a:ln>
        </p:spPr>
      </p:sp>
      <p:sp>
        <p:nvSpPr>
          <p:cNvPr id="18" name="Text 16"/>
          <p:cNvSpPr/>
          <p:nvPr/>
        </p:nvSpPr>
        <p:spPr>
          <a:xfrm>
            <a:off x="8149133" y="3662172"/>
            <a:ext cx="3137306" cy="367703"/>
          </a:xfrm>
          <a:prstGeom prst="rect">
            <a:avLst/>
          </a:prstGeom>
          <a:noFill/>
          <a:ln/>
        </p:spPr>
        <p:txBody>
          <a:bodyPr wrap="square" lIns="0" tIns="0" rIns="0" bIns="0" rtlCol="0" anchor="t"/>
          <a:lstStyle/>
          <a:p>
            <a:pPr algn="l" indent="0" marL="0">
              <a:buNone/>
            </a:pPr>
            <a:r>
              <a:rPr lang="en-US" sz="1785" b="1" dirty="0">
                <a:solidFill>
                  <a:srgbClr val="FFC53D"/>
                </a:solidFill>
                <a:latin typeface="Segoe UI" pitchFamily="34" charset="0"/>
                <a:ea typeface="Segoe UI" pitchFamily="34" charset="-122"/>
                <a:cs typeface="Segoe UI" pitchFamily="34" charset="-120"/>
              </a:rPr>
              <a:t>3. Allowed values?</a:t>
            </a:r>
            <a:endParaRPr lang="en-US" sz="1785" dirty="0"/>
          </a:p>
        </p:txBody>
      </p:sp>
      <p:sp>
        <p:nvSpPr>
          <p:cNvPr id="19" name="Text 17"/>
          <p:cNvSpPr/>
          <p:nvPr/>
        </p:nvSpPr>
        <p:spPr>
          <a:xfrm>
            <a:off x="8149133" y="4066451"/>
            <a:ext cx="3137306" cy="335280"/>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Every field from the list.</a:t>
            </a:r>
            <a:endParaRPr lang="en-US" sz="1600" dirty="0"/>
          </a:p>
        </p:txBody>
      </p:sp>
      <p:sp>
        <p:nvSpPr>
          <p:cNvPr id="20" name="Text 18"/>
          <p:cNvSpPr/>
          <p:nvPr/>
        </p:nvSpPr>
        <p:spPr>
          <a:xfrm>
            <a:off x="777240" y="4993043"/>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Anything that fails is printed as </a:t>
            </a:r>
            <a:pPr algn="l" indent="0" marL="0">
              <a:buNone/>
            </a:pPr>
            <a:r>
              <a:rPr lang="en-US" sz="1500" dirty="0">
                <a:solidFill>
                  <a:srgbClr val="D8FFF0"/>
                </a:solidFill>
                <a:latin typeface="Consolas" pitchFamily="34" charset="0"/>
                <a:ea typeface="Consolas" pitchFamily="34" charset="-122"/>
                <a:cs typeface="Consolas" pitchFamily="34" charset="-120"/>
              </a:rPr>
              <a:t>REJECTED</a:t>
            </a:r>
            <a:pPr algn="l" indent="0" marL="0">
              <a:buNone/>
            </a:pPr>
            <a:r>
              <a:rPr lang="en-US" sz="1700" dirty="0">
                <a:solidFill>
                  <a:srgbClr val="EEF6F3"/>
                </a:solidFill>
                <a:latin typeface="Segoe UI" pitchFamily="34" charset="0"/>
                <a:ea typeface="Segoe UI" pitchFamily="34" charset="-122"/>
                <a:cs typeface="Segoe UI" pitchFamily="34" charset="-120"/>
              </a:rPr>
              <a:t> with the raw reply. It is never used.</a:t>
            </a:r>
            <a:endParaRPr lang="en-US" sz="1700" dirty="0"/>
          </a:p>
        </p:txBody>
      </p:sp>
      <p:sp>
        <p:nvSpPr>
          <p:cNvPr id="21" name="Text 19"/>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2" name="Text 20"/>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27 / 32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07</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Two kinds of wrong</a:t>
            </a:r>
            <a:endParaRPr lang="en-US" sz="3000" dirty="0"/>
          </a:p>
        </p:txBody>
      </p:sp>
      <p:sp>
        <p:nvSpPr>
          <p:cNvPr id="6" name="Shape 4"/>
          <p:cNvSpPr/>
          <p:nvPr/>
        </p:nvSpPr>
        <p:spPr>
          <a:xfrm>
            <a:off x="777240" y="1577340"/>
            <a:ext cx="10637215" cy="1169822"/>
          </a:xfrm>
          <a:prstGeom prst="roundRect">
            <a:avLst>
              <a:gd name="adj" fmla="val 7817"/>
            </a:avLst>
          </a:prstGeom>
          <a:solidFill>
            <a:srgbClr val="2E2A14"/>
          </a:solidFill>
          <a:ln w="12700">
            <a:solidFill>
              <a:srgbClr val="2E2A14"/>
            </a:solidFill>
            <a:prstDash val="solid"/>
          </a:ln>
        </p:spPr>
      </p:sp>
      <p:sp>
        <p:nvSpPr>
          <p:cNvPr id="7" name="Shape 5"/>
          <p:cNvSpPr/>
          <p:nvPr/>
        </p:nvSpPr>
        <p:spPr>
          <a:xfrm>
            <a:off x="777240" y="1577340"/>
            <a:ext cx="82296" cy="1169822"/>
          </a:xfrm>
          <a:prstGeom prst="rect">
            <a:avLst/>
          </a:prstGeom>
          <a:solidFill>
            <a:srgbClr val="FFC53D"/>
          </a:solidFill>
          <a:ln w="12700">
            <a:solidFill>
              <a:srgbClr val="FFC53D"/>
            </a:solidFill>
            <a:prstDash val="solid"/>
          </a:ln>
        </p:spPr>
      </p:sp>
      <p:sp>
        <p:nvSpPr>
          <p:cNvPr id="8" name="Text 6"/>
          <p:cNvSpPr/>
          <p:nvPr/>
        </p:nvSpPr>
        <p:spPr>
          <a:xfrm>
            <a:off x="1051560" y="1687068"/>
            <a:ext cx="10225735" cy="237744"/>
          </a:xfrm>
          <a:prstGeom prst="rect">
            <a:avLst/>
          </a:prstGeom>
          <a:noFill/>
          <a:ln/>
        </p:spPr>
        <p:txBody>
          <a:bodyPr wrap="square" lIns="0" tIns="0" rIns="0" bIns="0" rtlCol="0" anchor="t"/>
          <a:lstStyle/>
          <a:p>
            <a:pPr indent="0" marL="0">
              <a:buNone/>
            </a:pPr>
            <a:r>
              <a:rPr lang="en-US" sz="1050" b="1" spc="300" kern="0" dirty="0">
                <a:solidFill>
                  <a:srgbClr val="FFC53D"/>
                </a:solidFill>
                <a:latin typeface="Segoe UI" pitchFamily="34" charset="0"/>
                <a:ea typeface="Segoe UI" pitchFamily="34" charset="-122"/>
                <a:cs typeface="Segoe UI" pitchFamily="34" charset="-120"/>
              </a:rPr>
              <a:t>T-1011, RUN ON LLAMA3.2</a:t>
            </a:r>
            <a:endParaRPr lang="en-US" sz="1050" dirty="0"/>
          </a:p>
        </p:txBody>
      </p:sp>
      <p:sp>
        <p:nvSpPr>
          <p:cNvPr id="9" name="Text 7"/>
          <p:cNvSpPr/>
          <p:nvPr/>
        </p:nvSpPr>
        <p:spPr>
          <a:xfrm>
            <a:off x="1051560" y="1924812"/>
            <a:ext cx="10225735" cy="657758"/>
          </a:xfrm>
          <a:prstGeom prst="rect">
            <a:avLst/>
          </a:prstGeom>
          <a:noFill/>
          <a:ln/>
        </p:spPr>
        <p:txBody>
          <a:bodyPr wrap="square" lIns="0" tIns="0" rIns="0" bIns="0" rtlCol="0" anchor="t"/>
          <a:lstStyle/>
          <a:p>
            <a:pPr algn="l" indent="0" marL="0">
              <a:buNone/>
            </a:pPr>
            <a:r>
              <a:rPr lang="en-US" sz="1720" dirty="0">
                <a:solidFill>
                  <a:srgbClr val="EEF6F3"/>
                </a:solidFill>
                <a:latin typeface="Segoe UI" pitchFamily="34" charset="0"/>
                <a:ea typeface="Segoe UI" pitchFamily="34" charset="-122"/>
                <a:cs typeface="Segoe UI" pitchFamily="34" charset="-120"/>
              </a:rPr>
              <a:t>"I received a Nimbus smart speaker as a birthday gift last week and I already own the same one…" → </a:t>
            </a:r>
            <a:pPr algn="l" indent="0" marL="0">
              <a:buNone/>
            </a:pPr>
            <a:r>
              <a:rPr lang="en-US" sz="1510" dirty="0">
                <a:solidFill>
                  <a:srgbClr val="D8FFF0"/>
                </a:solidFill>
                <a:latin typeface="Consolas" pitchFamily="34" charset="0"/>
                <a:ea typeface="Consolas" pitchFamily="34" charset="-122"/>
                <a:cs typeface="Consolas" pitchFamily="34" charset="-120"/>
              </a:rPr>
              <a:t>OK {'category': 'product_defect', ...}</a:t>
            </a:r>
            <a:endParaRPr lang="en-US" sz="1720" dirty="0"/>
          </a:p>
        </p:txBody>
      </p:sp>
      <p:sp>
        <p:nvSpPr>
          <p:cNvPr id="10" name="Shape 8"/>
          <p:cNvSpPr/>
          <p:nvPr/>
        </p:nvSpPr>
        <p:spPr>
          <a:xfrm>
            <a:off x="777240" y="2875178"/>
            <a:ext cx="5204308" cy="1742961"/>
          </a:xfrm>
          <a:prstGeom prst="roundRect">
            <a:avLst>
              <a:gd name="adj" fmla="val 5246"/>
            </a:avLst>
          </a:prstGeom>
          <a:solidFill>
            <a:srgbClr val="13272B"/>
          </a:solidFill>
          <a:ln w="12700">
            <a:solidFill>
              <a:srgbClr val="13272B"/>
            </a:solidFill>
            <a:prstDash val="solid"/>
          </a:ln>
        </p:spPr>
      </p:sp>
      <p:sp>
        <p:nvSpPr>
          <p:cNvPr id="11" name="Shape 9"/>
          <p:cNvSpPr/>
          <p:nvPr/>
        </p:nvSpPr>
        <p:spPr>
          <a:xfrm>
            <a:off x="777240" y="2875178"/>
            <a:ext cx="5204308" cy="64008"/>
          </a:xfrm>
          <a:prstGeom prst="rect">
            <a:avLst/>
          </a:prstGeom>
          <a:solidFill>
            <a:srgbClr val="FF7A7A"/>
          </a:solidFill>
          <a:ln w="12700">
            <a:solidFill>
              <a:srgbClr val="FF7A7A"/>
            </a:solidFill>
            <a:prstDash val="solid"/>
          </a:ln>
        </p:spPr>
      </p:sp>
      <p:sp>
        <p:nvSpPr>
          <p:cNvPr id="12" name="Text 10"/>
          <p:cNvSpPr/>
          <p:nvPr/>
        </p:nvSpPr>
        <p:spPr>
          <a:xfrm>
            <a:off x="905256"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shape</a:t>
            </a:r>
            <a:endParaRPr lang="en-US" sz="1785" dirty="0"/>
          </a:p>
        </p:txBody>
      </p:sp>
      <p:sp>
        <p:nvSpPr>
          <p:cNvPr id="13" name="Text 11"/>
          <p:cNvSpPr/>
          <p:nvPr/>
        </p:nvSpPr>
        <p:spPr>
          <a:xfrm>
            <a:off x="905256"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Not JSON, or a value off the list. Code catches it every time.</a:t>
            </a:r>
            <a:endParaRPr lang="en-US" sz="1600" dirty="0"/>
          </a:p>
        </p:txBody>
      </p:sp>
      <p:sp>
        <p:nvSpPr>
          <p:cNvPr id="14" name="Text 12"/>
          <p:cNvSpPr/>
          <p:nvPr/>
        </p:nvSpPr>
        <p:spPr>
          <a:xfrm>
            <a:off x="905256"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Session 2 makes it nearly impossible.</a:t>
            </a:r>
            <a:endParaRPr lang="en-US" sz="1360" dirty="0"/>
          </a:p>
        </p:txBody>
      </p:sp>
      <p:sp>
        <p:nvSpPr>
          <p:cNvPr id="15" name="Shape 13"/>
          <p:cNvSpPr/>
          <p:nvPr/>
        </p:nvSpPr>
        <p:spPr>
          <a:xfrm>
            <a:off x="6210148" y="2875178"/>
            <a:ext cx="5204308" cy="1742961"/>
          </a:xfrm>
          <a:prstGeom prst="roundRect">
            <a:avLst>
              <a:gd name="adj" fmla="val 5246"/>
            </a:avLst>
          </a:prstGeom>
          <a:solidFill>
            <a:srgbClr val="13272B"/>
          </a:solidFill>
          <a:ln w="12700">
            <a:solidFill>
              <a:srgbClr val="13272B"/>
            </a:solidFill>
            <a:prstDash val="solid"/>
          </a:ln>
        </p:spPr>
      </p:sp>
      <p:sp>
        <p:nvSpPr>
          <p:cNvPr id="16" name="Shape 14"/>
          <p:cNvSpPr/>
          <p:nvPr/>
        </p:nvSpPr>
        <p:spPr>
          <a:xfrm>
            <a:off x="6210148" y="2875178"/>
            <a:ext cx="5204308" cy="64008"/>
          </a:xfrm>
          <a:prstGeom prst="rect">
            <a:avLst/>
          </a:prstGeom>
          <a:solidFill>
            <a:srgbClr val="FF7A7A"/>
          </a:solidFill>
          <a:ln w="12700">
            <a:solidFill>
              <a:srgbClr val="FF7A7A"/>
            </a:solidFill>
            <a:prstDash val="solid"/>
          </a:ln>
        </p:spPr>
      </p:sp>
      <p:sp>
        <p:nvSpPr>
          <p:cNvPr id="17" name="Text 15"/>
          <p:cNvSpPr/>
          <p:nvPr/>
        </p:nvSpPr>
        <p:spPr>
          <a:xfrm>
            <a:off x="6338164" y="3067202"/>
            <a:ext cx="4948276" cy="367703"/>
          </a:xfrm>
          <a:prstGeom prst="rect">
            <a:avLst/>
          </a:prstGeom>
          <a:noFill/>
          <a:ln/>
        </p:spPr>
        <p:txBody>
          <a:bodyPr wrap="square" lIns="0" tIns="0" rIns="0" bIns="0" rtlCol="0" anchor="t"/>
          <a:lstStyle/>
          <a:p>
            <a:pPr algn="l" indent="0" marL="0">
              <a:buNone/>
            </a:pPr>
            <a:r>
              <a:rPr lang="en-US" sz="1785" b="1" dirty="0">
                <a:solidFill>
                  <a:srgbClr val="FF7A7A"/>
                </a:solidFill>
                <a:latin typeface="Segoe UI" pitchFamily="34" charset="0"/>
                <a:ea typeface="Segoe UI" pitchFamily="34" charset="-122"/>
                <a:cs typeface="Segoe UI" pitchFamily="34" charset="-120"/>
              </a:rPr>
              <a:t>Wrong answer</a:t>
            </a:r>
            <a:endParaRPr lang="en-US" sz="1785" dirty="0"/>
          </a:p>
        </p:txBody>
      </p:sp>
      <p:sp>
        <p:nvSpPr>
          <p:cNvPr id="18" name="Text 16"/>
          <p:cNvSpPr/>
          <p:nvPr/>
        </p:nvSpPr>
        <p:spPr>
          <a:xfrm>
            <a:off x="6338164" y="3471481"/>
            <a:ext cx="4948276" cy="615696"/>
          </a:xfrm>
          <a:prstGeom prst="rect">
            <a:avLst/>
          </a:prstGeom>
          <a:noFill/>
          <a:ln/>
        </p:spPr>
        <p:txBody>
          <a:bodyPr wrap="square" lIns="0" tIns="0" rIns="0" bIns="0" rtlCol="0" anchor="t"/>
          <a:lstStyle/>
          <a:p>
            <a:pPr algn="l" indent="0" marL="0">
              <a:buNone/>
            </a:pPr>
            <a:r>
              <a:rPr lang="en-US" sz="1600" dirty="0">
                <a:solidFill>
                  <a:srgbClr val="EEF6F3"/>
                </a:solidFill>
                <a:latin typeface="Segoe UI" pitchFamily="34" charset="0"/>
                <a:ea typeface="Segoe UI" pitchFamily="34" charset="-122"/>
                <a:cs typeface="Segoe UI" pitchFamily="34" charset="-120"/>
              </a:rPr>
              <a:t>Perfect JSON, wrong label. Nothing is broken: it's a duplicate gift.</a:t>
            </a:r>
            <a:endParaRPr lang="en-US" sz="1600" dirty="0"/>
          </a:p>
        </p:txBody>
      </p:sp>
      <p:sp>
        <p:nvSpPr>
          <p:cNvPr id="19" name="Text 17"/>
          <p:cNvSpPr/>
          <p:nvPr/>
        </p:nvSpPr>
        <p:spPr>
          <a:xfrm>
            <a:off x="6338164" y="4142041"/>
            <a:ext cx="4948276" cy="293218"/>
          </a:xfrm>
          <a:prstGeom prst="rect">
            <a:avLst/>
          </a:prstGeom>
          <a:noFill/>
          <a:ln/>
        </p:spPr>
        <p:txBody>
          <a:bodyPr wrap="square" lIns="0" tIns="0" rIns="0" bIns="0" rtlCol="0" anchor="t"/>
          <a:lstStyle/>
          <a:p>
            <a:pPr algn="l" indent="0" marL="0">
              <a:buNone/>
            </a:pPr>
            <a:r>
              <a:rPr lang="en-US" sz="1360" dirty="0">
                <a:solidFill>
                  <a:srgbClr val="EEF6F3"/>
                </a:solidFill>
                <a:latin typeface="Segoe UI" pitchFamily="34" charset="0"/>
                <a:ea typeface="Segoe UI" pitchFamily="34" charset="-122"/>
                <a:cs typeface="Segoe UI" pitchFamily="34" charset="-120"/>
              </a:rPr>
              <a:t>Session 10: test against tickets with known answers.</a:t>
            </a:r>
            <a:endParaRPr lang="en-US" sz="1360" dirty="0"/>
          </a:p>
        </p:txBody>
      </p:sp>
      <p:sp>
        <p:nvSpPr>
          <p:cNvPr id="20" name="Text 18"/>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21" name="Text 19"/>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28 / 32</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Your course key: bring your own</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77240" y="1577340"/>
          <a:ext cx="10637215" cy="914400"/>
        </p:xfrm>
        <a:graphic>
          <a:graphicData uri="http://schemas.openxmlformats.org/drawingml/2006/table">
            <a:tbl>
              <a:tblPr/>
              <a:tblGrid>
                <a:gridCol w="2532888"/>
                <a:gridCol w="1645920"/>
                <a:gridCol w="6458407"/>
              </a:tblGrid>
              <a:tr h="0">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Provider</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Whole course?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c>
                  <a:txBody>
                    <a:bodyPr/>
                    <a:lstStyle/>
                    <a:p>
                      <a:pPr indent="0" marL="0">
                        <a:buNone/>
                      </a:pPr>
                      <a:r>
                        <a:rPr lang="en-US" sz="1450" b="1" dirty="0">
                          <a:solidFill>
                            <a:srgbClr val="01D294"/>
                          </a:solidFill>
                          <a:latin typeface="Segoe UI" pitchFamily="34" charset="0"/>
                          <a:ea typeface="Segoe UI" pitchFamily="34" charset="-122"/>
                          <a:cs typeface="Segoe UI" pitchFamily="34" charset="-120"/>
                        </a:rPr>
                        <a:t>Notes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D3029"/>
                    </a:solidFill>
                  </a:tcPr>
                </a:tc>
              </a:tr>
              <a:tr h="0">
                <a:tc>
                  <a:txBody>
                    <a:bodyPr/>
                    <a:lstStyle/>
                    <a:p>
                      <a:pPr indent="0" marL="0">
                        <a:buNone/>
                      </a:pPr>
                      <a:r>
                        <a:rPr lang="en-US" sz="1450" b="1" dirty="0">
                          <a:solidFill>
                            <a:srgbClr val="FFFFFF"/>
                          </a:solidFill>
                          <a:latin typeface="Segoe UI" pitchFamily="34" charset="0"/>
                          <a:ea typeface="Segoe UI" pitchFamily="34" charset="-122"/>
                          <a:cs typeface="Segoe UI" pitchFamily="34" charset="-120"/>
                        </a:rPr>
                        <a:t>OpenAI</a:t>
                      </a:r>
                      <a:pPr indent="0" marL="0">
                        <a:buNone/>
                      </a:pPr>
                      <a:r>
                        <a:rPr lang="en-US" sz="1450" dirty="0">
                          <a:solidFill>
                            <a:srgbClr val="EEF6F3"/>
                          </a:solidFill>
                          <a:latin typeface="Segoe UI" pitchFamily="34" charset="0"/>
                          <a:ea typeface="Segoe UI" pitchFamily="34" charset="-122"/>
                          <a:cs typeface="Segoe UI" pitchFamily="34" charset="-120"/>
                        </a:rPr>
                        <a:t> (recommended)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One key covers everything, embeddings included</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Azure OpenAI</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Yes</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If your employer already gives you Azure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r h="0">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Anthropic</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Not alone</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c>
                  <a:txBody>
                    <a:bodyPr/>
                    <a:lstStyle/>
                    <a:p>
                      <a:pPr indent="0" marL="0">
                        <a:buNone/>
                      </a:pPr>
                      <a:r>
                        <a:rPr lang="en-US" sz="1450" dirty="0">
                          <a:solidFill>
                            <a:srgbClr val="EEF6F3"/>
                          </a:solidFill>
                          <a:latin typeface="Segoe UI" pitchFamily="34" charset="0"/>
                          <a:ea typeface="Segoe UI" pitchFamily="34" charset="-122"/>
                          <a:cs typeface="Segoe UI" pitchFamily="34" charset="-120"/>
                        </a:rPr>
                        <a:t>Session 1 and the RAG weeks also need an OpenAI key</a:t>
                      </a:r>
                      <a:endParaRPr lang="en-US" sz="1450" dirty="0">
                        <a:latin typeface="Segoe UI" charset="0"/>
                        <a:ea typeface="Segoe UI" charset="0"/>
                        <a:cs typeface="Segoe UI" charset="0"/>
                      </a:endParaRPr>
                    </a:p>
                  </a:txBody>
                  <a:tcPr marL="91440" marR="91440" marT="45720" marB="45720" anchor="t">
                    <a:lnL w="9525" cap="flat" cmpd="sng" algn="ctr">
                      <a:solidFill>
                        <a:srgbClr val="24413F"/>
                      </a:solidFill>
                      <a:prstDash val="solid"/>
                      <a:round/>
                      <a:headEnd type="none" w="med" len="med"/>
                      <a:tailEnd type="none" w="med" len="med"/>
                    </a:lnL>
                    <a:lnR w="9525" cap="flat" cmpd="sng" algn="ctr">
                      <a:solidFill>
                        <a:srgbClr val="24413F"/>
                      </a:solidFill>
                      <a:prstDash val="solid"/>
                      <a:round/>
                      <a:headEnd type="none" w="med" len="med"/>
                      <a:tailEnd type="none" w="med" len="med"/>
                    </a:lnR>
                    <a:lnT w="9525" cap="flat" cmpd="sng" algn="ctr">
                      <a:solidFill>
                        <a:srgbClr val="24413F"/>
                      </a:solidFill>
                      <a:prstDash val="solid"/>
                      <a:round/>
                      <a:headEnd type="none" w="med" len="med"/>
                      <a:tailEnd type="none" w="med" len="med"/>
                    </a:lnT>
                    <a:lnB w="9525" cap="flat" cmpd="sng" algn="ctr">
                      <a:solidFill>
                        <a:srgbClr val="24413F"/>
                      </a:solidFill>
                      <a:prstDash val="solid"/>
                      <a:round/>
                      <a:headEnd type="none" w="med" len="med"/>
                      <a:tailEnd type="none" w="med" len="med"/>
                    </a:lnB>
                    <a:solidFill>
                      <a:srgbClr val="0C1A1D"/>
                    </a:solidFill>
                  </a:tcPr>
                </a:tc>
              </a:tr>
            </a:tbl>
          </a:graphicData>
        </a:graphic>
      </p:graphicFrame>
      <p:sp>
        <p:nvSpPr>
          <p:cNvPr id="7" name="Text 4"/>
          <p:cNvSpPr/>
          <p:nvPr/>
        </p:nvSpPr>
        <p:spPr>
          <a:xfrm>
            <a:off x="777240" y="3279648"/>
            <a:ext cx="10637215" cy="1289304"/>
          </a:xfrm>
          <a:prstGeom prst="rect">
            <a:avLst/>
          </a:prstGeom>
          <a:noFill/>
          <a:ln/>
        </p:spPr>
        <p:txBody>
          <a:bodyPr wrap="square" lIns="0" tIns="0" rIns="0" bIns="0" rtlCol="0" anchor="t"/>
          <a:lstStyle/>
          <a:p>
            <a:pPr marL="279400" indent="-279400">
              <a:spcAft>
                <a:spcPts val="500"/>
              </a:spcAft>
              <a:buSzPct val="100000"/>
              <a:buFont typeface="+mj-lt"/>
              <a:buAutoNum type="arabicPeriod" startAt="1"/>
            </a:pPr>
            <a:r>
              <a:rPr lang="en-US" sz="2000" dirty="0">
                <a:solidFill>
                  <a:srgbClr val="D8FFF0"/>
                </a:solidFill>
                <a:latin typeface="Consolas" pitchFamily="34" charset="0"/>
                <a:ea typeface="Consolas" pitchFamily="34" charset="-122"/>
                <a:cs typeface="Consolas" pitchFamily="34" charset="-120"/>
              </a:rPr>
              <a:t>platform.openai.com</a:t>
            </a:r>
            <a:pPr indent="0" marL="0">
              <a:buNone/>
            </a:pPr>
            <a:r>
              <a:rPr lang="en-US" sz="2000" dirty="0">
                <a:solidFill>
                  <a:srgbClr val="EEF6F3"/>
                </a:solidFill>
                <a:latin typeface="Segoe UI" pitchFamily="34" charset="0"/>
                <a:ea typeface="Segoe UI" pitchFamily="34" charset="-122"/>
                <a:cs typeface="Segoe UI" pitchFamily="34" charset="-120"/>
              </a:rPr>
              <a:t> → Billing: add </a:t>
            </a:r>
            <a:pPr indent="0" marL="0">
              <a:buNone/>
            </a:pPr>
            <a:r>
              <a:rPr lang="en-US" sz="2000" b="1" dirty="0">
                <a:solidFill>
                  <a:srgbClr val="FFFFFF"/>
                </a:solidFill>
                <a:latin typeface="Segoe UI" pitchFamily="34" charset="0"/>
                <a:ea typeface="Segoe UI" pitchFamily="34" charset="-122"/>
                <a:cs typeface="Segoe UI" pitchFamily="34" charset="-120"/>
              </a:rPr>
              <a:t>$10</a:t>
            </a:r>
            <a:pPr indent="0" marL="0">
              <a:buNone/>
            </a:pPr>
            <a:r>
              <a:rPr lang="en-US" sz="2000" dirty="0">
                <a:solidFill>
                  <a:srgbClr val="EEF6F3"/>
                </a:solidFill>
                <a:latin typeface="Segoe UI" pitchFamily="34" charset="0"/>
                <a:ea typeface="Segoe UI" pitchFamily="34" charset="-122"/>
                <a:cs typeface="Segoe UI" pitchFamily="34" charset="-120"/>
              </a:rPr>
              <a:t> prepaid credit.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Limits: set a monthly budget.</a:t>
            </a:r>
            <a:endParaRPr lang="en-US" sz="2000" dirty="0"/>
          </a:p>
          <a:p>
            <a:pPr marL="279400" indent="-279400">
              <a:spcAft>
                <a:spcPts val="500"/>
              </a:spcAft>
              <a:buSzPct val="100000"/>
              <a:buFont typeface="+mj-lt"/>
              <a:buAutoNum type="arabicPeriod" startAt="1"/>
            </a:pPr>
            <a:r>
              <a:rPr lang="en-US" sz="2000" dirty="0">
                <a:solidFill>
                  <a:srgbClr val="EEF6F3"/>
                </a:solidFill>
                <a:latin typeface="Segoe UI" pitchFamily="34" charset="0"/>
                <a:ea typeface="Segoe UI" pitchFamily="34" charset="-122"/>
                <a:cs typeface="Segoe UI" pitchFamily="34" charset="-120"/>
              </a:rPr>
              <a:t>API keys: create one called </a:t>
            </a:r>
            <a:pPr indent="0" marL="0">
              <a:buNone/>
            </a:pPr>
            <a:r>
              <a:rPr lang="en-US" sz="2000" dirty="0">
                <a:solidFill>
                  <a:srgbClr val="D8FFF0"/>
                </a:solidFill>
                <a:latin typeface="Consolas" pitchFamily="34" charset="0"/>
                <a:ea typeface="Consolas" pitchFamily="34" charset="-122"/>
                <a:cs typeface="Consolas" pitchFamily="34" charset="-120"/>
              </a:rPr>
              <a:t>resolvo</a:t>
            </a:r>
            <a:pPr indent="0" marL="0">
              <a:buNone/>
            </a:pPr>
            <a:r>
              <a:rPr lang="en-US" sz="2000" dirty="0">
                <a:solidFill>
                  <a:srgbClr val="EEF6F3"/>
                </a:solidFill>
                <a:latin typeface="Segoe UI" pitchFamily="34" charset="0"/>
                <a:ea typeface="Segoe UI" pitchFamily="34" charset="-122"/>
                <a:cs typeface="Segoe UI" pitchFamily="34" charset="-120"/>
              </a:rPr>
              <a:t>. You only see it once.</a:t>
            </a:r>
            <a:endParaRPr lang="en-US" sz="2000" dirty="0"/>
          </a:p>
        </p:txBody>
      </p:sp>
      <p:sp>
        <p:nvSpPr>
          <p:cNvPr id="8" name="Text 5"/>
          <p:cNvSpPr/>
          <p:nvPr/>
        </p:nvSpPr>
        <p:spPr>
          <a:xfrm>
            <a:off x="777240" y="4696968"/>
            <a:ext cx="10637215" cy="352806"/>
          </a:xfrm>
          <a:prstGeom prst="rect">
            <a:avLst/>
          </a:prstGeom>
          <a:noFill/>
          <a:ln/>
        </p:spPr>
        <p:txBody>
          <a:bodyPr wrap="square" lIns="0" tIns="0" rIns="0" bIns="0" rtlCol="0" anchor="t"/>
          <a:lstStyle/>
          <a:p>
            <a:pPr algn="l" indent="0" marL="0">
              <a:buNone/>
            </a:pPr>
            <a:r>
              <a:rPr lang="en-US" sz="1700" dirty="0">
                <a:solidFill>
                  <a:srgbClr val="9DB5B1"/>
                </a:solidFill>
                <a:latin typeface="Segoe UI" pitchFamily="34" charset="0"/>
                <a:ea typeface="Segoe UI" pitchFamily="34" charset="-122"/>
                <a:cs typeface="Segoe UI" pitchFamily="34" charset="-120"/>
              </a:rPr>
              <a:t>ChatGPT Plus and Claude Pro don't include API access. They're separate products.</a:t>
            </a:r>
            <a:endParaRPr lang="en-US" sz="1700" dirty="0"/>
          </a:p>
        </p:txBody>
      </p:sp>
      <p:sp>
        <p:nvSpPr>
          <p:cNvPr id="9"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29 / 32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1307592"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STEP 08</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Get the code, install, fill in, check</a:t>
            </a:r>
            <a:endParaRPr lang="en-US" sz="3000" dirty="0"/>
          </a:p>
        </p:txBody>
      </p:sp>
      <p:sp>
        <p:nvSpPr>
          <p:cNvPr id="6" name="Shape 4"/>
          <p:cNvSpPr/>
          <p:nvPr/>
        </p:nvSpPr>
        <p:spPr>
          <a:xfrm>
            <a:off x="777240" y="1577340"/>
            <a:ext cx="10637215" cy="3605022"/>
          </a:xfrm>
          <a:prstGeom prst="roundRect">
            <a:avLst>
              <a:gd name="adj" fmla="val 3044"/>
            </a:avLst>
          </a:prstGeom>
          <a:solidFill>
            <a:srgbClr val="13272B"/>
          </a:solidFill>
          <a:ln w="9525">
            <a:solidFill>
              <a:srgbClr val="24413F"/>
            </a:solidFill>
            <a:prstDash val="solid"/>
          </a:ln>
        </p:spPr>
      </p:sp>
      <p:sp>
        <p:nvSpPr>
          <p:cNvPr id="7" name="Text 5"/>
          <p:cNvSpPr/>
          <p:nvPr/>
        </p:nvSpPr>
        <p:spPr>
          <a:xfrm>
            <a:off x="960120" y="1687068"/>
            <a:ext cx="10271455" cy="3422142"/>
          </a:xfrm>
          <a:prstGeom prst="rect">
            <a:avLst/>
          </a:prstGeom>
          <a:noFill/>
          <a:ln/>
        </p:spPr>
        <p:txBody>
          <a:bodyPr wrap="square" lIns="0" tIns="0" rIns="0" bIns="0" rtlCol="0" anchor="t"/>
          <a:lstStyle/>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from the folder that holds prep-kit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git clone https://github.com/hasankanaan26/resolvo-workshop.git</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cd resolvo-workshop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deactivate; py -3.12 -m venv .venv; .venv\Scripts\activate   # the course's own venv</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pip install -r requirements.txt     # the full course list: 10 to 20 minutes</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copy .env.example .env              # then set LLM_PROVIDER=openai and OPENAI_API_KEY=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python ..\prep-kit\code\check_setup.py --live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repo found: C:\...\resolvo-workshop</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The course's virtual environment is active</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Course provider: openai (key filled in)</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ok ] Live call to openai (gpt-4o-mini) answered: 'ready'</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 </a:t>
            </a:r>
            <a:endParaRPr lang="en-US" sz="1350" dirty="0"/>
          </a:p>
          <a:p>
            <a:pPr indent="0" marL="0">
              <a:lnSpc>
                <a:spcPct val="115000"/>
              </a:lnSpc>
              <a:buNone/>
            </a:pPr>
            <a:r>
              <a:rPr lang="en-US" sz="1350" dirty="0">
                <a:solidFill>
                  <a:srgbClr val="D8FFF0"/>
                </a:solidFill>
                <a:latin typeface="Consolas" pitchFamily="34" charset="0"/>
                <a:ea typeface="Consolas" pitchFamily="34" charset="-122"/>
                <a:cs typeface="Consolas" pitchFamily="34" charset="-120"/>
              </a:rPr>
              <a:t>Ready for Day 1. See you on Monday.</a:t>
            </a:r>
            <a:endParaRPr lang="en-US" sz="1350" dirty="0"/>
          </a:p>
        </p:txBody>
      </p:sp>
      <p:sp>
        <p:nvSpPr>
          <p:cNvPr id="8" name="Text 6"/>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9" name="Text 7"/>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30 / 32</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6095848" cy="64008"/>
          </a:xfrm>
          <a:prstGeom prst="rect">
            <a:avLst/>
          </a:prstGeom>
          <a:solidFill>
            <a:srgbClr val="01D294"/>
          </a:solidFill>
          <a:ln w="12700">
            <a:solidFill>
              <a:srgbClr val="01D294"/>
            </a:solidFill>
            <a:prstDash val="solid"/>
          </a:ln>
        </p:spPr>
      </p:sp>
      <p:sp>
        <p:nvSpPr>
          <p:cNvPr id="3" name="Shape 1"/>
          <p:cNvSpPr/>
          <p:nvPr/>
        </p:nvSpPr>
        <p:spPr>
          <a:xfrm>
            <a:off x="6095848" y="0"/>
            <a:ext cx="6095848" cy="64008"/>
          </a:xfrm>
          <a:prstGeom prst="rect">
            <a:avLst/>
          </a:prstGeom>
          <a:solidFill>
            <a:srgbClr val="11958A"/>
          </a:solidFill>
          <a:ln w="12700">
            <a:solidFill>
              <a:srgbClr val="11958A"/>
            </a:solidFill>
            <a:prstDash val="solid"/>
          </a:ln>
        </p:spPr>
      </p:sp>
      <p:sp>
        <p:nvSpPr>
          <p:cNvPr id="4" name="Text 2"/>
          <p:cNvSpPr/>
          <p:nvPr/>
        </p:nvSpPr>
        <p:spPr>
          <a:xfrm>
            <a:off x="777240" y="457200"/>
            <a:ext cx="2075688" cy="274320"/>
          </a:xfrm>
          <a:prstGeom prst="roundRect">
            <a:avLst>
              <a:gd name="adj" fmla="val 50000"/>
            </a:avLst>
          </a:prstGeom>
          <a:solidFill>
            <a:srgbClr val="01D294"/>
          </a:solidFill>
          <a:ln/>
        </p:spPr>
        <p:txBody>
          <a:bodyPr wrap="none" lIns="0" tIns="0" rIns="0" bIns="0" rtlCol="0" anchor="ctr"/>
          <a:lstStyle/>
          <a:p>
            <a:pPr algn="ctr" indent="0" marL="0">
              <a:buNone/>
            </a:pPr>
            <a:r>
              <a:rPr lang="en-US" sz="1100" b="1" spc="300" kern="0" dirty="0">
                <a:solidFill>
                  <a:srgbClr val="0C1A1D"/>
                </a:solidFill>
                <a:latin typeface="Segoe UI" pitchFamily="34" charset="0"/>
                <a:ea typeface="Segoe UI" pitchFamily="34" charset="-122"/>
                <a:cs typeface="Segoe UI" pitchFamily="34" charset="-120"/>
              </a:rPr>
              <a:t>BEFORE MONDAY</a:t>
            </a:r>
            <a:endParaRPr lang="en-US" sz="1100" dirty="0"/>
          </a:p>
        </p:txBody>
      </p:sp>
      <p:sp>
        <p:nvSpPr>
          <p:cNvPr id="5" name="Text 3"/>
          <p:cNvSpPr/>
          <p:nvPr/>
        </p:nvSpPr>
        <p:spPr>
          <a:xfrm>
            <a:off x="777240" y="841248"/>
            <a:ext cx="10637215" cy="571500"/>
          </a:xfrm>
          <a:prstGeom prst="rect">
            <a:avLst/>
          </a:prstGeom>
          <a:noFill/>
          <a:ln/>
        </p:spPr>
        <p:txBody>
          <a:bodyPr wrap="square" lIns="0" tIns="0" rIns="0" bIns="0" rtlCol="0" anchor="t"/>
          <a:lstStyle/>
          <a:p>
            <a:pPr indent="0" marL="0">
              <a:buNone/>
            </a:pPr>
            <a:r>
              <a:rPr lang="en-US" sz="3000" b="1" dirty="0">
                <a:solidFill>
                  <a:srgbClr val="FFFFFF"/>
                </a:solidFill>
                <a:latin typeface="Segoe UI" pitchFamily="34" charset="0"/>
                <a:ea typeface="Segoe UI" pitchFamily="34" charset="-122"/>
                <a:cs typeface="Segoe UI" pitchFamily="34" charset="-120"/>
              </a:rPr>
              <a:t>Ready for day one</a:t>
            </a:r>
            <a:endParaRPr lang="en-US" sz="3000" dirty="0"/>
          </a:p>
        </p:txBody>
      </p:sp>
      <p:sp>
        <p:nvSpPr>
          <p:cNvPr id="6" name="Text 4"/>
          <p:cNvSpPr/>
          <p:nvPr/>
        </p:nvSpPr>
        <p:spPr>
          <a:xfrm>
            <a:off x="777240"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1.  </a:t>
            </a:r>
            <a:pPr indent="0" marL="0">
              <a:buNone/>
            </a:pPr>
            <a:r>
              <a:rPr lang="en-US" sz="1450" dirty="0">
                <a:solidFill>
                  <a:srgbClr val="EEF6F3"/>
                </a:solidFill>
                <a:latin typeface="Segoe UI" pitchFamily="34" charset="0"/>
                <a:ea typeface="Segoe UI" pitchFamily="34" charset="-122"/>
                <a:cs typeface="Segoe UI" pitchFamily="34" charset="-120"/>
              </a:rPr>
              <a:t>Python 3.12 and </a:t>
            </a:r>
            <a:pPr indent="0" marL="0">
              <a:buNone/>
            </a:pPr>
            <a:r>
              <a:rPr lang="en-US" sz="1450" dirty="0">
                <a:solidFill>
                  <a:srgbClr val="D8FFF0"/>
                </a:solidFill>
                <a:latin typeface="Consolas" pitchFamily="34" charset="0"/>
                <a:ea typeface="Consolas" pitchFamily="34" charset="-122"/>
                <a:cs typeface="Consolas" pitchFamily="34" charset="-120"/>
              </a:rPr>
              <a:t>.venv</a:t>
            </a:r>
            <a:pPr indent="0" marL="0">
              <a:buNone/>
            </a:pPr>
            <a:r>
              <a:rPr lang="en-US" sz="1450" dirty="0">
                <a:solidFill>
                  <a:srgbClr val="EEF6F3"/>
                </a:solidFill>
                <a:latin typeface="Segoe UI" pitchFamily="34" charset="0"/>
                <a:ea typeface="Segoe UI" pitchFamily="34" charset="-122"/>
                <a:cs typeface="Segoe UI" pitchFamily="34" charset="-120"/>
              </a:rPr>
              <a:t> activated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2.  </a:t>
            </a:r>
            <a:pPr indent="0" marL="0">
              <a:buNone/>
            </a:pPr>
            <a:r>
              <a:rPr lang="en-US" sz="1450" dirty="0">
                <a:solidFill>
                  <a:srgbClr val="EEF6F3"/>
                </a:solidFill>
                <a:latin typeface="Segoe UI" pitchFamily="34" charset="0"/>
                <a:ea typeface="Segoe UI" pitchFamily="34" charset="-122"/>
                <a:cs typeface="Segoe UI" pitchFamily="34" charset="-120"/>
              </a:rPr>
              <a:t>Saw a 404 and a 500 from </a:t>
            </a:r>
            <a:pPr indent="0" marL="0">
              <a:buNone/>
            </a:pPr>
            <a:r>
              <a:rPr lang="en-US" sz="1450" dirty="0">
                <a:solidFill>
                  <a:srgbClr val="D8FFF0"/>
                </a:solidFill>
                <a:latin typeface="Consolas" pitchFamily="34" charset="0"/>
                <a:ea typeface="Consolas" pitchFamily="34" charset="-122"/>
                <a:cs typeface="Consolas" pitchFamily="34" charset="-120"/>
              </a:rPr>
              <a:t>hello_api.py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3.  </a:t>
            </a:r>
            <a:pPr indent="0" marL="0">
              <a:buNone/>
            </a:pPr>
            <a:r>
              <a:rPr lang="en-US" sz="1450" dirty="0">
                <a:solidFill>
                  <a:srgbClr val="EEF6F3"/>
                </a:solidFill>
                <a:latin typeface="Segoe UI" pitchFamily="34" charset="0"/>
                <a:ea typeface="Segoe UI" pitchFamily="34" charset="-122"/>
                <a:cs typeface="Segoe UI" pitchFamily="34" charset="-120"/>
              </a:rPr>
              <a:t>One LLM call with </a:t>
            </a:r>
            <a:pPr indent="0" marL="0">
              <a:buNone/>
            </a:pPr>
            <a:r>
              <a:rPr lang="en-US" sz="1450" dirty="0">
                <a:solidFill>
                  <a:srgbClr val="D8FFF0"/>
                </a:solidFill>
                <a:latin typeface="Consolas" pitchFamily="34" charset="0"/>
                <a:ea typeface="Consolas" pitchFamily="34" charset="-122"/>
                <a:cs typeface="Consolas" pitchFamily="34" charset="-120"/>
              </a:rPr>
              <a:t>chat.py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4.  </a:t>
            </a:r>
            <a:pPr indent="0" marL="0">
              <a:buNone/>
            </a:pPr>
            <a:r>
              <a:rPr lang="en-US" sz="1450" dirty="0">
                <a:solidFill>
                  <a:srgbClr val="EEF6F3"/>
                </a:solidFill>
                <a:latin typeface="Segoe UI" pitchFamily="34" charset="0"/>
                <a:ea typeface="Segoe UI" pitchFamily="34" charset="-122"/>
                <a:cs typeface="Segoe UI" pitchFamily="34" charset="-120"/>
              </a:rPr>
              <a:t>Paid course key with a spending limit</a:t>
            </a:r>
            <a:endParaRPr lang="en-US" sz="1450" dirty="0"/>
          </a:p>
        </p:txBody>
      </p:sp>
      <p:sp>
        <p:nvSpPr>
          <p:cNvPr id="7" name="Text 5"/>
          <p:cNvSpPr/>
          <p:nvPr/>
        </p:nvSpPr>
        <p:spPr>
          <a:xfrm>
            <a:off x="6324448" y="1577340"/>
            <a:ext cx="5090008" cy="1427988"/>
          </a:xfrm>
          <a:prstGeom prst="rect">
            <a:avLst/>
          </a:prstGeom>
          <a:noFill/>
          <a:ln/>
        </p:spPr>
        <p:txBody>
          <a:bodyPr wrap="square" lIns="0" tIns="0" rIns="0" bIns="0" rtlCol="0" anchor="t"/>
          <a:lstStyle/>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5.  </a:t>
            </a:r>
            <a:pPr indent="0" marL="0">
              <a:buNone/>
            </a:pPr>
            <a:r>
              <a:rPr lang="en-US" sz="1450" dirty="0">
                <a:solidFill>
                  <a:srgbClr val="D8FFF0"/>
                </a:solidFill>
                <a:latin typeface="Consolas" pitchFamily="34" charset="0"/>
                <a:ea typeface="Consolas" pitchFamily="34" charset="-122"/>
                <a:cs typeface="Consolas" pitchFamily="34" charset="-120"/>
              </a:rPr>
              <a:t>resolvo-workshop/.env</a:t>
            </a:r>
            <a:pPr indent="0" marL="0">
              <a:buNone/>
            </a:pPr>
            <a:r>
              <a:rPr lang="en-US" sz="1450" dirty="0">
                <a:solidFill>
                  <a:srgbClr val="EEF6F3"/>
                </a:solidFill>
                <a:latin typeface="Segoe UI" pitchFamily="34" charset="0"/>
                <a:ea typeface="Segoe UI" pitchFamily="34" charset="-122"/>
                <a:cs typeface="Segoe UI" pitchFamily="34" charset="-120"/>
              </a:rPr>
              <a:t> filled in</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6.  </a:t>
            </a:r>
            <a:pPr indent="0" marL="0">
              <a:buNone/>
            </a:pPr>
            <a:r>
              <a:rPr lang="en-US" sz="1450" dirty="0">
                <a:solidFill>
                  <a:srgbClr val="EEF6F3"/>
                </a:solidFill>
                <a:latin typeface="Segoe UI" pitchFamily="34" charset="0"/>
                <a:ea typeface="Segoe UI" pitchFamily="34" charset="-122"/>
                <a:cs typeface="Segoe UI" pitchFamily="34" charset="-120"/>
              </a:rPr>
              <a:t>Full course install finished</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7.  </a:t>
            </a:r>
            <a:pPr indent="0" marL="0">
              <a:buNone/>
            </a:pPr>
            <a:r>
              <a:rPr lang="en-US" sz="1450" dirty="0">
                <a:solidFill>
                  <a:srgbClr val="D8FFF0"/>
                </a:solidFill>
                <a:latin typeface="Consolas" pitchFamily="34" charset="0"/>
                <a:ea typeface="Consolas" pitchFamily="34" charset="-122"/>
                <a:cs typeface="Consolas" pitchFamily="34" charset="-120"/>
              </a:rPr>
              <a:t>check_setup.py --live</a:t>
            </a:r>
            <a:pPr indent="0" marL="0">
              <a:buNone/>
            </a:pPr>
            <a:r>
              <a:rPr lang="en-US" sz="1450" dirty="0">
                <a:solidFill>
                  <a:srgbClr val="EEF6F3"/>
                </a:solidFill>
                <a:latin typeface="Segoe UI" pitchFamily="34" charset="0"/>
                <a:ea typeface="Segoe UI" pitchFamily="34" charset="-122"/>
                <a:cs typeface="Segoe UI" pitchFamily="34" charset="-120"/>
              </a:rPr>
              <a:t> says Ready</a:t>
            </a:r>
            <a:endParaRPr lang="en-US" sz="1450" dirty="0"/>
          </a:p>
          <a:p>
            <a:pPr indent="0" marL="0">
              <a:spcAft>
                <a:spcPts val="600"/>
              </a:spcAft>
              <a:buNone/>
            </a:pPr>
            <a:r>
              <a:rPr lang="en-US" sz="1450" b="1" dirty="0">
                <a:solidFill>
                  <a:srgbClr val="01D294"/>
                </a:solidFill>
                <a:latin typeface="Segoe UI" pitchFamily="34" charset="0"/>
                <a:ea typeface="Segoe UI" pitchFamily="34" charset="-122"/>
                <a:cs typeface="Segoe UI" pitchFamily="34" charset="-120"/>
              </a:rPr>
              <a:t>8.  </a:t>
            </a:r>
            <a:pPr indent="0" marL="0">
              <a:buNone/>
            </a:pPr>
            <a:r>
              <a:rPr lang="en-US" sz="1450" dirty="0">
                <a:solidFill>
                  <a:srgbClr val="D8FFF0"/>
                </a:solidFill>
                <a:latin typeface="Consolas" pitchFamily="34" charset="0"/>
                <a:ea typeface="Consolas" pitchFamily="34" charset="-122"/>
                <a:cs typeface="Consolas" pitchFamily="34" charset="-120"/>
              </a:rPr>
              <a:t>git pull</a:t>
            </a:r>
            <a:pPr indent="0" marL="0">
              <a:buNone/>
            </a:pPr>
            <a:r>
              <a:rPr lang="en-US" sz="1450" dirty="0">
                <a:solidFill>
                  <a:srgbClr val="EEF6F3"/>
                </a:solidFill>
                <a:latin typeface="Segoe UI" pitchFamily="34" charset="0"/>
                <a:ea typeface="Segoe UI" pitchFamily="34" charset="-122"/>
                <a:cs typeface="Segoe UI" pitchFamily="34" charset="-120"/>
              </a:rPr>
              <a:t> the morning of Session 1</a:t>
            </a:r>
            <a:endParaRPr lang="en-US" sz="1450" dirty="0"/>
          </a:p>
        </p:txBody>
      </p:sp>
      <p:sp>
        <p:nvSpPr>
          <p:cNvPr id="8" name="Text 6"/>
          <p:cNvSpPr/>
          <p:nvPr/>
        </p:nvSpPr>
        <p:spPr>
          <a:xfrm>
            <a:off x="777240" y="3133344"/>
            <a:ext cx="10637215" cy="352806"/>
          </a:xfrm>
          <a:prstGeom prst="rect">
            <a:avLst/>
          </a:prstGeom>
          <a:noFill/>
          <a:ln/>
        </p:spPr>
        <p:txBody>
          <a:bodyPr wrap="square" lIns="0" tIns="0" rIns="0" bIns="0" rtlCol="0" anchor="t"/>
          <a:lstStyle/>
          <a:p>
            <a:pPr algn="l" indent="0" marL="0">
              <a:buNone/>
            </a:pPr>
            <a:r>
              <a:rPr lang="en-US" sz="1700" dirty="0">
                <a:solidFill>
                  <a:srgbClr val="EEF6F3"/>
                </a:solidFill>
                <a:latin typeface="Segoe UI" pitchFamily="34" charset="0"/>
                <a:ea typeface="Segoe UI" pitchFamily="34" charset="-122"/>
                <a:cs typeface="Segoe UI" pitchFamily="34" charset="-120"/>
              </a:rPr>
              <a:t>Stuck on the last check? Come 20 minutes early on Monday with its output. We'll fix it together.</a:t>
            </a:r>
            <a:endParaRPr lang="en-US" sz="17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31 / 32</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6705432" y="-2400300"/>
            <a:ext cx="7315017" cy="5486400"/>
          </a:xfrm>
          <a:prstGeom prst="ellipse">
            <a:avLst/>
          </a:prstGeom>
          <a:solidFill>
            <a:srgbClr val="0D3029">
              <a:alpha val="55000"/>
            </a:srgbClr>
          </a:solidFill>
          <a:ln w="12700">
            <a:solidFill>
              <a:srgbClr val="0D3029">
                <a:alpha val="0"/>
              </a:srgbClr>
            </a:solidFill>
            <a:prstDash val="solid"/>
          </a:ln>
        </p:spPr>
      </p:sp>
      <p:sp>
        <p:nvSpPr>
          <p:cNvPr id="3" name="Shape 1"/>
          <p:cNvSpPr/>
          <p:nvPr/>
        </p:nvSpPr>
        <p:spPr>
          <a:xfrm>
            <a:off x="-2438339" y="4114800"/>
            <a:ext cx="6705432" cy="5143500"/>
          </a:xfrm>
          <a:prstGeom prst="ellipse">
            <a:avLst/>
          </a:prstGeom>
          <a:solidFill>
            <a:srgbClr val="112A45">
              <a:alpha val="55000"/>
            </a:srgbClr>
          </a:solidFill>
          <a:ln w="12700">
            <a:solidFill>
              <a:srgbClr val="112A45">
                <a:alpha val="0"/>
              </a:srgbClr>
            </a:solidFill>
            <a:prstDash val="solid"/>
          </a:ln>
        </p:spPr>
      </p:sp>
      <p:sp>
        <p:nvSpPr>
          <p:cNvPr id="4" name="Text 2"/>
          <p:cNvSpPr/>
          <p:nvPr/>
        </p:nvSpPr>
        <p:spPr>
          <a:xfrm>
            <a:off x="1234440" y="1589151"/>
            <a:ext cx="9722815" cy="862584"/>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pitchFamily="34" charset="0"/>
                <a:ea typeface="Segoe UI" pitchFamily="34" charset="-122"/>
                <a:cs typeface="Segoe UI" pitchFamily="34" charset="-120"/>
              </a:rPr>
              <a:t>See you on Monday</a:t>
            </a:r>
            <a:endParaRPr lang="en-US" sz="4400" dirty="0"/>
          </a:p>
        </p:txBody>
      </p:sp>
      <p:sp>
        <p:nvSpPr>
          <p:cNvPr id="5" name="Shape 3"/>
          <p:cNvSpPr/>
          <p:nvPr/>
        </p:nvSpPr>
        <p:spPr>
          <a:xfrm>
            <a:off x="5318608" y="2543175"/>
            <a:ext cx="777240" cy="82296"/>
          </a:xfrm>
          <a:prstGeom prst="rect">
            <a:avLst/>
          </a:prstGeom>
          <a:solidFill>
            <a:srgbClr val="01D294"/>
          </a:solidFill>
          <a:ln w="12700">
            <a:solidFill>
              <a:srgbClr val="01D294"/>
            </a:solidFill>
            <a:prstDash val="solid"/>
          </a:ln>
        </p:spPr>
      </p:sp>
      <p:sp>
        <p:nvSpPr>
          <p:cNvPr id="6" name="Shape 4"/>
          <p:cNvSpPr/>
          <p:nvPr/>
        </p:nvSpPr>
        <p:spPr>
          <a:xfrm>
            <a:off x="6095848" y="2543175"/>
            <a:ext cx="777240" cy="82296"/>
          </a:xfrm>
          <a:prstGeom prst="rect">
            <a:avLst/>
          </a:prstGeom>
          <a:solidFill>
            <a:srgbClr val="11958A"/>
          </a:solidFill>
          <a:ln w="12700">
            <a:solidFill>
              <a:srgbClr val="11958A"/>
            </a:solidFill>
            <a:prstDash val="solid"/>
          </a:ln>
        </p:spPr>
      </p:sp>
      <p:sp>
        <p:nvSpPr>
          <p:cNvPr id="7" name="Text 5"/>
          <p:cNvSpPr/>
          <p:nvPr/>
        </p:nvSpPr>
        <p:spPr>
          <a:xfrm>
            <a:off x="1234440" y="2863215"/>
            <a:ext cx="9722815" cy="862584"/>
          </a:xfrm>
          <a:prstGeom prst="rect">
            <a:avLst/>
          </a:prstGeom>
          <a:noFill/>
          <a:ln/>
        </p:spPr>
        <p:txBody>
          <a:bodyPr wrap="square" lIns="0" tIns="0" rIns="0" bIns="0" rtlCol="0" anchor="t"/>
          <a:lstStyle/>
          <a:p>
            <a:pPr algn="ctr" indent="0" marL="0">
              <a:buNone/>
            </a:pPr>
            <a:r>
              <a:rPr lang="en-US" sz="2200" dirty="0">
                <a:solidFill>
                  <a:srgbClr val="EEF6F3"/>
                </a:solidFill>
                <a:latin typeface="Segoe UI" pitchFamily="34" charset="0"/>
                <a:ea typeface="Segoe UI" pitchFamily="34" charset="-122"/>
                <a:cs typeface="Segoe UI" pitchFamily="34" charset="-120"/>
              </a:rPr>
              <a:t>Session 1: What Changed, and What Didn't. Bring the laptop that passed the check.</a:t>
            </a:r>
            <a:endParaRPr lang="en-US" sz="2200" dirty="0"/>
          </a:p>
        </p:txBody>
      </p:sp>
      <p:sp>
        <p:nvSpPr>
          <p:cNvPr id="8" name="Text 6"/>
          <p:cNvSpPr/>
          <p:nvPr/>
        </p:nvSpPr>
        <p:spPr>
          <a:xfrm>
            <a:off x="1234440" y="4548759"/>
            <a:ext cx="9722815" cy="354330"/>
          </a:xfrm>
          <a:prstGeom prst="rect">
            <a:avLst/>
          </a:prstGeom>
          <a:noFill/>
          <a:ln/>
        </p:spPr>
        <p:txBody>
          <a:bodyPr wrap="square" lIns="0" tIns="0" rIns="0" bIns="0" rtlCol="0" anchor="t"/>
          <a:lstStyle/>
          <a:p>
            <a:pPr algn="ctr" indent="0" marL="0">
              <a:buNone/>
            </a:pPr>
            <a:r>
              <a:rPr lang="en-US" sz="1500" spc="200" kern="0" dirty="0">
                <a:solidFill>
                  <a:srgbClr val="01D294"/>
                </a:solidFill>
                <a:latin typeface="Segoe UI" pitchFamily="34" charset="0"/>
                <a:ea typeface="Segoe UI" pitchFamily="34" charset="-122"/>
                <a:cs typeface="Segoe UI" pitchFamily="34" charset="-120"/>
              </a:rPr>
              <a:t>Monday, October 19, 2026 · prep-kit/README.md has everything from today</a:t>
            </a:r>
            <a:endParaRPr lang="en-US" sz="1500" dirty="0"/>
          </a:p>
        </p:txBody>
      </p:sp>
      <p:sp>
        <p:nvSpPr>
          <p:cNvPr id="9" name="Text 7"/>
          <p:cNvSpPr/>
          <p:nvPr/>
        </p:nvSpPr>
        <p:spPr>
          <a:xfrm>
            <a:off x="777240" y="6473952"/>
            <a:ext cx="5486400" cy="274320"/>
          </a:xfrm>
          <a:prstGeom prst="rect">
            <a:avLst/>
          </a:prstGeom>
          <a:noFill/>
          <a:ln/>
        </p:spPr>
        <p:txBody>
          <a:bodyPr wrap="square" lIns="0" tIns="0" rIns="0" bIns="0" rtlCol="0" anchor="ctr"/>
          <a:lstStyle/>
          <a:p>
            <a:pPr indent="0" marL="0">
              <a:buNone/>
            </a:pPr>
            <a:r>
              <a:rPr lang="en-US" sz="1000" spc="100" kern="0" dirty="0">
                <a:solidFill>
                  <a:srgbClr val="9DB5B1"/>
                </a:solidFill>
                <a:latin typeface="Segoe UI" pitchFamily="34" charset="0"/>
                <a:ea typeface="Segoe UI" pitchFamily="34" charset="-122"/>
                <a:cs typeface="Segoe UI" pitchFamily="34" charset="-120"/>
              </a:rPr>
              <a:t>Applied AI Engineering · SE Factory · Resolvo</a:t>
            </a:r>
            <a:endParaRPr lang="en-US" sz="1000" dirty="0"/>
          </a:p>
        </p:txBody>
      </p:sp>
      <p:sp>
        <p:nvSpPr>
          <p:cNvPr id="10" name="Text 8"/>
          <p:cNvSpPr/>
          <p:nvPr/>
        </p:nvSpPr>
        <p:spPr>
          <a:xfrm>
            <a:off x="10042855" y="6473952"/>
            <a:ext cx="1371600" cy="274320"/>
          </a:xfrm>
          <a:prstGeom prst="rect">
            <a:avLst/>
          </a:prstGeom>
          <a:noFill/>
          <a:ln/>
        </p:spPr>
        <p:txBody>
          <a:bodyPr wrap="square" lIns="0" tIns="0" rIns="0" bIns="0" rtlCol="0" anchor="ctr"/>
          <a:lstStyle/>
          <a:p>
            <a:pPr algn="r" indent="0" marL="0">
              <a:buNone/>
            </a:pPr>
            <a:r>
              <a:rPr lang="en-US" sz="1000" dirty="0">
                <a:solidFill>
                  <a:srgbClr val="9DB5B1"/>
                </a:solidFill>
                <a:latin typeface="Segoe UI" pitchFamily="34" charset="0"/>
                <a:ea typeface="Segoe UI" pitchFamily="34" charset="-122"/>
                <a:cs typeface="Segoe UI" pitchFamily="34" charset="-120"/>
              </a:rPr>
              <a:t>32 / 32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00: Before Day One</dc:title>
  <dc:subject>PptxGenJS Presentation</dc:subject>
  <dc:creator>Applied AI Engineering · SE Factory</dc:creator>
  <cp:lastModifiedBy>Applied AI Engineering · SE Factory</cp:lastModifiedBy>
  <cp:revision>1</cp:revision>
  <dcterms:created xsi:type="dcterms:W3CDTF">2026-10-11T07:30:54Z</dcterms:created>
  <dcterms:modified xsi:type="dcterms:W3CDTF">2026-10-11T07:30:54Z</dcterms:modified>
</cp:coreProperties>
</file>